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libri (MS) Bold" charset="1" panose="020F0702030404030204"/>
      <p:regular r:id="rId26"/>
    </p:embeddedFont>
    <p:embeddedFont>
      <p:font typeface="Calibri (MS)" charset="1" panose="020F050202020403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43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Final project files: Supply_Chain_Visibility_and_Optimization.pbip; Supply_Chain_Cleaned_Dataset.csv.</a:t>
            </a:r>
          </a:p>
          <a:p>
            <a:r>
              <a:rPr lang="en-US"/>
              <a:t>Generated asset: original cover_control_tower.png created for this presentation.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Milestone 2 documentation: overview and mentor requirement coverage sections.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Dataset validation from Supply_Chain_Cleaned_Dataset.csv and Milestone 2 documentation: 66,039 rows; 63,089 Movement Line Key values; 55,649 distinct orders; 18,131 products.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Milestone 2 documentation: inventory-proxy methodology; Power BI report methodology note.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Latest Power BI PDF export: Supply_Chain_Visibility_and_Optimization.pdf, pages 1-5.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Final Power BI PDF export page 1; Milestone 2 documentation dashboard 1 section.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Final Power BI PDF export page 1; Milestone 2 documentation dashboard 1 section.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Final Power BI PDF export page 2; Milestone 2 documentation dashboard 2 section.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Final Power BI PDF export page 2; Product Intelligence table/model definitions; Milestone 2 documentation product movement intelligence section.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Dataset validation from Supply_Chain_Cleaned_Dataset.csv: raw SUM(price) 4,280,314.80; safe Total Sales 4,097,737.13; unique Movement Line Key count 63,089. Final Power BI PDF pages 1 and 5.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Final Power BI PDF export page 3; Milestone 2 documentation dashboard 3 section.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Final Power BI PDF export page 3; Milestone 2 documentation dashboard 3 section.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Final Power BI PDF export page 4; semantic model hierarchy: Customer Region -&gt; State -&gt; City -&gt; Product Category -&gt; Product.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Final Power BI PDF export page 5; Milestone 2 documentation dashboard 5 and MoM variance sections.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Final Power BI PDF export page 5; Milestone 2 documentation dashboard 5 and MoM variance sections.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Final Power BI report KPIs and Milestone 2 documentation key business insights section.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[Sources]</a:t>
            </a:r>
          </a:p>
          <a:p>
            <a:r>
              <a:rPr lang="en-US"/>
              <a:t>Milestone 2 documentation conclusion and mentor checklist coverage; latest Power BI PDF export pages 1-5.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pn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91565" y="1626870"/>
            <a:ext cx="11532870" cy="149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8715" y="3388995"/>
            <a:ext cx="106756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Milestone 2 — Power BI Supply Chain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8715" y="4265295"/>
            <a:ext cx="1181862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Movement • Sales • Delivery • Regional Drilldown • Trends &amp; Variance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50131" y="6779419"/>
            <a:ext cx="6800850" cy="1757362"/>
            <a:chOff x="0" y="0"/>
            <a:chExt cx="9067800" cy="2343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67800" cy="2343150"/>
            </a:xfrm>
            <a:custGeom>
              <a:avLst/>
              <a:gdLst/>
              <a:ahLst/>
              <a:cxnLst/>
              <a:rect r="r" b="b" t="t" l="l"/>
              <a:pathLst>
                <a:path h="2343150" w="9067800">
                  <a:moveTo>
                    <a:pt x="0" y="230505"/>
                  </a:moveTo>
                  <a:cubicBezTo>
                    <a:pt x="0" y="103124"/>
                    <a:pt x="103124" y="0"/>
                    <a:pt x="230505" y="0"/>
                  </a:cubicBezTo>
                  <a:lnTo>
                    <a:pt x="8837295" y="0"/>
                  </a:lnTo>
                  <a:cubicBezTo>
                    <a:pt x="8964676" y="0"/>
                    <a:pt x="9067800" y="103124"/>
                    <a:pt x="9067800" y="230505"/>
                  </a:cubicBezTo>
                  <a:lnTo>
                    <a:pt x="9067800" y="2112645"/>
                  </a:lnTo>
                  <a:cubicBezTo>
                    <a:pt x="9067800" y="2239899"/>
                    <a:pt x="8964676" y="2343150"/>
                    <a:pt x="8837295" y="2343150"/>
                  </a:cubicBezTo>
                  <a:lnTo>
                    <a:pt x="230505" y="2343150"/>
                  </a:lnTo>
                  <a:cubicBezTo>
                    <a:pt x="103124" y="2343150"/>
                    <a:pt x="0" y="2240026"/>
                    <a:pt x="0" y="2112645"/>
                  </a:cubicBezTo>
                  <a:close/>
                </a:path>
              </a:pathLst>
            </a:custGeom>
            <a:solidFill>
              <a:srgbClr val="111827">
                <a:alpha val="77255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70184" y="7171492"/>
            <a:ext cx="5960745" cy="93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Team 4 | Mahi . Ramya . Vishal . Abdul Haseeb</a:t>
            </a:r>
          </a:p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Mentor       |  Mr.  Sundar Shakthi</a:t>
            </a:r>
          </a:p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Infosys Springboard Virtual Internship 7.0 - Batch2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Milestone 2 turns cleaned data into decision-ready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1607820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requirements were translated into a Power BI control-tower model.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064548"/>
            <a:ext cx="2800346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78706" y="3564731"/>
            <a:ext cx="2500312" cy="1528762"/>
            <a:chOff x="0" y="0"/>
            <a:chExt cx="3333750" cy="2038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337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3337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3102991" y="0"/>
                  </a:lnTo>
                  <a:cubicBezTo>
                    <a:pt x="3230499" y="0"/>
                    <a:pt x="3333750" y="103378"/>
                    <a:pt x="3333750" y="230759"/>
                  </a:cubicBezTo>
                  <a:lnTo>
                    <a:pt x="3333750" y="1807591"/>
                  </a:lnTo>
                  <a:cubicBezTo>
                    <a:pt x="3333750" y="1935099"/>
                    <a:pt x="3230372" y="2038350"/>
                    <a:pt x="31029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05890" y="3777615"/>
            <a:ext cx="184594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Cleaned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7315" y="4427220"/>
            <a:ext cx="190309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66,039 rows prepared for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77615" y="4036695"/>
            <a:ext cx="38862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50544" y="3564731"/>
            <a:ext cx="2500312" cy="1528762"/>
            <a:chOff x="0" y="0"/>
            <a:chExt cx="3333750" cy="2038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337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3337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3102991" y="0"/>
                  </a:lnTo>
                  <a:cubicBezTo>
                    <a:pt x="3230499" y="0"/>
                    <a:pt x="3333750" y="103378"/>
                    <a:pt x="3333750" y="230759"/>
                  </a:cubicBezTo>
                  <a:lnTo>
                    <a:pt x="3333750" y="1807591"/>
                  </a:lnTo>
                  <a:cubicBezTo>
                    <a:pt x="3333750" y="1935099"/>
                    <a:pt x="3230372" y="2038350"/>
                    <a:pt x="31029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4677728" y="3769995"/>
            <a:ext cx="184594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5664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KPI Model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49153" y="4267200"/>
            <a:ext cx="190309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Sales, movement, delivery and variance measures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49453" y="4036695"/>
            <a:ext cx="38862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622381" y="3564731"/>
            <a:ext cx="2500312" cy="1528762"/>
            <a:chOff x="0" y="0"/>
            <a:chExt cx="3333750" cy="20383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337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3337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3102991" y="0"/>
                  </a:lnTo>
                  <a:cubicBezTo>
                    <a:pt x="3230499" y="0"/>
                    <a:pt x="3333750" y="103378"/>
                    <a:pt x="3333750" y="230759"/>
                  </a:cubicBezTo>
                  <a:lnTo>
                    <a:pt x="3333750" y="1807591"/>
                  </a:lnTo>
                  <a:cubicBezTo>
                    <a:pt x="3333750" y="1935099"/>
                    <a:pt x="3230372" y="2038350"/>
                    <a:pt x="31029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777014" y="3789045"/>
            <a:ext cx="220533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sz="2150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 Movement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20990" y="4427220"/>
            <a:ext cx="190309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Inventory proxy and product intelligence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21290" y="4036695"/>
            <a:ext cx="38862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894219" y="3564731"/>
            <a:ext cx="2500312" cy="1528762"/>
            <a:chOff x="0" y="0"/>
            <a:chExt cx="3333750" cy="20383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337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3337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3102991" y="0"/>
                  </a:lnTo>
                  <a:cubicBezTo>
                    <a:pt x="3230499" y="0"/>
                    <a:pt x="3333750" y="103378"/>
                    <a:pt x="3333750" y="230759"/>
                  </a:cubicBezTo>
                  <a:lnTo>
                    <a:pt x="3333750" y="1807591"/>
                  </a:lnTo>
                  <a:cubicBezTo>
                    <a:pt x="3333750" y="1935099"/>
                    <a:pt x="3230372" y="2038350"/>
                    <a:pt x="31029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097578" y="3779520"/>
            <a:ext cx="184594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Delivery &amp; Region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92828" y="4427220"/>
            <a:ext cx="190309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Reliability, state, city and product drilldown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93127" y="4036695"/>
            <a:ext cx="38862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166056" y="3564731"/>
            <a:ext cx="2500312" cy="1528762"/>
            <a:chOff x="0" y="0"/>
            <a:chExt cx="3333750" cy="20383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337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3337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3102991" y="0"/>
                  </a:lnTo>
                  <a:cubicBezTo>
                    <a:pt x="3230499" y="0"/>
                    <a:pt x="3333750" y="103378"/>
                    <a:pt x="3333750" y="230759"/>
                  </a:cubicBezTo>
                  <a:lnTo>
                    <a:pt x="3333750" y="1807591"/>
                  </a:lnTo>
                  <a:cubicBezTo>
                    <a:pt x="3333750" y="1935099"/>
                    <a:pt x="3230372" y="2038350"/>
                    <a:pt x="31029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4388465" y="3769995"/>
            <a:ext cx="184594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7C5C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Trends &amp; Insights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64665" y="4267200"/>
            <a:ext cx="190309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MoM variance and executive interpretation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707356" y="6707981"/>
            <a:ext cx="14873288" cy="1814512"/>
            <a:chOff x="0" y="0"/>
            <a:chExt cx="19831050" cy="24193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831050" cy="2419350"/>
            </a:xfrm>
            <a:custGeom>
              <a:avLst/>
              <a:gdLst/>
              <a:ahLst/>
              <a:cxnLst/>
              <a:rect r="r" b="b" t="t" l="l"/>
              <a:pathLst>
                <a:path h="2419350" w="1983105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19600672" y="0"/>
                  </a:lnTo>
                  <a:cubicBezTo>
                    <a:pt x="19727926" y="0"/>
                    <a:pt x="19831050" y="103124"/>
                    <a:pt x="19831050" y="230378"/>
                  </a:cubicBezTo>
                  <a:lnTo>
                    <a:pt x="19831050" y="2188972"/>
                  </a:lnTo>
                  <a:cubicBezTo>
                    <a:pt x="19831050" y="2316226"/>
                    <a:pt x="19727926" y="2419350"/>
                    <a:pt x="19600672" y="2419350"/>
                  </a:cubicBezTo>
                  <a:lnTo>
                    <a:pt x="230378" y="2419350"/>
                  </a:lnTo>
                  <a:cubicBezTo>
                    <a:pt x="103124" y="2419350"/>
                    <a:pt x="0" y="2316226"/>
                    <a:pt x="0" y="2188972"/>
                  </a:cubicBezTo>
                  <a:close/>
                </a:path>
              </a:pathLst>
            </a:custGeom>
            <a:solidFill>
              <a:srgbClr val="111827">
                <a:alpha val="77255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028825" y="7255193"/>
            <a:ext cx="114300" cy="114300"/>
            <a:chOff x="0" y="0"/>
            <a:chExt cx="152400" cy="152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2D3C5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2406015" y="7134225"/>
            <a:ext cx="13790295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Inventory Performance Dashboard • Delivery Performance Dashboard • Region &amp; Product Drilldown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2028825" y="7864793"/>
            <a:ext cx="114300" cy="114300"/>
            <a:chOff x="0" y="0"/>
            <a:chExt cx="152400" cy="152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2D3C5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2406015" y="7734300"/>
            <a:ext cx="13790295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Trends and Variance Analysis • Overall, product, sales, delivery and location analytics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analytical foundation is built on a duplicate-safe movement grain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2181701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The merged Olist dataset is analysed at order, product, delivery, geography and month levels.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659856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235869" y="3564731"/>
            <a:ext cx="15816262" cy="1900238"/>
            <a:chOff x="0" y="0"/>
            <a:chExt cx="21088350" cy="253365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400550" cy="2533650"/>
              <a:chOff x="0" y="0"/>
              <a:chExt cx="4400550" cy="253365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00550" cy="2533650"/>
              </a:xfrm>
              <a:custGeom>
                <a:avLst/>
                <a:gdLst/>
                <a:ahLst/>
                <a:cxnLst/>
                <a:rect r="r" b="b" t="t" l="l"/>
                <a:pathLst>
                  <a:path h="2533650" w="4400550">
                    <a:moveTo>
                      <a:pt x="0" y="230378"/>
                    </a:moveTo>
                    <a:cubicBezTo>
                      <a:pt x="0" y="103124"/>
                      <a:pt x="103124" y="0"/>
                      <a:pt x="230378" y="0"/>
                    </a:cubicBezTo>
                    <a:lnTo>
                      <a:pt x="4170172" y="0"/>
                    </a:lnTo>
                    <a:cubicBezTo>
                      <a:pt x="4297426" y="0"/>
                      <a:pt x="4400550" y="103124"/>
                      <a:pt x="4400550" y="230378"/>
                    </a:cubicBezTo>
                    <a:lnTo>
                      <a:pt x="4400550" y="2303272"/>
                    </a:lnTo>
                    <a:cubicBezTo>
                      <a:pt x="4400550" y="2430526"/>
                      <a:pt x="4297426" y="2533650"/>
                      <a:pt x="4170172" y="2533650"/>
                    </a:cubicBezTo>
                    <a:lnTo>
                      <a:pt x="230378" y="2533650"/>
                    </a:lnTo>
                    <a:cubicBezTo>
                      <a:pt x="103124" y="2533650"/>
                      <a:pt x="0" y="2430526"/>
                      <a:pt x="0" y="2303272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314325" y="295275"/>
              <a:ext cx="914400" cy="76200"/>
              <a:chOff x="0" y="0"/>
              <a:chExt cx="914400" cy="762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474345" y="689610"/>
              <a:ext cx="3451860" cy="78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375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66,039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74345" y="1651635"/>
              <a:ext cx="3451860" cy="487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dataset rows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5308600" y="0"/>
              <a:ext cx="4781550" cy="2533650"/>
              <a:chOff x="0" y="0"/>
              <a:chExt cx="4781550" cy="25336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781550" cy="2533650"/>
              </a:xfrm>
              <a:custGeom>
                <a:avLst/>
                <a:gdLst/>
                <a:ahLst/>
                <a:cxnLst/>
                <a:rect r="r" b="b" t="t" l="l"/>
                <a:pathLst>
                  <a:path h="2533650" w="4781550">
                    <a:moveTo>
                      <a:pt x="0" y="230378"/>
                    </a:moveTo>
                    <a:cubicBezTo>
                      <a:pt x="0" y="103124"/>
                      <a:pt x="103124" y="0"/>
                      <a:pt x="230378" y="0"/>
                    </a:cubicBezTo>
                    <a:lnTo>
                      <a:pt x="4551172" y="0"/>
                    </a:lnTo>
                    <a:cubicBezTo>
                      <a:pt x="4678426" y="0"/>
                      <a:pt x="4781550" y="103124"/>
                      <a:pt x="4781550" y="230378"/>
                    </a:cubicBezTo>
                    <a:lnTo>
                      <a:pt x="4781550" y="2303272"/>
                    </a:lnTo>
                    <a:cubicBezTo>
                      <a:pt x="4781550" y="2430526"/>
                      <a:pt x="4678426" y="2533650"/>
                      <a:pt x="4551172" y="2533650"/>
                    </a:cubicBezTo>
                    <a:lnTo>
                      <a:pt x="230378" y="2533650"/>
                    </a:lnTo>
                    <a:cubicBezTo>
                      <a:pt x="103124" y="2533650"/>
                      <a:pt x="0" y="2430526"/>
                      <a:pt x="0" y="2303272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5622925" y="295275"/>
              <a:ext cx="914400" cy="76200"/>
              <a:chOff x="0" y="0"/>
              <a:chExt cx="914400" cy="76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2D3C5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82945" y="689610"/>
              <a:ext cx="3832860" cy="78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375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63,089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782945" y="1651635"/>
              <a:ext cx="3832860" cy="487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D3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Unique movement lines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10998200" y="0"/>
              <a:ext cx="4400550" cy="2533650"/>
              <a:chOff x="0" y="0"/>
              <a:chExt cx="4400550" cy="253365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400550" cy="2533650"/>
              </a:xfrm>
              <a:custGeom>
                <a:avLst/>
                <a:gdLst/>
                <a:ahLst/>
                <a:cxnLst/>
                <a:rect r="r" b="b" t="t" l="l"/>
                <a:pathLst>
                  <a:path h="2533650" w="4400550">
                    <a:moveTo>
                      <a:pt x="0" y="230378"/>
                    </a:moveTo>
                    <a:cubicBezTo>
                      <a:pt x="0" y="103124"/>
                      <a:pt x="103124" y="0"/>
                      <a:pt x="230378" y="0"/>
                    </a:cubicBezTo>
                    <a:lnTo>
                      <a:pt x="4170172" y="0"/>
                    </a:lnTo>
                    <a:cubicBezTo>
                      <a:pt x="4297426" y="0"/>
                      <a:pt x="4400550" y="103124"/>
                      <a:pt x="4400550" y="230378"/>
                    </a:cubicBezTo>
                    <a:lnTo>
                      <a:pt x="4400550" y="2303272"/>
                    </a:lnTo>
                    <a:cubicBezTo>
                      <a:pt x="4400550" y="2430526"/>
                      <a:pt x="4297426" y="2533650"/>
                      <a:pt x="4170172" y="2533650"/>
                    </a:cubicBezTo>
                    <a:lnTo>
                      <a:pt x="230378" y="2533650"/>
                    </a:lnTo>
                    <a:cubicBezTo>
                      <a:pt x="103124" y="2533650"/>
                      <a:pt x="0" y="2430526"/>
                      <a:pt x="0" y="2303272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11312525" y="295275"/>
              <a:ext cx="914400" cy="76200"/>
              <a:chOff x="0" y="0"/>
              <a:chExt cx="914400" cy="762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5664F5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11472545" y="689610"/>
              <a:ext cx="3451860" cy="78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375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55,649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1472545" y="1651635"/>
              <a:ext cx="3451860" cy="487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66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Distinct orders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16306800" y="0"/>
              <a:ext cx="4781550" cy="2533650"/>
              <a:chOff x="0" y="0"/>
              <a:chExt cx="4781550" cy="253365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781550" cy="2533650"/>
              </a:xfrm>
              <a:custGeom>
                <a:avLst/>
                <a:gdLst/>
                <a:ahLst/>
                <a:cxnLst/>
                <a:rect r="r" b="b" t="t" l="l"/>
                <a:pathLst>
                  <a:path h="2533650" w="4781550">
                    <a:moveTo>
                      <a:pt x="0" y="230378"/>
                    </a:moveTo>
                    <a:cubicBezTo>
                      <a:pt x="0" y="103124"/>
                      <a:pt x="103124" y="0"/>
                      <a:pt x="230378" y="0"/>
                    </a:cubicBezTo>
                    <a:lnTo>
                      <a:pt x="4551172" y="0"/>
                    </a:lnTo>
                    <a:cubicBezTo>
                      <a:pt x="4678426" y="0"/>
                      <a:pt x="4781550" y="103124"/>
                      <a:pt x="4781550" y="230378"/>
                    </a:cubicBezTo>
                    <a:lnTo>
                      <a:pt x="4781550" y="2303272"/>
                    </a:lnTo>
                    <a:cubicBezTo>
                      <a:pt x="4781550" y="2430526"/>
                      <a:pt x="4678426" y="2533650"/>
                      <a:pt x="4551172" y="2533650"/>
                    </a:cubicBezTo>
                    <a:lnTo>
                      <a:pt x="230378" y="2533650"/>
                    </a:lnTo>
                    <a:cubicBezTo>
                      <a:pt x="103124" y="2533650"/>
                      <a:pt x="0" y="2430526"/>
                      <a:pt x="0" y="2303272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6621125" y="295275"/>
              <a:ext cx="914400" cy="76200"/>
              <a:chOff x="0" y="0"/>
              <a:chExt cx="914400" cy="762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7C5CFC"/>
              </a:solid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16781145" y="689610"/>
              <a:ext cx="3832860" cy="78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375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18,131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6781145" y="1651635"/>
              <a:ext cx="3832860" cy="487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C5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Active products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07356" y="6731794"/>
            <a:ext cx="3014662" cy="785812"/>
            <a:chOff x="0" y="0"/>
            <a:chExt cx="4019550" cy="10477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19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4019550">
                  <a:moveTo>
                    <a:pt x="0" y="232791"/>
                  </a:moveTo>
                  <a:cubicBezTo>
                    <a:pt x="0" y="104267"/>
                    <a:pt x="104267" y="0"/>
                    <a:pt x="232791" y="0"/>
                  </a:cubicBezTo>
                  <a:lnTo>
                    <a:pt x="3786759" y="0"/>
                  </a:lnTo>
                  <a:cubicBezTo>
                    <a:pt x="3915410" y="0"/>
                    <a:pt x="4019550" y="104267"/>
                    <a:pt x="4019550" y="232791"/>
                  </a:cubicBezTo>
                  <a:lnTo>
                    <a:pt x="4019550" y="814959"/>
                  </a:lnTo>
                  <a:cubicBezTo>
                    <a:pt x="4019550" y="943610"/>
                    <a:pt x="3915283" y="1047750"/>
                    <a:pt x="3786759" y="1047750"/>
                  </a:cubicBezTo>
                  <a:lnTo>
                    <a:pt x="232791" y="1047750"/>
                  </a:lnTo>
                  <a:cubicBezTo>
                    <a:pt x="104267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977390" y="6927532"/>
            <a:ext cx="2474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Orders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422106" y="6731794"/>
            <a:ext cx="3014662" cy="785812"/>
            <a:chOff x="0" y="0"/>
            <a:chExt cx="4019550" cy="10477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19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4019550">
                  <a:moveTo>
                    <a:pt x="0" y="232791"/>
                  </a:moveTo>
                  <a:cubicBezTo>
                    <a:pt x="0" y="104267"/>
                    <a:pt x="104267" y="0"/>
                    <a:pt x="232791" y="0"/>
                  </a:cubicBezTo>
                  <a:lnTo>
                    <a:pt x="3786759" y="0"/>
                  </a:lnTo>
                  <a:cubicBezTo>
                    <a:pt x="3915410" y="0"/>
                    <a:pt x="4019550" y="104267"/>
                    <a:pt x="4019550" y="232791"/>
                  </a:cubicBezTo>
                  <a:lnTo>
                    <a:pt x="4019550" y="814959"/>
                  </a:lnTo>
                  <a:cubicBezTo>
                    <a:pt x="4019550" y="943610"/>
                    <a:pt x="3915283" y="1047750"/>
                    <a:pt x="3786759" y="1047750"/>
                  </a:cubicBezTo>
                  <a:lnTo>
                    <a:pt x="232791" y="1047750"/>
                  </a:lnTo>
                  <a:cubicBezTo>
                    <a:pt x="104267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5692140" y="6927532"/>
            <a:ext cx="2474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136856" y="6731794"/>
            <a:ext cx="3014662" cy="785812"/>
            <a:chOff x="0" y="0"/>
            <a:chExt cx="4019550" cy="10477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19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4019550">
                  <a:moveTo>
                    <a:pt x="0" y="232791"/>
                  </a:moveTo>
                  <a:cubicBezTo>
                    <a:pt x="0" y="104267"/>
                    <a:pt x="104267" y="0"/>
                    <a:pt x="232791" y="0"/>
                  </a:cubicBezTo>
                  <a:lnTo>
                    <a:pt x="3786759" y="0"/>
                  </a:lnTo>
                  <a:cubicBezTo>
                    <a:pt x="3915410" y="0"/>
                    <a:pt x="4019550" y="104267"/>
                    <a:pt x="4019550" y="232791"/>
                  </a:cubicBezTo>
                  <a:lnTo>
                    <a:pt x="4019550" y="814959"/>
                  </a:lnTo>
                  <a:cubicBezTo>
                    <a:pt x="4019550" y="943610"/>
                    <a:pt x="3915283" y="1047750"/>
                    <a:pt x="3786759" y="1047750"/>
                  </a:cubicBezTo>
                  <a:lnTo>
                    <a:pt x="232791" y="1047750"/>
                  </a:lnTo>
                  <a:cubicBezTo>
                    <a:pt x="104267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406890" y="6927532"/>
            <a:ext cx="2474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Sales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851606" y="6731794"/>
            <a:ext cx="3014662" cy="785812"/>
            <a:chOff x="0" y="0"/>
            <a:chExt cx="4019550" cy="10477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19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4019550">
                  <a:moveTo>
                    <a:pt x="0" y="232791"/>
                  </a:moveTo>
                  <a:cubicBezTo>
                    <a:pt x="0" y="104267"/>
                    <a:pt x="104267" y="0"/>
                    <a:pt x="232791" y="0"/>
                  </a:cubicBezTo>
                  <a:lnTo>
                    <a:pt x="3786759" y="0"/>
                  </a:lnTo>
                  <a:cubicBezTo>
                    <a:pt x="3915410" y="0"/>
                    <a:pt x="4019550" y="104267"/>
                    <a:pt x="4019550" y="232791"/>
                  </a:cubicBezTo>
                  <a:lnTo>
                    <a:pt x="4019550" y="814959"/>
                  </a:lnTo>
                  <a:cubicBezTo>
                    <a:pt x="4019550" y="943610"/>
                    <a:pt x="3915283" y="1047750"/>
                    <a:pt x="3786759" y="1047750"/>
                  </a:cubicBezTo>
                  <a:lnTo>
                    <a:pt x="232791" y="1047750"/>
                  </a:lnTo>
                  <a:cubicBezTo>
                    <a:pt x="104267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3121640" y="6927532"/>
            <a:ext cx="2474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Customers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707356" y="7960519"/>
            <a:ext cx="3014662" cy="785812"/>
            <a:chOff x="0" y="0"/>
            <a:chExt cx="4019550" cy="10477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19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4019550">
                  <a:moveTo>
                    <a:pt x="0" y="232791"/>
                  </a:moveTo>
                  <a:cubicBezTo>
                    <a:pt x="0" y="104267"/>
                    <a:pt x="104267" y="0"/>
                    <a:pt x="232791" y="0"/>
                  </a:cubicBezTo>
                  <a:lnTo>
                    <a:pt x="3786759" y="0"/>
                  </a:lnTo>
                  <a:cubicBezTo>
                    <a:pt x="3915410" y="0"/>
                    <a:pt x="4019550" y="104267"/>
                    <a:pt x="4019550" y="232791"/>
                  </a:cubicBezTo>
                  <a:lnTo>
                    <a:pt x="4019550" y="814959"/>
                  </a:lnTo>
                  <a:cubicBezTo>
                    <a:pt x="4019550" y="943610"/>
                    <a:pt x="3915283" y="1047750"/>
                    <a:pt x="3786759" y="1047750"/>
                  </a:cubicBezTo>
                  <a:lnTo>
                    <a:pt x="232791" y="1047750"/>
                  </a:lnTo>
                  <a:cubicBezTo>
                    <a:pt x="104267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977390" y="8156257"/>
            <a:ext cx="2474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Sellers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422106" y="7960519"/>
            <a:ext cx="3014662" cy="785812"/>
            <a:chOff x="0" y="0"/>
            <a:chExt cx="4019550" cy="10477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19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4019550">
                  <a:moveTo>
                    <a:pt x="0" y="232791"/>
                  </a:moveTo>
                  <a:cubicBezTo>
                    <a:pt x="0" y="104267"/>
                    <a:pt x="104267" y="0"/>
                    <a:pt x="232791" y="0"/>
                  </a:cubicBezTo>
                  <a:lnTo>
                    <a:pt x="3786759" y="0"/>
                  </a:lnTo>
                  <a:cubicBezTo>
                    <a:pt x="3915410" y="0"/>
                    <a:pt x="4019550" y="104267"/>
                    <a:pt x="4019550" y="232791"/>
                  </a:cubicBezTo>
                  <a:lnTo>
                    <a:pt x="4019550" y="814959"/>
                  </a:lnTo>
                  <a:cubicBezTo>
                    <a:pt x="4019550" y="943610"/>
                    <a:pt x="3915283" y="1047750"/>
                    <a:pt x="3786759" y="1047750"/>
                  </a:cubicBezTo>
                  <a:lnTo>
                    <a:pt x="232791" y="1047750"/>
                  </a:lnTo>
                  <a:cubicBezTo>
                    <a:pt x="104267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5692140" y="8156257"/>
            <a:ext cx="2474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Delivery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136856" y="7960519"/>
            <a:ext cx="3014662" cy="785812"/>
            <a:chOff x="0" y="0"/>
            <a:chExt cx="4019550" cy="10477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19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4019550">
                  <a:moveTo>
                    <a:pt x="0" y="232791"/>
                  </a:moveTo>
                  <a:cubicBezTo>
                    <a:pt x="0" y="104267"/>
                    <a:pt x="104267" y="0"/>
                    <a:pt x="232791" y="0"/>
                  </a:cubicBezTo>
                  <a:lnTo>
                    <a:pt x="3786759" y="0"/>
                  </a:lnTo>
                  <a:cubicBezTo>
                    <a:pt x="3915410" y="0"/>
                    <a:pt x="4019550" y="104267"/>
                    <a:pt x="4019550" y="232791"/>
                  </a:cubicBezTo>
                  <a:lnTo>
                    <a:pt x="4019550" y="814959"/>
                  </a:lnTo>
                  <a:cubicBezTo>
                    <a:pt x="4019550" y="943610"/>
                    <a:pt x="3915283" y="1047750"/>
                    <a:pt x="3786759" y="1047750"/>
                  </a:cubicBezTo>
                  <a:lnTo>
                    <a:pt x="232791" y="1047750"/>
                  </a:lnTo>
                  <a:cubicBezTo>
                    <a:pt x="104267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9406890" y="8156257"/>
            <a:ext cx="2474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Geography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851606" y="7960519"/>
            <a:ext cx="3014662" cy="785812"/>
            <a:chOff x="0" y="0"/>
            <a:chExt cx="4019550" cy="10477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19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4019550">
                  <a:moveTo>
                    <a:pt x="0" y="232791"/>
                  </a:moveTo>
                  <a:cubicBezTo>
                    <a:pt x="0" y="104267"/>
                    <a:pt x="104267" y="0"/>
                    <a:pt x="232791" y="0"/>
                  </a:cubicBezTo>
                  <a:lnTo>
                    <a:pt x="3786759" y="0"/>
                  </a:lnTo>
                  <a:cubicBezTo>
                    <a:pt x="3915410" y="0"/>
                    <a:pt x="4019550" y="104267"/>
                    <a:pt x="4019550" y="232791"/>
                  </a:cubicBezTo>
                  <a:lnTo>
                    <a:pt x="4019550" y="814959"/>
                  </a:lnTo>
                  <a:cubicBezTo>
                    <a:pt x="4019550" y="943610"/>
                    <a:pt x="3915283" y="1047750"/>
                    <a:pt x="3786759" y="1047750"/>
                  </a:cubicBezTo>
                  <a:lnTo>
                    <a:pt x="232791" y="1047750"/>
                  </a:lnTo>
                  <a:cubicBezTo>
                    <a:pt x="104267" y="1047750"/>
                    <a:pt x="0" y="943483"/>
                    <a:pt x="0" y="814959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13121640" y="8156257"/>
            <a:ext cx="24745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Inventory is analysed transparently as product movement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1607820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dataset does not contain actual warehouse balances, so movement is the honest proxy.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085975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135856" y="2493169"/>
            <a:ext cx="16016288" cy="1214438"/>
            <a:chOff x="0" y="0"/>
            <a:chExt cx="21355050" cy="1619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55050" cy="1619123"/>
            </a:xfrm>
            <a:custGeom>
              <a:avLst/>
              <a:gdLst/>
              <a:ahLst/>
              <a:cxnLst/>
              <a:rect r="r" b="b" t="t" l="l"/>
              <a:pathLst>
                <a:path h="1619123" w="21355050">
                  <a:moveTo>
                    <a:pt x="0" y="231267"/>
                  </a:moveTo>
                  <a:cubicBezTo>
                    <a:pt x="0" y="103505"/>
                    <a:pt x="103505" y="0"/>
                    <a:pt x="231267" y="0"/>
                  </a:cubicBezTo>
                  <a:lnTo>
                    <a:pt x="21123783" y="0"/>
                  </a:lnTo>
                  <a:cubicBezTo>
                    <a:pt x="21251546" y="0"/>
                    <a:pt x="21355050" y="103505"/>
                    <a:pt x="21355050" y="231267"/>
                  </a:cubicBezTo>
                  <a:lnTo>
                    <a:pt x="21355050" y="1387856"/>
                  </a:lnTo>
                  <a:cubicBezTo>
                    <a:pt x="21355050" y="1515618"/>
                    <a:pt x="21251546" y="1619123"/>
                    <a:pt x="21123783" y="1619123"/>
                  </a:cubicBezTo>
                  <a:lnTo>
                    <a:pt x="231267" y="1619123"/>
                  </a:lnTo>
                  <a:cubicBezTo>
                    <a:pt x="103505" y="1619250"/>
                    <a:pt x="0" y="1515745"/>
                    <a:pt x="0" y="1387983"/>
                  </a:cubicBezTo>
                  <a:close/>
                </a:path>
              </a:pathLst>
            </a:custGeom>
            <a:solidFill>
              <a:srgbClr val="111827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734502" y="2679383"/>
            <a:ext cx="14818995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“Product movements are used as an inventory proxy; the dataset does not contain actual warehouse stock or on-hand inventory.”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493169" y="4779169"/>
            <a:ext cx="3300412" cy="1528762"/>
            <a:chOff x="0" y="0"/>
            <a:chExt cx="4400550" cy="20383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005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44005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4169791" y="0"/>
                  </a:lnTo>
                  <a:cubicBezTo>
                    <a:pt x="4297299" y="0"/>
                    <a:pt x="4400550" y="103378"/>
                    <a:pt x="4400550" y="230759"/>
                  </a:cubicBezTo>
                  <a:lnTo>
                    <a:pt x="4400550" y="1807591"/>
                  </a:lnTo>
                  <a:cubicBezTo>
                    <a:pt x="4400550" y="1935099"/>
                    <a:pt x="4297172" y="2038350"/>
                    <a:pt x="41697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820352" y="5060632"/>
            <a:ext cx="264604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Order Transactions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91778" y="5641658"/>
            <a:ext cx="270319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Observed historical order-item records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35065" y="5236845"/>
            <a:ext cx="38862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136606" y="4779169"/>
            <a:ext cx="3300412" cy="1528762"/>
            <a:chOff x="0" y="0"/>
            <a:chExt cx="4400550" cy="2038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005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44005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4169791" y="0"/>
                  </a:lnTo>
                  <a:cubicBezTo>
                    <a:pt x="4297299" y="0"/>
                    <a:pt x="4400550" y="103378"/>
                    <a:pt x="4400550" y="230759"/>
                  </a:cubicBezTo>
                  <a:lnTo>
                    <a:pt x="4400550" y="1807591"/>
                  </a:lnTo>
                  <a:cubicBezTo>
                    <a:pt x="4400550" y="1935099"/>
                    <a:pt x="4297172" y="2038350"/>
                    <a:pt x="41697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7463790" y="5060632"/>
            <a:ext cx="264604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 Movement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35215" y="5641658"/>
            <a:ext cx="270319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Units and value by movement line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78502" y="5236845"/>
            <a:ext cx="38862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780044" y="4779169"/>
            <a:ext cx="3586162" cy="1528762"/>
            <a:chOff x="0" y="0"/>
            <a:chExt cx="4781550" cy="20383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815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47815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4550791" y="0"/>
                  </a:lnTo>
                  <a:cubicBezTo>
                    <a:pt x="4678299" y="0"/>
                    <a:pt x="4781550" y="103378"/>
                    <a:pt x="4781550" y="230759"/>
                  </a:cubicBezTo>
                  <a:lnTo>
                    <a:pt x="4781550" y="1807591"/>
                  </a:lnTo>
                  <a:cubicBezTo>
                    <a:pt x="4781550" y="1935099"/>
                    <a:pt x="4678172" y="2038350"/>
                    <a:pt x="45507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107228" y="5060632"/>
            <a:ext cx="293179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7C5C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Movement Intelligence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78652" y="5641658"/>
            <a:ext cx="298894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Velocity, ABC, fast/slow and variability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350294" y="7136606"/>
            <a:ext cx="13587412" cy="1814512"/>
            <a:chOff x="0" y="0"/>
            <a:chExt cx="18116550" cy="24193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116550" cy="2419350"/>
            </a:xfrm>
            <a:custGeom>
              <a:avLst/>
              <a:gdLst/>
              <a:ahLst/>
              <a:cxnLst/>
              <a:rect r="r" b="b" t="t" l="l"/>
              <a:pathLst>
                <a:path h="2419350" w="1811655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17886172" y="0"/>
                  </a:lnTo>
                  <a:cubicBezTo>
                    <a:pt x="18013426" y="0"/>
                    <a:pt x="18116550" y="103124"/>
                    <a:pt x="18116550" y="230378"/>
                  </a:cubicBezTo>
                  <a:lnTo>
                    <a:pt x="18116550" y="2188972"/>
                  </a:lnTo>
                  <a:cubicBezTo>
                    <a:pt x="18116550" y="2316226"/>
                    <a:pt x="18013426" y="2419350"/>
                    <a:pt x="17886172" y="2419350"/>
                  </a:cubicBezTo>
                  <a:lnTo>
                    <a:pt x="230378" y="2419350"/>
                  </a:lnTo>
                  <a:cubicBezTo>
                    <a:pt x="103124" y="2419350"/>
                    <a:pt x="0" y="2316226"/>
                    <a:pt x="0" y="2188972"/>
                  </a:cubicBezTo>
                  <a:close/>
                </a:path>
              </a:pathLst>
            </a:custGeom>
            <a:solidFill>
              <a:srgbClr val="111827">
                <a:alpha val="77255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2671762" y="7719536"/>
            <a:ext cx="114300" cy="114300"/>
            <a:chOff x="0" y="0"/>
            <a:chExt cx="152400" cy="152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2D3C5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3048952" y="7584281"/>
            <a:ext cx="1250442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Units Moved • Active Products • Product Velocity • Movement Value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671762" y="8319611"/>
            <a:ext cx="114300" cy="114300"/>
            <a:chOff x="0" y="0"/>
            <a:chExt cx="152400" cy="152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2D3C5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3048952" y="8184356"/>
            <a:ext cx="1250442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ABC Classification • Fast/Slow Movement • Demand Variability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final report is a five-page Supply Chain Control Tower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1607820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Each page answers a different management question.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085975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742950" y="3990975"/>
            <a:ext cx="3114675" cy="1757362"/>
            <a:chOff x="0" y="0"/>
            <a:chExt cx="4152900" cy="2343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52900" cy="2343150"/>
            </a:xfrm>
            <a:custGeom>
              <a:avLst/>
              <a:gdLst/>
              <a:ahLst/>
              <a:cxnLst/>
              <a:rect r="r" b="b" t="t" l="l"/>
              <a:pathLst>
                <a:path h="234315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2343150"/>
                  </a:lnTo>
                  <a:lnTo>
                    <a:pt x="0" y="2343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34" r="0" b="-123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5806" y="5969794"/>
            <a:ext cx="3128962" cy="1128712"/>
            <a:chOff x="0" y="0"/>
            <a:chExt cx="4171950" cy="1504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71950" cy="1504950"/>
            </a:xfrm>
            <a:custGeom>
              <a:avLst/>
              <a:gdLst/>
              <a:ahLst/>
              <a:cxnLst/>
              <a:rect r="r" b="b" t="t" l="l"/>
              <a:pathLst>
                <a:path h="1504950" w="4171950">
                  <a:moveTo>
                    <a:pt x="0" y="231521"/>
                  </a:moveTo>
                  <a:cubicBezTo>
                    <a:pt x="0" y="103632"/>
                    <a:pt x="103632" y="0"/>
                    <a:pt x="231521" y="0"/>
                  </a:cubicBezTo>
                  <a:lnTo>
                    <a:pt x="3940429" y="0"/>
                  </a:lnTo>
                  <a:cubicBezTo>
                    <a:pt x="4068318" y="0"/>
                    <a:pt x="4171950" y="103632"/>
                    <a:pt x="4171950" y="231521"/>
                  </a:cubicBezTo>
                  <a:lnTo>
                    <a:pt x="4171950" y="1273429"/>
                  </a:lnTo>
                  <a:cubicBezTo>
                    <a:pt x="4171950" y="1401318"/>
                    <a:pt x="4068318" y="1504950"/>
                    <a:pt x="3940429" y="1504950"/>
                  </a:cubicBezTo>
                  <a:lnTo>
                    <a:pt x="231521" y="1504950"/>
                  </a:lnTo>
                  <a:cubicBezTo>
                    <a:pt x="103632" y="1504950"/>
                    <a:pt x="0" y="1401318"/>
                    <a:pt x="0" y="1273429"/>
                  </a:cubicBezTo>
                  <a:close/>
                </a:path>
              </a:pathLst>
            </a:custGeom>
            <a:solidFill>
              <a:srgbClr val="111827">
                <a:alpha val="8078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77265" y="6177915"/>
            <a:ext cx="2646045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 b="true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Executive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5840" y="6694170"/>
            <a:ext cx="258889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Executive KPIs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200525" y="3990975"/>
            <a:ext cx="3114675" cy="1757362"/>
            <a:chOff x="0" y="0"/>
            <a:chExt cx="4152900" cy="2343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52900" cy="2343150"/>
            </a:xfrm>
            <a:custGeom>
              <a:avLst/>
              <a:gdLst/>
              <a:ahLst/>
              <a:cxnLst/>
              <a:rect r="r" b="b" t="t" l="l"/>
              <a:pathLst>
                <a:path h="234315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2343150"/>
                  </a:lnTo>
                  <a:lnTo>
                    <a:pt x="0" y="2343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34" r="0" b="-123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193381" y="5969794"/>
            <a:ext cx="3128962" cy="1128712"/>
            <a:chOff x="0" y="0"/>
            <a:chExt cx="4171950" cy="15049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1950" cy="1504950"/>
            </a:xfrm>
            <a:custGeom>
              <a:avLst/>
              <a:gdLst/>
              <a:ahLst/>
              <a:cxnLst/>
              <a:rect r="r" b="b" t="t" l="l"/>
              <a:pathLst>
                <a:path h="1504950" w="4171950">
                  <a:moveTo>
                    <a:pt x="0" y="231521"/>
                  </a:moveTo>
                  <a:cubicBezTo>
                    <a:pt x="0" y="103632"/>
                    <a:pt x="103632" y="0"/>
                    <a:pt x="231521" y="0"/>
                  </a:cubicBezTo>
                  <a:lnTo>
                    <a:pt x="3940429" y="0"/>
                  </a:lnTo>
                  <a:cubicBezTo>
                    <a:pt x="4068318" y="0"/>
                    <a:pt x="4171950" y="103632"/>
                    <a:pt x="4171950" y="231521"/>
                  </a:cubicBezTo>
                  <a:lnTo>
                    <a:pt x="4171950" y="1273429"/>
                  </a:lnTo>
                  <a:cubicBezTo>
                    <a:pt x="4171950" y="1401318"/>
                    <a:pt x="4068318" y="1504950"/>
                    <a:pt x="3940429" y="1504950"/>
                  </a:cubicBezTo>
                  <a:lnTo>
                    <a:pt x="231521" y="1504950"/>
                  </a:lnTo>
                  <a:cubicBezTo>
                    <a:pt x="103632" y="1504950"/>
                    <a:pt x="0" y="1401318"/>
                    <a:pt x="0" y="1273429"/>
                  </a:cubicBezTo>
                  <a:close/>
                </a:path>
              </a:pathLst>
            </a:custGeom>
            <a:solidFill>
              <a:srgbClr val="111827">
                <a:alpha val="8078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4434840" y="6177915"/>
            <a:ext cx="2646045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Inventory Movement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63415" y="6694170"/>
            <a:ext cx="258889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proxy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58100" y="3990975"/>
            <a:ext cx="3114675" cy="1757362"/>
            <a:chOff x="0" y="0"/>
            <a:chExt cx="4152900" cy="23431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52900" cy="2343150"/>
            </a:xfrm>
            <a:custGeom>
              <a:avLst/>
              <a:gdLst/>
              <a:ahLst/>
              <a:cxnLst/>
              <a:rect r="r" b="b" t="t" l="l"/>
              <a:pathLst>
                <a:path h="234315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2343150"/>
                  </a:lnTo>
                  <a:lnTo>
                    <a:pt x="0" y="2343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34" r="0" b="-123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650956" y="5969794"/>
            <a:ext cx="3128962" cy="1128712"/>
            <a:chOff x="0" y="0"/>
            <a:chExt cx="4171950" cy="1504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71950" cy="1504950"/>
            </a:xfrm>
            <a:custGeom>
              <a:avLst/>
              <a:gdLst/>
              <a:ahLst/>
              <a:cxnLst/>
              <a:rect r="r" b="b" t="t" l="l"/>
              <a:pathLst>
                <a:path h="1504950" w="4171950">
                  <a:moveTo>
                    <a:pt x="0" y="231521"/>
                  </a:moveTo>
                  <a:cubicBezTo>
                    <a:pt x="0" y="103632"/>
                    <a:pt x="103632" y="0"/>
                    <a:pt x="231521" y="0"/>
                  </a:cubicBezTo>
                  <a:lnTo>
                    <a:pt x="3940429" y="0"/>
                  </a:lnTo>
                  <a:cubicBezTo>
                    <a:pt x="4068318" y="0"/>
                    <a:pt x="4171950" y="103632"/>
                    <a:pt x="4171950" y="231521"/>
                  </a:cubicBezTo>
                  <a:lnTo>
                    <a:pt x="4171950" y="1273429"/>
                  </a:lnTo>
                  <a:cubicBezTo>
                    <a:pt x="4171950" y="1401318"/>
                    <a:pt x="4068318" y="1504950"/>
                    <a:pt x="3940429" y="1504950"/>
                  </a:cubicBezTo>
                  <a:lnTo>
                    <a:pt x="231521" y="1504950"/>
                  </a:lnTo>
                  <a:cubicBezTo>
                    <a:pt x="103632" y="1504950"/>
                    <a:pt x="0" y="1401318"/>
                    <a:pt x="0" y="1273429"/>
                  </a:cubicBezTo>
                  <a:close/>
                </a:path>
              </a:pathLst>
            </a:custGeom>
            <a:solidFill>
              <a:srgbClr val="111827">
                <a:alpha val="8078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7892415" y="6177915"/>
            <a:ext cx="2646045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Delivery Performance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20990" y="6694170"/>
            <a:ext cx="258889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Reliability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115675" y="3990975"/>
            <a:ext cx="3114675" cy="1757362"/>
            <a:chOff x="0" y="0"/>
            <a:chExt cx="4152900" cy="23431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52900" cy="2343150"/>
            </a:xfrm>
            <a:custGeom>
              <a:avLst/>
              <a:gdLst/>
              <a:ahLst/>
              <a:cxnLst/>
              <a:rect r="r" b="b" t="t" l="l"/>
              <a:pathLst>
                <a:path h="234315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2343150"/>
                  </a:lnTo>
                  <a:lnTo>
                    <a:pt x="0" y="2343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34" r="0" b="-123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108531" y="5969794"/>
            <a:ext cx="3128962" cy="1128712"/>
            <a:chOff x="0" y="0"/>
            <a:chExt cx="4171950" cy="15049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71950" cy="1504950"/>
            </a:xfrm>
            <a:custGeom>
              <a:avLst/>
              <a:gdLst/>
              <a:ahLst/>
              <a:cxnLst/>
              <a:rect r="r" b="b" t="t" l="l"/>
              <a:pathLst>
                <a:path h="1504950" w="4171950">
                  <a:moveTo>
                    <a:pt x="0" y="231521"/>
                  </a:moveTo>
                  <a:cubicBezTo>
                    <a:pt x="0" y="103632"/>
                    <a:pt x="103632" y="0"/>
                    <a:pt x="231521" y="0"/>
                  </a:cubicBezTo>
                  <a:lnTo>
                    <a:pt x="3940429" y="0"/>
                  </a:lnTo>
                  <a:cubicBezTo>
                    <a:pt x="4068318" y="0"/>
                    <a:pt x="4171950" y="103632"/>
                    <a:pt x="4171950" y="231521"/>
                  </a:cubicBezTo>
                  <a:lnTo>
                    <a:pt x="4171950" y="1273429"/>
                  </a:lnTo>
                  <a:cubicBezTo>
                    <a:pt x="4171950" y="1401318"/>
                    <a:pt x="4068318" y="1504950"/>
                    <a:pt x="3940429" y="1504950"/>
                  </a:cubicBezTo>
                  <a:lnTo>
                    <a:pt x="231521" y="1504950"/>
                  </a:lnTo>
                  <a:cubicBezTo>
                    <a:pt x="103632" y="1504950"/>
                    <a:pt x="0" y="1401318"/>
                    <a:pt x="0" y="1273429"/>
                  </a:cubicBezTo>
                  <a:close/>
                </a:path>
              </a:pathLst>
            </a:custGeom>
            <a:solidFill>
              <a:srgbClr val="111827">
                <a:alpha val="8078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1349990" y="6177915"/>
            <a:ext cx="2646045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 b="true">
                <a:solidFill>
                  <a:srgbClr val="5664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Region Drilldown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378565" y="6694170"/>
            <a:ext cx="258889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State to product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573250" y="3990975"/>
            <a:ext cx="3114675" cy="1757362"/>
            <a:chOff x="0" y="0"/>
            <a:chExt cx="4152900" cy="23431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52900" cy="2343150"/>
            </a:xfrm>
            <a:custGeom>
              <a:avLst/>
              <a:gdLst/>
              <a:ahLst/>
              <a:cxnLst/>
              <a:rect r="r" b="b" t="t" l="l"/>
              <a:pathLst>
                <a:path h="234315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2343150"/>
                  </a:lnTo>
                  <a:lnTo>
                    <a:pt x="0" y="2343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34" r="0" b="-1235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566106" y="5969794"/>
            <a:ext cx="3128962" cy="1128712"/>
            <a:chOff x="0" y="0"/>
            <a:chExt cx="4171950" cy="15049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71950" cy="1504950"/>
            </a:xfrm>
            <a:custGeom>
              <a:avLst/>
              <a:gdLst/>
              <a:ahLst/>
              <a:cxnLst/>
              <a:rect r="r" b="b" t="t" l="l"/>
              <a:pathLst>
                <a:path h="1504950" w="4171950">
                  <a:moveTo>
                    <a:pt x="0" y="231521"/>
                  </a:moveTo>
                  <a:cubicBezTo>
                    <a:pt x="0" y="103632"/>
                    <a:pt x="103632" y="0"/>
                    <a:pt x="231521" y="0"/>
                  </a:cubicBezTo>
                  <a:lnTo>
                    <a:pt x="3940429" y="0"/>
                  </a:lnTo>
                  <a:cubicBezTo>
                    <a:pt x="4068318" y="0"/>
                    <a:pt x="4171950" y="103632"/>
                    <a:pt x="4171950" y="231521"/>
                  </a:cubicBezTo>
                  <a:lnTo>
                    <a:pt x="4171950" y="1273429"/>
                  </a:lnTo>
                  <a:cubicBezTo>
                    <a:pt x="4171950" y="1401318"/>
                    <a:pt x="4068318" y="1504950"/>
                    <a:pt x="3940429" y="1504950"/>
                  </a:cubicBezTo>
                  <a:lnTo>
                    <a:pt x="231521" y="1504950"/>
                  </a:lnTo>
                  <a:cubicBezTo>
                    <a:pt x="103632" y="1504950"/>
                    <a:pt x="0" y="1401318"/>
                    <a:pt x="0" y="1273429"/>
                  </a:cubicBezTo>
                  <a:close/>
                </a:path>
              </a:pathLst>
            </a:custGeom>
            <a:solidFill>
              <a:srgbClr val="111827">
                <a:alpha val="8078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4807565" y="6177915"/>
            <a:ext cx="2646045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 b="true">
                <a:solidFill>
                  <a:srgbClr val="7C5C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Trends &amp; Variance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836140" y="6694170"/>
            <a:ext cx="258889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MoM change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Executive KPIs show scale, value and reliable delivery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1607820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Strong overall delivery performance with growing transaction and product-movement activity.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085975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307900" y="3333750"/>
            <a:ext cx="3621012" cy="2407265"/>
            <a:chOff x="0" y="0"/>
            <a:chExt cx="4828016" cy="320968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828016" cy="3209686"/>
              <a:chOff x="0" y="0"/>
              <a:chExt cx="3409950" cy="226695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409950" cy="2266950"/>
              </a:xfrm>
              <a:custGeom>
                <a:avLst/>
                <a:gdLst/>
                <a:ahLst/>
                <a:cxnLst/>
                <a:rect r="r" b="b" t="t" l="l"/>
                <a:pathLst>
                  <a:path h="2266950" w="3409950">
                    <a:moveTo>
                      <a:pt x="0" y="230505"/>
                    </a:moveTo>
                    <a:cubicBezTo>
                      <a:pt x="0" y="103251"/>
                      <a:pt x="103251" y="0"/>
                      <a:pt x="230505" y="0"/>
                    </a:cubicBezTo>
                    <a:lnTo>
                      <a:pt x="3179445" y="0"/>
                    </a:lnTo>
                    <a:cubicBezTo>
                      <a:pt x="3306699" y="0"/>
                      <a:pt x="3409950" y="103251"/>
                      <a:pt x="3409950" y="230505"/>
                    </a:cubicBezTo>
                    <a:lnTo>
                      <a:pt x="3409950" y="2036445"/>
                    </a:lnTo>
                    <a:cubicBezTo>
                      <a:pt x="3409950" y="2163699"/>
                      <a:pt x="3306699" y="2266950"/>
                      <a:pt x="3179445" y="2266950"/>
                    </a:cubicBezTo>
                    <a:lnTo>
                      <a:pt x="230505" y="2266950"/>
                    </a:lnTo>
                    <a:cubicBezTo>
                      <a:pt x="103251" y="2266950"/>
                      <a:pt x="0" y="2163699"/>
                      <a:pt x="0" y="2036445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45041" y="418068"/>
              <a:ext cx="1294663" cy="107889"/>
              <a:chOff x="0" y="0"/>
              <a:chExt cx="914400" cy="762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671607" y="966020"/>
              <a:ext cx="3484802" cy="1118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4"/>
                </a:lnSpc>
              </a:pPr>
              <a:r>
                <a:rPr lang="en-US" sz="4778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56K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71607" y="2344805"/>
              <a:ext cx="3484802" cy="684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2548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Orders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33494" y="3333750"/>
            <a:ext cx="3621012" cy="2407265"/>
            <a:chOff x="0" y="0"/>
            <a:chExt cx="4828016" cy="320968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828016" cy="3209686"/>
              <a:chOff x="0" y="0"/>
              <a:chExt cx="3409950" cy="22669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409950" cy="2266950"/>
              </a:xfrm>
              <a:custGeom>
                <a:avLst/>
                <a:gdLst/>
                <a:ahLst/>
                <a:cxnLst/>
                <a:rect r="r" b="b" t="t" l="l"/>
                <a:pathLst>
                  <a:path h="2266950" w="3409950">
                    <a:moveTo>
                      <a:pt x="0" y="230505"/>
                    </a:moveTo>
                    <a:cubicBezTo>
                      <a:pt x="0" y="103251"/>
                      <a:pt x="103251" y="0"/>
                      <a:pt x="230505" y="0"/>
                    </a:cubicBezTo>
                    <a:lnTo>
                      <a:pt x="3179445" y="0"/>
                    </a:lnTo>
                    <a:cubicBezTo>
                      <a:pt x="3306699" y="0"/>
                      <a:pt x="3409950" y="103251"/>
                      <a:pt x="3409950" y="230505"/>
                    </a:cubicBezTo>
                    <a:lnTo>
                      <a:pt x="3409950" y="2036445"/>
                    </a:lnTo>
                    <a:cubicBezTo>
                      <a:pt x="3409950" y="2163699"/>
                      <a:pt x="3306699" y="2266950"/>
                      <a:pt x="3179445" y="2266950"/>
                    </a:cubicBezTo>
                    <a:lnTo>
                      <a:pt x="230505" y="2266950"/>
                    </a:lnTo>
                    <a:cubicBezTo>
                      <a:pt x="103251" y="2266950"/>
                      <a:pt x="0" y="2163699"/>
                      <a:pt x="0" y="2036445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445041" y="418068"/>
              <a:ext cx="1294663" cy="107889"/>
              <a:chOff x="0" y="0"/>
              <a:chExt cx="914400" cy="76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2D3C5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671607" y="966020"/>
              <a:ext cx="3484802" cy="1118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4"/>
                </a:lnSpc>
              </a:pPr>
              <a:r>
                <a:rPr lang="en-US" sz="4778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63K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71607" y="2344805"/>
              <a:ext cx="3484802" cy="684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2548" b="true">
                  <a:solidFill>
                    <a:srgbClr val="22D3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Units Moved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359088" y="3333750"/>
            <a:ext cx="3621012" cy="2407265"/>
            <a:chOff x="0" y="0"/>
            <a:chExt cx="4828016" cy="320968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828016" cy="3209686"/>
              <a:chOff x="0" y="0"/>
              <a:chExt cx="3409950" cy="226695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409950" cy="2266950"/>
              </a:xfrm>
              <a:custGeom>
                <a:avLst/>
                <a:gdLst/>
                <a:ahLst/>
                <a:cxnLst/>
                <a:rect r="r" b="b" t="t" l="l"/>
                <a:pathLst>
                  <a:path h="2266950" w="3409950">
                    <a:moveTo>
                      <a:pt x="0" y="230505"/>
                    </a:moveTo>
                    <a:cubicBezTo>
                      <a:pt x="0" y="103251"/>
                      <a:pt x="103251" y="0"/>
                      <a:pt x="230505" y="0"/>
                    </a:cubicBezTo>
                    <a:lnTo>
                      <a:pt x="3179445" y="0"/>
                    </a:lnTo>
                    <a:cubicBezTo>
                      <a:pt x="3306699" y="0"/>
                      <a:pt x="3409950" y="103251"/>
                      <a:pt x="3409950" y="230505"/>
                    </a:cubicBezTo>
                    <a:lnTo>
                      <a:pt x="3409950" y="2036445"/>
                    </a:lnTo>
                    <a:cubicBezTo>
                      <a:pt x="3409950" y="2163699"/>
                      <a:pt x="3306699" y="2266950"/>
                      <a:pt x="3179445" y="2266950"/>
                    </a:cubicBezTo>
                    <a:lnTo>
                      <a:pt x="230505" y="2266950"/>
                    </a:lnTo>
                    <a:cubicBezTo>
                      <a:pt x="103251" y="2266950"/>
                      <a:pt x="0" y="2163699"/>
                      <a:pt x="0" y="2036445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445041" y="418068"/>
              <a:ext cx="1294663" cy="107889"/>
              <a:chOff x="0" y="0"/>
              <a:chExt cx="914400" cy="76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7C5CFC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671607" y="966020"/>
              <a:ext cx="3484802" cy="1118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4"/>
                </a:lnSpc>
              </a:pPr>
              <a:r>
                <a:rPr lang="en-US" sz="4778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4.10M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671607" y="2344805"/>
              <a:ext cx="3484802" cy="684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2548" b="true">
                  <a:solidFill>
                    <a:srgbClr val="7C5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Sales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307900" y="6320916"/>
            <a:ext cx="3621012" cy="2407265"/>
            <a:chOff x="0" y="0"/>
            <a:chExt cx="4828016" cy="320968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4828016" cy="3209686"/>
              <a:chOff x="0" y="0"/>
              <a:chExt cx="3409950" cy="226695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409950" cy="2266950"/>
              </a:xfrm>
              <a:custGeom>
                <a:avLst/>
                <a:gdLst/>
                <a:ahLst/>
                <a:cxnLst/>
                <a:rect r="r" b="b" t="t" l="l"/>
                <a:pathLst>
                  <a:path h="2266950" w="3409950">
                    <a:moveTo>
                      <a:pt x="0" y="230505"/>
                    </a:moveTo>
                    <a:cubicBezTo>
                      <a:pt x="0" y="103251"/>
                      <a:pt x="103251" y="0"/>
                      <a:pt x="230505" y="0"/>
                    </a:cubicBezTo>
                    <a:lnTo>
                      <a:pt x="3179445" y="0"/>
                    </a:lnTo>
                    <a:cubicBezTo>
                      <a:pt x="3306699" y="0"/>
                      <a:pt x="3409950" y="103251"/>
                      <a:pt x="3409950" y="230505"/>
                    </a:cubicBezTo>
                    <a:lnTo>
                      <a:pt x="3409950" y="2036445"/>
                    </a:lnTo>
                    <a:cubicBezTo>
                      <a:pt x="3409950" y="2163699"/>
                      <a:pt x="3306699" y="2266950"/>
                      <a:pt x="3179445" y="2266950"/>
                    </a:cubicBezTo>
                    <a:lnTo>
                      <a:pt x="230505" y="2266950"/>
                    </a:lnTo>
                    <a:cubicBezTo>
                      <a:pt x="103251" y="2266950"/>
                      <a:pt x="0" y="2163699"/>
                      <a:pt x="0" y="2036445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445041" y="418068"/>
              <a:ext cx="1294663" cy="107889"/>
              <a:chOff x="0" y="0"/>
              <a:chExt cx="914400" cy="762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5664F5"/>
              </a:solid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671607" y="966020"/>
              <a:ext cx="3484802" cy="1118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4"/>
                </a:lnSpc>
              </a:pPr>
              <a:r>
                <a:rPr lang="en-US" sz="4778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4.10M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71607" y="2344805"/>
              <a:ext cx="3484802" cy="684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2548" b="true">
                  <a:solidFill>
                    <a:srgbClr val="566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Movement Value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333494" y="6320916"/>
            <a:ext cx="3621012" cy="2407265"/>
            <a:chOff x="0" y="0"/>
            <a:chExt cx="4828016" cy="3209686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4828016" cy="3209686"/>
              <a:chOff x="0" y="0"/>
              <a:chExt cx="3409950" cy="226695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409950" cy="2266950"/>
              </a:xfrm>
              <a:custGeom>
                <a:avLst/>
                <a:gdLst/>
                <a:ahLst/>
                <a:cxnLst/>
                <a:rect r="r" b="b" t="t" l="l"/>
                <a:pathLst>
                  <a:path h="2266950" w="3409950">
                    <a:moveTo>
                      <a:pt x="0" y="230505"/>
                    </a:moveTo>
                    <a:cubicBezTo>
                      <a:pt x="0" y="103251"/>
                      <a:pt x="103251" y="0"/>
                      <a:pt x="230505" y="0"/>
                    </a:cubicBezTo>
                    <a:lnTo>
                      <a:pt x="3179445" y="0"/>
                    </a:lnTo>
                    <a:cubicBezTo>
                      <a:pt x="3306699" y="0"/>
                      <a:pt x="3409950" y="103251"/>
                      <a:pt x="3409950" y="230505"/>
                    </a:cubicBezTo>
                    <a:lnTo>
                      <a:pt x="3409950" y="2036445"/>
                    </a:lnTo>
                    <a:cubicBezTo>
                      <a:pt x="3409950" y="2163699"/>
                      <a:pt x="3306699" y="2266950"/>
                      <a:pt x="3179445" y="2266950"/>
                    </a:cubicBezTo>
                    <a:lnTo>
                      <a:pt x="230505" y="2266950"/>
                    </a:lnTo>
                    <a:cubicBezTo>
                      <a:pt x="103251" y="2266950"/>
                      <a:pt x="0" y="2163699"/>
                      <a:pt x="0" y="2036445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445041" y="418068"/>
              <a:ext cx="1294663" cy="107889"/>
              <a:chOff x="0" y="0"/>
              <a:chExt cx="914400" cy="76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ED47A"/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671607" y="966020"/>
              <a:ext cx="3484802" cy="1118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4"/>
                </a:lnSpc>
              </a:pPr>
              <a:r>
                <a:rPr lang="en-US" sz="4778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93.91%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671607" y="2344805"/>
              <a:ext cx="3484802" cy="684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2548" b="true">
                  <a:solidFill>
                    <a:srgbClr val="2E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On-Time Delivery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359088" y="6320916"/>
            <a:ext cx="3621012" cy="2407265"/>
            <a:chOff x="0" y="0"/>
            <a:chExt cx="4828016" cy="3209686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4828016" cy="3209686"/>
              <a:chOff x="0" y="0"/>
              <a:chExt cx="3409950" cy="226695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3409950" cy="2266950"/>
              </a:xfrm>
              <a:custGeom>
                <a:avLst/>
                <a:gdLst/>
                <a:ahLst/>
                <a:cxnLst/>
                <a:rect r="r" b="b" t="t" l="l"/>
                <a:pathLst>
                  <a:path h="2266950" w="3409950">
                    <a:moveTo>
                      <a:pt x="0" y="230505"/>
                    </a:moveTo>
                    <a:cubicBezTo>
                      <a:pt x="0" y="103251"/>
                      <a:pt x="103251" y="0"/>
                      <a:pt x="230505" y="0"/>
                    </a:cubicBezTo>
                    <a:lnTo>
                      <a:pt x="3179445" y="0"/>
                    </a:lnTo>
                    <a:cubicBezTo>
                      <a:pt x="3306699" y="0"/>
                      <a:pt x="3409950" y="103251"/>
                      <a:pt x="3409950" y="230505"/>
                    </a:cubicBezTo>
                    <a:lnTo>
                      <a:pt x="3409950" y="2036445"/>
                    </a:lnTo>
                    <a:cubicBezTo>
                      <a:pt x="3409950" y="2163699"/>
                      <a:pt x="3306699" y="2266950"/>
                      <a:pt x="3179445" y="2266950"/>
                    </a:cubicBezTo>
                    <a:lnTo>
                      <a:pt x="230505" y="2266950"/>
                    </a:lnTo>
                    <a:cubicBezTo>
                      <a:pt x="103251" y="2266950"/>
                      <a:pt x="0" y="2163699"/>
                      <a:pt x="0" y="2036445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445041" y="418068"/>
              <a:ext cx="1294663" cy="107889"/>
              <a:chOff x="0" y="0"/>
              <a:chExt cx="914400" cy="762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2D3C5"/>
              </a:solidFill>
            </p:spPr>
          </p:sp>
        </p:grpSp>
        <p:sp>
          <p:nvSpPr>
            <p:cNvPr name="TextBox 50" id="50"/>
            <p:cNvSpPr txBox="true"/>
            <p:nvPr/>
          </p:nvSpPr>
          <p:spPr>
            <a:xfrm rot="0">
              <a:off x="671607" y="966020"/>
              <a:ext cx="3484802" cy="1118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4"/>
                </a:lnSpc>
              </a:pPr>
              <a:r>
                <a:rPr lang="en-US" sz="4778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11.52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671607" y="2344805"/>
              <a:ext cx="3484802" cy="684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2548" b="true">
                  <a:solidFill>
                    <a:srgbClr val="22D3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Delivery Days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026508" y="1323975"/>
            <a:ext cx="14234984" cy="8229600"/>
          </a:xfrm>
          <a:custGeom>
            <a:avLst/>
            <a:gdLst/>
            <a:ahLst/>
            <a:cxnLst/>
            <a:rect r="r" b="b" t="t" l="l"/>
            <a:pathLst>
              <a:path h="8229600" w="14234984">
                <a:moveTo>
                  <a:pt x="0" y="0"/>
                </a:moveTo>
                <a:lnTo>
                  <a:pt x="14234984" y="0"/>
                </a:lnTo>
                <a:lnTo>
                  <a:pt x="142349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 movement becomes the inventory-performance lens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1607820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Movement, velocity and variability explain observed product activity without claiming stock-on-hand.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085975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92981" y="2507456"/>
            <a:ext cx="2643188" cy="1757362"/>
            <a:chOff x="0" y="0"/>
            <a:chExt cx="3524250" cy="2343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24250" cy="2343150"/>
            </a:xfrm>
            <a:custGeom>
              <a:avLst/>
              <a:gdLst/>
              <a:ahLst/>
              <a:cxnLst/>
              <a:rect r="r" b="b" t="t" l="l"/>
              <a:pathLst>
                <a:path h="2343150" w="3524250">
                  <a:moveTo>
                    <a:pt x="0" y="230505"/>
                  </a:moveTo>
                  <a:cubicBezTo>
                    <a:pt x="0" y="103124"/>
                    <a:pt x="103124" y="0"/>
                    <a:pt x="230505" y="0"/>
                  </a:cubicBezTo>
                  <a:lnTo>
                    <a:pt x="3293745" y="0"/>
                  </a:lnTo>
                  <a:cubicBezTo>
                    <a:pt x="3420999" y="0"/>
                    <a:pt x="3524250" y="103124"/>
                    <a:pt x="3524250" y="230505"/>
                  </a:cubicBezTo>
                  <a:lnTo>
                    <a:pt x="3524250" y="2112645"/>
                  </a:lnTo>
                  <a:cubicBezTo>
                    <a:pt x="3524250" y="2239899"/>
                    <a:pt x="3421126" y="2343150"/>
                    <a:pt x="3293745" y="2343150"/>
                  </a:cubicBezTo>
                  <a:lnTo>
                    <a:pt x="230505" y="2343150"/>
                  </a:lnTo>
                  <a:cubicBezTo>
                    <a:pt x="103124" y="2343150"/>
                    <a:pt x="0" y="2240026"/>
                    <a:pt x="0" y="2112645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8725" y="2728912"/>
            <a:ext cx="685800" cy="57150"/>
            <a:chOff x="0" y="0"/>
            <a:chExt cx="9144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2D3C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48740" y="3007995"/>
            <a:ext cx="193167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63K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8740" y="3736658"/>
            <a:ext cx="193167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Units Moved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907631" y="2507456"/>
            <a:ext cx="2643188" cy="1757362"/>
            <a:chOff x="0" y="0"/>
            <a:chExt cx="3524250" cy="2343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24250" cy="2343150"/>
            </a:xfrm>
            <a:custGeom>
              <a:avLst/>
              <a:gdLst/>
              <a:ahLst/>
              <a:cxnLst/>
              <a:rect r="r" b="b" t="t" l="l"/>
              <a:pathLst>
                <a:path h="2343150" w="3524250">
                  <a:moveTo>
                    <a:pt x="0" y="230505"/>
                  </a:moveTo>
                  <a:cubicBezTo>
                    <a:pt x="0" y="103124"/>
                    <a:pt x="103124" y="0"/>
                    <a:pt x="230505" y="0"/>
                  </a:cubicBezTo>
                  <a:lnTo>
                    <a:pt x="3293745" y="0"/>
                  </a:lnTo>
                  <a:cubicBezTo>
                    <a:pt x="3420999" y="0"/>
                    <a:pt x="3524250" y="103124"/>
                    <a:pt x="3524250" y="230505"/>
                  </a:cubicBezTo>
                  <a:lnTo>
                    <a:pt x="3524250" y="2112645"/>
                  </a:lnTo>
                  <a:cubicBezTo>
                    <a:pt x="3524250" y="2239899"/>
                    <a:pt x="3421126" y="2343150"/>
                    <a:pt x="3293745" y="2343150"/>
                  </a:cubicBezTo>
                  <a:lnTo>
                    <a:pt x="230505" y="2343150"/>
                  </a:lnTo>
                  <a:cubicBezTo>
                    <a:pt x="103124" y="2343150"/>
                    <a:pt x="0" y="2240026"/>
                    <a:pt x="0" y="2112645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43375" y="2728912"/>
            <a:ext cx="685800" cy="57150"/>
            <a:chOff x="0" y="0"/>
            <a:chExt cx="914400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4263390" y="3007995"/>
            <a:ext cx="193167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63390" y="3736658"/>
            <a:ext cx="193167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Active Products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22281" y="2507456"/>
            <a:ext cx="2643188" cy="1757362"/>
            <a:chOff x="0" y="0"/>
            <a:chExt cx="3524250" cy="23431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24250" cy="2343150"/>
            </a:xfrm>
            <a:custGeom>
              <a:avLst/>
              <a:gdLst/>
              <a:ahLst/>
              <a:cxnLst/>
              <a:rect r="r" b="b" t="t" l="l"/>
              <a:pathLst>
                <a:path h="2343150" w="3524250">
                  <a:moveTo>
                    <a:pt x="0" y="230505"/>
                  </a:moveTo>
                  <a:cubicBezTo>
                    <a:pt x="0" y="103124"/>
                    <a:pt x="103124" y="0"/>
                    <a:pt x="230505" y="0"/>
                  </a:cubicBezTo>
                  <a:lnTo>
                    <a:pt x="3293745" y="0"/>
                  </a:lnTo>
                  <a:cubicBezTo>
                    <a:pt x="3420999" y="0"/>
                    <a:pt x="3524250" y="103124"/>
                    <a:pt x="3524250" y="230505"/>
                  </a:cubicBezTo>
                  <a:lnTo>
                    <a:pt x="3524250" y="2112645"/>
                  </a:lnTo>
                  <a:cubicBezTo>
                    <a:pt x="3524250" y="2239899"/>
                    <a:pt x="3421126" y="2343150"/>
                    <a:pt x="3293745" y="2343150"/>
                  </a:cubicBezTo>
                  <a:lnTo>
                    <a:pt x="230505" y="2343150"/>
                  </a:lnTo>
                  <a:cubicBezTo>
                    <a:pt x="103124" y="2343150"/>
                    <a:pt x="0" y="2240026"/>
                    <a:pt x="0" y="2112645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058025" y="2728912"/>
            <a:ext cx="685800" cy="57150"/>
            <a:chOff x="0" y="0"/>
            <a:chExt cx="914400" cy="76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664F5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178040" y="3007995"/>
            <a:ext cx="193167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0.15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78040" y="3736658"/>
            <a:ext cx="193167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664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 Velocity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736931" y="2507456"/>
            <a:ext cx="2643188" cy="1757362"/>
            <a:chOff x="0" y="0"/>
            <a:chExt cx="3524250" cy="23431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24250" cy="2343150"/>
            </a:xfrm>
            <a:custGeom>
              <a:avLst/>
              <a:gdLst/>
              <a:ahLst/>
              <a:cxnLst/>
              <a:rect r="r" b="b" t="t" l="l"/>
              <a:pathLst>
                <a:path h="2343150" w="3524250">
                  <a:moveTo>
                    <a:pt x="0" y="230505"/>
                  </a:moveTo>
                  <a:cubicBezTo>
                    <a:pt x="0" y="103124"/>
                    <a:pt x="103124" y="0"/>
                    <a:pt x="230505" y="0"/>
                  </a:cubicBezTo>
                  <a:lnTo>
                    <a:pt x="3293745" y="0"/>
                  </a:lnTo>
                  <a:cubicBezTo>
                    <a:pt x="3420999" y="0"/>
                    <a:pt x="3524250" y="103124"/>
                    <a:pt x="3524250" y="230505"/>
                  </a:cubicBezTo>
                  <a:lnTo>
                    <a:pt x="3524250" y="2112645"/>
                  </a:lnTo>
                  <a:cubicBezTo>
                    <a:pt x="3524250" y="2239899"/>
                    <a:pt x="3421126" y="2343150"/>
                    <a:pt x="3293745" y="2343150"/>
                  </a:cubicBezTo>
                  <a:lnTo>
                    <a:pt x="230505" y="2343150"/>
                  </a:lnTo>
                  <a:cubicBezTo>
                    <a:pt x="103124" y="2343150"/>
                    <a:pt x="0" y="2240026"/>
                    <a:pt x="0" y="2112645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972675" y="2728912"/>
            <a:ext cx="685800" cy="57150"/>
            <a:chOff x="0" y="0"/>
            <a:chExt cx="914400" cy="76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C5CF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092690" y="3007995"/>
            <a:ext cx="193167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4.10M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92690" y="3736658"/>
            <a:ext cx="193167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7C5C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Movement Value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651581" y="2507456"/>
            <a:ext cx="3300412" cy="1757362"/>
            <a:chOff x="0" y="0"/>
            <a:chExt cx="4400550" cy="23431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00550" cy="2343150"/>
            </a:xfrm>
            <a:custGeom>
              <a:avLst/>
              <a:gdLst/>
              <a:ahLst/>
              <a:cxnLst/>
              <a:rect r="r" b="b" t="t" l="l"/>
              <a:pathLst>
                <a:path h="2343150" w="4400550">
                  <a:moveTo>
                    <a:pt x="0" y="230505"/>
                  </a:moveTo>
                  <a:cubicBezTo>
                    <a:pt x="0" y="103124"/>
                    <a:pt x="103124" y="0"/>
                    <a:pt x="230505" y="0"/>
                  </a:cubicBezTo>
                  <a:lnTo>
                    <a:pt x="4170045" y="0"/>
                  </a:lnTo>
                  <a:cubicBezTo>
                    <a:pt x="4297299" y="0"/>
                    <a:pt x="4400550" y="103124"/>
                    <a:pt x="4400550" y="230505"/>
                  </a:cubicBezTo>
                  <a:lnTo>
                    <a:pt x="4400550" y="2112645"/>
                  </a:lnTo>
                  <a:cubicBezTo>
                    <a:pt x="4400550" y="2239899"/>
                    <a:pt x="4297426" y="2343150"/>
                    <a:pt x="4170045" y="2343150"/>
                  </a:cubicBezTo>
                  <a:lnTo>
                    <a:pt x="230505" y="2343150"/>
                  </a:lnTo>
                  <a:cubicBezTo>
                    <a:pt x="103124" y="2343150"/>
                    <a:pt x="0" y="2240026"/>
                    <a:pt x="0" y="2112645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887325" y="2728912"/>
            <a:ext cx="685800" cy="57150"/>
            <a:chOff x="0" y="0"/>
            <a:chExt cx="914400" cy="76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4B942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007340" y="3007995"/>
            <a:ext cx="2588895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58.65%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007340" y="3736658"/>
            <a:ext cx="258889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4B9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Demand Variability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92981" y="4829175"/>
            <a:ext cx="4817383" cy="4057650"/>
            <a:chOff x="0" y="0"/>
            <a:chExt cx="6423177" cy="5410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23152" cy="5410200"/>
            </a:xfrm>
            <a:custGeom>
              <a:avLst/>
              <a:gdLst/>
              <a:ahLst/>
              <a:cxnLst/>
              <a:rect r="r" b="b" t="t" l="l"/>
              <a:pathLst>
                <a:path h="5410200" w="6423152">
                  <a:moveTo>
                    <a:pt x="0" y="0"/>
                  </a:moveTo>
                  <a:lnTo>
                    <a:pt x="6423152" y="0"/>
                  </a:lnTo>
                  <a:lnTo>
                    <a:pt x="6423152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14036" y="5029200"/>
            <a:ext cx="8432178" cy="3086100"/>
            <a:chOff x="0" y="0"/>
            <a:chExt cx="11242904" cy="4114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42929" cy="4114800"/>
            </a:xfrm>
            <a:custGeom>
              <a:avLst/>
              <a:gdLst/>
              <a:ahLst/>
              <a:cxnLst/>
              <a:rect r="r" b="b" t="t" l="l"/>
              <a:pathLst>
                <a:path h="4114800" w="11242929">
                  <a:moveTo>
                    <a:pt x="0" y="0"/>
                  </a:moveTo>
                  <a:lnTo>
                    <a:pt x="11242929" y="0"/>
                  </a:lnTo>
                  <a:lnTo>
                    <a:pt x="1124292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8521065" y="8380095"/>
            <a:ext cx="781812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Category Movement identifies high-activity product areas. Top products use category plus shortened product ID because Olist has no commercial product names.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Classification separates high-value and high-movement product groups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2241709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ABC focuses on cumulative movement value; movement class focuses on order-history frequency.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750344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91540" y="3052499"/>
            <a:ext cx="9256107" cy="4001027"/>
            <a:chOff x="0" y="0"/>
            <a:chExt cx="11811000" cy="510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11000" cy="5105400"/>
            </a:xfrm>
            <a:custGeom>
              <a:avLst/>
              <a:gdLst/>
              <a:ahLst/>
              <a:cxnLst/>
              <a:rect r="r" b="b" t="t" l="l"/>
              <a:pathLst>
                <a:path h="5105400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5105400"/>
                  </a:lnTo>
                  <a:lnTo>
                    <a:pt x="0" y="510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91" t="-2544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785521" y="2636044"/>
            <a:ext cx="4729162" cy="1902619"/>
            <a:chOff x="0" y="0"/>
            <a:chExt cx="6305550" cy="2536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05550" cy="2536825"/>
            </a:xfrm>
            <a:custGeom>
              <a:avLst/>
              <a:gdLst/>
              <a:ahLst/>
              <a:cxnLst/>
              <a:rect r="r" b="b" t="t" l="l"/>
              <a:pathLst>
                <a:path h="2536825" w="6305550">
                  <a:moveTo>
                    <a:pt x="0" y="310569"/>
                  </a:moveTo>
                  <a:cubicBezTo>
                    <a:pt x="0" y="139056"/>
                    <a:pt x="87514" y="0"/>
                    <a:pt x="195456" y="0"/>
                  </a:cubicBezTo>
                  <a:lnTo>
                    <a:pt x="6110094" y="0"/>
                  </a:lnTo>
                  <a:cubicBezTo>
                    <a:pt x="6218036" y="0"/>
                    <a:pt x="6305550" y="139056"/>
                    <a:pt x="6305550" y="310569"/>
                  </a:cubicBezTo>
                  <a:lnTo>
                    <a:pt x="6305550" y="2226256"/>
                  </a:lnTo>
                  <a:cubicBezTo>
                    <a:pt x="6305550" y="2397769"/>
                    <a:pt x="6218036" y="2536825"/>
                    <a:pt x="6110094" y="2536825"/>
                  </a:cubicBezTo>
                  <a:lnTo>
                    <a:pt x="195456" y="2536825"/>
                  </a:lnTo>
                  <a:cubicBezTo>
                    <a:pt x="87514" y="2536825"/>
                    <a:pt x="0" y="2397769"/>
                    <a:pt x="0" y="2226256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030789" y="2857500"/>
            <a:ext cx="685800" cy="57150"/>
            <a:chOff x="0" y="0"/>
            <a:chExt cx="914400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2D3C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150804" y="2906077"/>
            <a:ext cx="4874895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/ B / 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50804" y="3557587"/>
            <a:ext cx="487489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Cumulative movement value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50804" y="3990022"/>
            <a:ext cx="4874895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A ≤ 80%, B ≤ 95%, C &gt; 95%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785521" y="5053012"/>
            <a:ext cx="4729162" cy="2075974"/>
            <a:chOff x="0" y="0"/>
            <a:chExt cx="6305550" cy="27679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05550" cy="2767965"/>
            </a:xfrm>
            <a:custGeom>
              <a:avLst/>
              <a:gdLst/>
              <a:ahLst/>
              <a:cxnLst/>
              <a:rect r="r" b="b" t="t" l="l"/>
              <a:pathLst>
                <a:path h="2767965" w="6305550">
                  <a:moveTo>
                    <a:pt x="0" y="338866"/>
                  </a:moveTo>
                  <a:cubicBezTo>
                    <a:pt x="0" y="151725"/>
                    <a:pt x="87514" y="0"/>
                    <a:pt x="195456" y="0"/>
                  </a:cubicBezTo>
                  <a:lnTo>
                    <a:pt x="6110094" y="0"/>
                  </a:lnTo>
                  <a:cubicBezTo>
                    <a:pt x="6218036" y="0"/>
                    <a:pt x="6305550" y="151725"/>
                    <a:pt x="6305550" y="338866"/>
                  </a:cubicBezTo>
                  <a:lnTo>
                    <a:pt x="6305550" y="2429099"/>
                  </a:lnTo>
                  <a:cubicBezTo>
                    <a:pt x="6305550" y="2616240"/>
                    <a:pt x="6218036" y="2767965"/>
                    <a:pt x="6110094" y="2767965"/>
                  </a:cubicBezTo>
                  <a:lnTo>
                    <a:pt x="195456" y="2767965"/>
                  </a:lnTo>
                  <a:cubicBezTo>
                    <a:pt x="87514" y="2767965"/>
                    <a:pt x="0" y="2616240"/>
                    <a:pt x="0" y="2429099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21264" y="5312569"/>
            <a:ext cx="685800" cy="57150"/>
            <a:chOff x="0" y="0"/>
            <a:chExt cx="914400" cy="76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ED47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141279" y="5504021"/>
            <a:ext cx="4874895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 / Slow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41279" y="6156484"/>
            <a:ext cx="487489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Visible movement classes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41279" y="6588919"/>
            <a:ext cx="4874895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Based on product units-moved percentiles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993231" y="7440930"/>
            <a:ext cx="12301538" cy="2110264"/>
            <a:chOff x="0" y="0"/>
            <a:chExt cx="16402050" cy="28136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02050" cy="2813685"/>
            </a:xfrm>
            <a:custGeom>
              <a:avLst/>
              <a:gdLst/>
              <a:ahLst/>
              <a:cxnLst/>
              <a:rect r="r" b="b" t="t" l="l"/>
              <a:pathLst>
                <a:path h="2813685" w="16402050">
                  <a:moveTo>
                    <a:pt x="0" y="201009"/>
                  </a:moveTo>
                  <a:cubicBezTo>
                    <a:pt x="0" y="90016"/>
                    <a:pt x="102997" y="0"/>
                    <a:pt x="229997" y="0"/>
                  </a:cubicBezTo>
                  <a:lnTo>
                    <a:pt x="16172053" y="0"/>
                  </a:lnTo>
                  <a:cubicBezTo>
                    <a:pt x="16299053" y="0"/>
                    <a:pt x="16402050" y="90016"/>
                    <a:pt x="16402050" y="201009"/>
                  </a:cubicBezTo>
                  <a:lnTo>
                    <a:pt x="16402050" y="2612676"/>
                  </a:lnTo>
                  <a:cubicBezTo>
                    <a:pt x="16402050" y="2723669"/>
                    <a:pt x="16299053" y="2813685"/>
                    <a:pt x="16172053" y="2813685"/>
                  </a:cubicBezTo>
                  <a:lnTo>
                    <a:pt x="229997" y="2813685"/>
                  </a:lnTo>
                  <a:cubicBezTo>
                    <a:pt x="102997" y="2813685"/>
                    <a:pt x="0" y="2723669"/>
                    <a:pt x="0" y="2612676"/>
                  </a:cubicBezTo>
                  <a:close/>
                </a:path>
              </a:pathLst>
            </a:custGeom>
            <a:solidFill>
              <a:srgbClr val="111827">
                <a:alpha val="77255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314700" y="7871460"/>
            <a:ext cx="114300" cy="114300"/>
            <a:chOff x="0" y="0"/>
            <a:chExt cx="152400" cy="152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7C5CF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3691890" y="7736205"/>
            <a:ext cx="11218545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 high-value product movement concentration.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314700" y="8471535"/>
            <a:ext cx="114300" cy="114300"/>
            <a:chOff x="0" y="0"/>
            <a:chExt cx="152400" cy="152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7C5CFC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3691890" y="8336280"/>
            <a:ext cx="11218545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Prioritize monitoring for fast-moving and slow-moving product groups.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3314700" y="9071610"/>
            <a:ext cx="114300" cy="114300"/>
            <a:chOff x="0" y="0"/>
            <a:chExt cx="152400" cy="152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7C5CFC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3691890" y="8936355"/>
            <a:ext cx="11218545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No Non-Moving class is assigned because the data only contains observed order history.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Sales analysis uses a validated order-item grain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1607820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Total Sales is protected from duplicate inflation caused by payment-level joins.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085975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21556" y="2507456"/>
            <a:ext cx="3300412" cy="1785938"/>
            <a:chOff x="0" y="0"/>
            <a:chExt cx="4400550" cy="2381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00550" cy="2381250"/>
            </a:xfrm>
            <a:custGeom>
              <a:avLst/>
              <a:gdLst/>
              <a:ahLst/>
              <a:cxnLst/>
              <a:rect r="r" b="b" t="t" l="l"/>
              <a:pathLst>
                <a:path h="2381250" w="440055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4170172" y="0"/>
                  </a:lnTo>
                  <a:cubicBezTo>
                    <a:pt x="4297426" y="0"/>
                    <a:pt x="4400550" y="103124"/>
                    <a:pt x="4400550" y="230378"/>
                  </a:cubicBezTo>
                  <a:lnTo>
                    <a:pt x="4400550" y="2150872"/>
                  </a:lnTo>
                  <a:cubicBezTo>
                    <a:pt x="4400550" y="2278126"/>
                    <a:pt x="4297426" y="2381250"/>
                    <a:pt x="4170172" y="2381250"/>
                  </a:cubicBezTo>
                  <a:lnTo>
                    <a:pt x="230378" y="2381250"/>
                  </a:lnTo>
                  <a:cubicBezTo>
                    <a:pt x="103124" y="2381250"/>
                    <a:pt x="0" y="2278126"/>
                    <a:pt x="0" y="2150872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2728912"/>
            <a:ext cx="685800" cy="57150"/>
            <a:chOff x="0" y="0"/>
            <a:chExt cx="9144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C5CF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77315" y="3007995"/>
            <a:ext cx="2588895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4.10M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7315" y="3736658"/>
            <a:ext cx="258889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7C5C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Total Sales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22006" y="2507456"/>
            <a:ext cx="3871912" cy="1785938"/>
            <a:chOff x="0" y="0"/>
            <a:chExt cx="5162550" cy="2381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62550" cy="2381250"/>
            </a:xfrm>
            <a:custGeom>
              <a:avLst/>
              <a:gdLst/>
              <a:ahLst/>
              <a:cxnLst/>
              <a:rect r="r" b="b" t="t" l="l"/>
              <a:pathLst>
                <a:path h="2381250" w="516255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4932172" y="0"/>
                  </a:lnTo>
                  <a:cubicBezTo>
                    <a:pt x="5059426" y="0"/>
                    <a:pt x="5162550" y="103124"/>
                    <a:pt x="5162550" y="230378"/>
                  </a:cubicBezTo>
                  <a:lnTo>
                    <a:pt x="5162550" y="2150872"/>
                  </a:lnTo>
                  <a:cubicBezTo>
                    <a:pt x="5162550" y="2278126"/>
                    <a:pt x="5059426" y="2381250"/>
                    <a:pt x="4932172" y="2381250"/>
                  </a:cubicBezTo>
                  <a:lnTo>
                    <a:pt x="230378" y="2381250"/>
                  </a:lnTo>
                  <a:cubicBezTo>
                    <a:pt x="103124" y="2381250"/>
                    <a:pt x="0" y="2278126"/>
                    <a:pt x="0" y="2150872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857750" y="2728912"/>
            <a:ext cx="685800" cy="57150"/>
            <a:chOff x="0" y="0"/>
            <a:chExt cx="914400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4B94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4977765" y="3007995"/>
            <a:ext cx="3160395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1.0446x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77765" y="3736658"/>
            <a:ext cx="316039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4B9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Raw price inflation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793956" y="2507456"/>
            <a:ext cx="3729038" cy="1785938"/>
            <a:chOff x="0" y="0"/>
            <a:chExt cx="4972050" cy="2381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72050" cy="2381250"/>
            </a:xfrm>
            <a:custGeom>
              <a:avLst/>
              <a:gdLst/>
              <a:ahLst/>
              <a:cxnLst/>
              <a:rect r="r" b="b" t="t" l="l"/>
              <a:pathLst>
                <a:path h="2381250" w="497205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4741672" y="0"/>
                  </a:lnTo>
                  <a:cubicBezTo>
                    <a:pt x="4868926" y="0"/>
                    <a:pt x="4972050" y="103124"/>
                    <a:pt x="4972050" y="230378"/>
                  </a:cubicBezTo>
                  <a:lnTo>
                    <a:pt x="4972050" y="2150872"/>
                  </a:lnTo>
                  <a:cubicBezTo>
                    <a:pt x="4972050" y="2278126"/>
                    <a:pt x="4868926" y="2381250"/>
                    <a:pt x="4741672" y="2381250"/>
                  </a:cubicBezTo>
                  <a:lnTo>
                    <a:pt x="230378" y="2381250"/>
                  </a:lnTo>
                  <a:cubicBezTo>
                    <a:pt x="103124" y="2381250"/>
                    <a:pt x="0" y="2278126"/>
                    <a:pt x="0" y="2150872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029700" y="2728912"/>
            <a:ext cx="685800" cy="57150"/>
            <a:chOff x="0" y="0"/>
            <a:chExt cx="914400" cy="76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2D3C5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149715" y="3007995"/>
            <a:ext cx="301752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63,089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9715" y="3736658"/>
            <a:ext cx="301752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Unique order-item grain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994481" y="2507456"/>
            <a:ext cx="4014788" cy="1785938"/>
            <a:chOff x="0" y="0"/>
            <a:chExt cx="5353050" cy="2381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53050" cy="2381250"/>
            </a:xfrm>
            <a:custGeom>
              <a:avLst/>
              <a:gdLst/>
              <a:ahLst/>
              <a:cxnLst/>
              <a:rect r="r" b="b" t="t" l="l"/>
              <a:pathLst>
                <a:path h="2381250" w="535305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122672" y="0"/>
                  </a:lnTo>
                  <a:cubicBezTo>
                    <a:pt x="5249926" y="0"/>
                    <a:pt x="5353050" y="103124"/>
                    <a:pt x="5353050" y="230378"/>
                  </a:cubicBezTo>
                  <a:lnTo>
                    <a:pt x="5353050" y="2150872"/>
                  </a:lnTo>
                  <a:cubicBezTo>
                    <a:pt x="5353050" y="2278126"/>
                    <a:pt x="5249926" y="2381250"/>
                    <a:pt x="5122672" y="2381250"/>
                  </a:cubicBezTo>
                  <a:lnTo>
                    <a:pt x="230378" y="2381250"/>
                  </a:lnTo>
                  <a:cubicBezTo>
                    <a:pt x="103124" y="2381250"/>
                    <a:pt x="0" y="2278126"/>
                    <a:pt x="0" y="2150872"/>
                  </a:cubicBezTo>
                  <a:close/>
                </a:path>
              </a:pathLst>
            </a:custGeom>
            <a:solidFill>
              <a:srgbClr val="111827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3407390" y="2850833"/>
            <a:ext cx="3217545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Sales are summed once per Movement Line Key.</a:t>
            </a:r>
          </a:p>
          <a:p>
            <a:pPr algn="ctr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Freight is excluded from Total Sales.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5850" y="4943475"/>
            <a:ext cx="9001125" cy="2200275"/>
            <a:chOff x="0" y="0"/>
            <a:chExt cx="12001500" cy="2933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001500" cy="2933700"/>
            </a:xfrm>
            <a:custGeom>
              <a:avLst/>
              <a:gdLst/>
              <a:ahLst/>
              <a:cxnLst/>
              <a:rect r="r" b="b" t="t" l="l"/>
              <a:pathLst>
                <a:path h="2933700" w="12001500">
                  <a:moveTo>
                    <a:pt x="0" y="0"/>
                  </a:moveTo>
                  <a:lnTo>
                    <a:pt x="12001500" y="0"/>
                  </a:lnTo>
                  <a:lnTo>
                    <a:pt x="12001500" y="2933700"/>
                  </a:lnTo>
                  <a:lnTo>
                    <a:pt x="0" y="293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" r="0" b="-68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687050" y="4914900"/>
            <a:ext cx="6143625" cy="3114675"/>
            <a:chOff x="0" y="0"/>
            <a:chExt cx="8191500" cy="4152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915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8191500">
                  <a:moveTo>
                    <a:pt x="0" y="0"/>
                  </a:moveTo>
                  <a:lnTo>
                    <a:pt x="8191500" y="0"/>
                  </a:lnTo>
                  <a:lnTo>
                    <a:pt x="8191500" y="4152900"/>
                  </a:lnTo>
                  <a:lnTo>
                    <a:pt x="0" y="415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03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834515" y="8365807"/>
            <a:ext cx="14647545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Raw SUM(price) would overstate sales because the merged dataset contains repeated order-item rows from payment-level joins.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Delivery performance is strong, with late risk concentrated by severity and region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2125263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Negative delivery variance means early delivery, not delay.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603418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689848" y="3454181"/>
            <a:ext cx="3409961" cy="2124531"/>
            <a:chOff x="0" y="0"/>
            <a:chExt cx="4546614" cy="283270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546614" cy="2832707"/>
              <a:chOff x="0" y="0"/>
              <a:chExt cx="3638550" cy="226695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638550" cy="2266950"/>
              </a:xfrm>
              <a:custGeom>
                <a:avLst/>
                <a:gdLst/>
                <a:ahLst/>
                <a:cxnLst/>
                <a:rect r="r" b="b" t="t" l="l"/>
                <a:pathLst>
                  <a:path h="2266950" w="3638550">
                    <a:moveTo>
                      <a:pt x="0" y="230505"/>
                    </a:moveTo>
                    <a:cubicBezTo>
                      <a:pt x="0" y="103251"/>
                      <a:pt x="103251" y="0"/>
                      <a:pt x="230505" y="0"/>
                    </a:cubicBezTo>
                    <a:lnTo>
                      <a:pt x="3408045" y="0"/>
                    </a:lnTo>
                    <a:cubicBezTo>
                      <a:pt x="3535299" y="0"/>
                      <a:pt x="3638550" y="103251"/>
                      <a:pt x="3638550" y="230505"/>
                    </a:cubicBezTo>
                    <a:lnTo>
                      <a:pt x="3638550" y="2036445"/>
                    </a:lnTo>
                    <a:cubicBezTo>
                      <a:pt x="3638550" y="2163699"/>
                      <a:pt x="3535299" y="2266950"/>
                      <a:pt x="3408045" y="2266950"/>
                    </a:cubicBezTo>
                    <a:lnTo>
                      <a:pt x="230505" y="2266950"/>
                    </a:lnTo>
                    <a:cubicBezTo>
                      <a:pt x="103251" y="2266950"/>
                      <a:pt x="0" y="2163699"/>
                      <a:pt x="0" y="2036445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392770" y="368966"/>
              <a:ext cx="1142605" cy="95217"/>
              <a:chOff x="0" y="0"/>
              <a:chExt cx="914400" cy="762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ED47A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592726" y="859304"/>
              <a:ext cx="3361162" cy="980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60"/>
                </a:lnSpc>
              </a:pPr>
              <a:r>
                <a:rPr lang="en-US" sz="4217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93.91%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92726" y="2063813"/>
              <a:ext cx="3361162" cy="609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2E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On-Time / Early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39020" y="3454181"/>
            <a:ext cx="3052897" cy="2124531"/>
            <a:chOff x="0" y="0"/>
            <a:chExt cx="4070529" cy="283270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070529" cy="2832707"/>
              <a:chOff x="0" y="0"/>
              <a:chExt cx="3257550" cy="22669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257550" cy="2266950"/>
              </a:xfrm>
              <a:custGeom>
                <a:avLst/>
                <a:gdLst/>
                <a:ahLst/>
                <a:cxnLst/>
                <a:rect r="r" b="b" t="t" l="l"/>
                <a:pathLst>
                  <a:path h="2266950" w="3257550">
                    <a:moveTo>
                      <a:pt x="0" y="230505"/>
                    </a:moveTo>
                    <a:cubicBezTo>
                      <a:pt x="0" y="103251"/>
                      <a:pt x="103251" y="0"/>
                      <a:pt x="230505" y="0"/>
                    </a:cubicBezTo>
                    <a:lnTo>
                      <a:pt x="3027045" y="0"/>
                    </a:lnTo>
                    <a:cubicBezTo>
                      <a:pt x="3154299" y="0"/>
                      <a:pt x="3257550" y="103251"/>
                      <a:pt x="3257550" y="230505"/>
                    </a:cubicBezTo>
                    <a:lnTo>
                      <a:pt x="3257550" y="2036445"/>
                    </a:lnTo>
                    <a:cubicBezTo>
                      <a:pt x="3257550" y="2163699"/>
                      <a:pt x="3154299" y="2266950"/>
                      <a:pt x="3027045" y="2266950"/>
                    </a:cubicBezTo>
                    <a:lnTo>
                      <a:pt x="230505" y="2266950"/>
                    </a:lnTo>
                    <a:cubicBezTo>
                      <a:pt x="103251" y="2266950"/>
                      <a:pt x="0" y="2163699"/>
                      <a:pt x="0" y="2036445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392770" y="368966"/>
              <a:ext cx="1142605" cy="95217"/>
              <a:chOff x="0" y="0"/>
              <a:chExt cx="914400" cy="76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5C67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592726" y="859304"/>
              <a:ext cx="2885077" cy="980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60"/>
                </a:lnSpc>
              </a:pPr>
              <a:r>
                <a:rPr lang="en-US" sz="4217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6.09%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92726" y="2063813"/>
              <a:ext cx="2885077" cy="609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FF5C6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831127" y="3454181"/>
            <a:ext cx="3767025" cy="2124531"/>
            <a:chOff x="0" y="0"/>
            <a:chExt cx="5022700" cy="283270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022700" cy="2832707"/>
              <a:chOff x="0" y="0"/>
              <a:chExt cx="4019550" cy="226695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19550" cy="2266950"/>
              </a:xfrm>
              <a:custGeom>
                <a:avLst/>
                <a:gdLst/>
                <a:ahLst/>
                <a:cxnLst/>
                <a:rect r="r" b="b" t="t" l="l"/>
                <a:pathLst>
                  <a:path h="2266950" w="4019550">
                    <a:moveTo>
                      <a:pt x="0" y="230505"/>
                    </a:moveTo>
                    <a:cubicBezTo>
                      <a:pt x="0" y="103251"/>
                      <a:pt x="103251" y="0"/>
                      <a:pt x="230505" y="0"/>
                    </a:cubicBezTo>
                    <a:lnTo>
                      <a:pt x="3789045" y="0"/>
                    </a:lnTo>
                    <a:cubicBezTo>
                      <a:pt x="3916299" y="0"/>
                      <a:pt x="4019550" y="103251"/>
                      <a:pt x="4019550" y="230505"/>
                    </a:cubicBezTo>
                    <a:lnTo>
                      <a:pt x="4019550" y="2036445"/>
                    </a:lnTo>
                    <a:cubicBezTo>
                      <a:pt x="4019550" y="2163699"/>
                      <a:pt x="3916299" y="2266950"/>
                      <a:pt x="3789045" y="2266950"/>
                    </a:cubicBezTo>
                    <a:lnTo>
                      <a:pt x="230505" y="2266950"/>
                    </a:lnTo>
                    <a:cubicBezTo>
                      <a:pt x="103251" y="2266950"/>
                      <a:pt x="0" y="2163699"/>
                      <a:pt x="0" y="2036445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392770" y="368966"/>
              <a:ext cx="1142605" cy="95217"/>
              <a:chOff x="0" y="0"/>
              <a:chExt cx="914400" cy="76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592726" y="859304"/>
              <a:ext cx="3837247" cy="980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60"/>
                </a:lnSpc>
              </a:pPr>
              <a:r>
                <a:rPr lang="en-US" sz="4217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11.52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592726" y="2063813"/>
              <a:ext cx="3837247" cy="609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Delivery Days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671774" y="6733218"/>
            <a:ext cx="3945557" cy="2124531"/>
            <a:chOff x="0" y="0"/>
            <a:chExt cx="5260742" cy="2832707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260742" cy="2832707"/>
              <a:chOff x="0" y="0"/>
              <a:chExt cx="4210050" cy="226695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210050" cy="2266950"/>
              </a:xfrm>
              <a:custGeom>
                <a:avLst/>
                <a:gdLst/>
                <a:ahLst/>
                <a:cxnLst/>
                <a:rect r="r" b="b" t="t" l="l"/>
                <a:pathLst>
                  <a:path h="2266950" w="4210050">
                    <a:moveTo>
                      <a:pt x="0" y="230505"/>
                    </a:moveTo>
                    <a:cubicBezTo>
                      <a:pt x="0" y="103251"/>
                      <a:pt x="103251" y="0"/>
                      <a:pt x="230505" y="0"/>
                    </a:cubicBezTo>
                    <a:lnTo>
                      <a:pt x="3979545" y="0"/>
                    </a:lnTo>
                    <a:cubicBezTo>
                      <a:pt x="4106799" y="0"/>
                      <a:pt x="4210050" y="103251"/>
                      <a:pt x="4210050" y="230505"/>
                    </a:cubicBezTo>
                    <a:lnTo>
                      <a:pt x="4210050" y="2036445"/>
                    </a:lnTo>
                    <a:cubicBezTo>
                      <a:pt x="4210050" y="2163699"/>
                      <a:pt x="4106799" y="2266950"/>
                      <a:pt x="3979545" y="2266950"/>
                    </a:cubicBezTo>
                    <a:lnTo>
                      <a:pt x="230505" y="2266950"/>
                    </a:lnTo>
                    <a:cubicBezTo>
                      <a:pt x="103251" y="2266950"/>
                      <a:pt x="0" y="2163699"/>
                      <a:pt x="0" y="2036445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392770" y="368966"/>
              <a:ext cx="1142605" cy="95217"/>
              <a:chOff x="0" y="0"/>
              <a:chExt cx="914400" cy="762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2D3C5"/>
              </a:solid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592726" y="859304"/>
              <a:ext cx="4075290" cy="980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60"/>
                </a:lnSpc>
              </a:pPr>
              <a:r>
                <a:rPr lang="en-US" sz="4217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-11.81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592726" y="2063813"/>
              <a:ext cx="4075290" cy="609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22D3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Variance Days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956541" y="6733218"/>
            <a:ext cx="4302621" cy="2124531"/>
            <a:chOff x="0" y="0"/>
            <a:chExt cx="5736827" cy="2832707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5736827" cy="2832707"/>
              <a:chOff x="0" y="0"/>
              <a:chExt cx="4591050" cy="226695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591050" cy="2266950"/>
              </a:xfrm>
              <a:custGeom>
                <a:avLst/>
                <a:gdLst/>
                <a:ahLst/>
                <a:cxnLst/>
                <a:rect r="r" b="b" t="t" l="l"/>
                <a:pathLst>
                  <a:path h="2266950" w="4591050">
                    <a:moveTo>
                      <a:pt x="0" y="230505"/>
                    </a:moveTo>
                    <a:cubicBezTo>
                      <a:pt x="0" y="103251"/>
                      <a:pt x="103251" y="0"/>
                      <a:pt x="230505" y="0"/>
                    </a:cubicBezTo>
                    <a:lnTo>
                      <a:pt x="4360545" y="0"/>
                    </a:lnTo>
                    <a:cubicBezTo>
                      <a:pt x="4487799" y="0"/>
                      <a:pt x="4591050" y="103251"/>
                      <a:pt x="4591050" y="230505"/>
                    </a:cubicBezTo>
                    <a:lnTo>
                      <a:pt x="4591050" y="2036445"/>
                    </a:lnTo>
                    <a:cubicBezTo>
                      <a:pt x="4591050" y="2163699"/>
                      <a:pt x="4487799" y="2266950"/>
                      <a:pt x="4360545" y="2266950"/>
                    </a:cubicBezTo>
                    <a:lnTo>
                      <a:pt x="230505" y="2266950"/>
                    </a:lnTo>
                    <a:cubicBezTo>
                      <a:pt x="103251" y="2266950"/>
                      <a:pt x="0" y="2163699"/>
                      <a:pt x="0" y="2036445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392770" y="368966"/>
              <a:ext cx="1142605" cy="95217"/>
              <a:chOff x="0" y="0"/>
              <a:chExt cx="914400" cy="76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5C67"/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592726" y="859304"/>
              <a:ext cx="4551375" cy="980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60"/>
                </a:lnSpc>
              </a:pPr>
              <a:r>
                <a:rPr lang="en-US" sz="4217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10.14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592726" y="2063813"/>
              <a:ext cx="4551375" cy="609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99"/>
                </a:lnSpc>
              </a:pPr>
              <a:r>
                <a:rPr lang="en-US" sz="2249" b="true">
                  <a:solidFill>
                    <a:srgbClr val="FF5C6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Late Days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026508" y="1228725"/>
            <a:ext cx="14234984" cy="8229600"/>
          </a:xfrm>
          <a:custGeom>
            <a:avLst/>
            <a:gdLst/>
            <a:ahLst/>
            <a:cxnLst/>
            <a:rect r="r" b="b" t="t" l="l"/>
            <a:pathLst>
              <a:path h="8229600" w="14234984">
                <a:moveTo>
                  <a:pt x="0" y="0"/>
                </a:moveTo>
                <a:lnTo>
                  <a:pt x="14234984" y="0"/>
                </a:lnTo>
                <a:lnTo>
                  <a:pt x="142349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Drilldown connects geography to product-level performance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1607820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Users can move from regional performance into state, city, category and product detail.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085975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92981" y="2421731"/>
            <a:ext cx="2471738" cy="1528762"/>
            <a:chOff x="0" y="0"/>
            <a:chExt cx="3295650" cy="2038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956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2956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3064891" y="0"/>
                  </a:lnTo>
                  <a:cubicBezTo>
                    <a:pt x="3192399" y="0"/>
                    <a:pt x="3295650" y="103378"/>
                    <a:pt x="3295650" y="230759"/>
                  </a:cubicBezTo>
                  <a:lnTo>
                    <a:pt x="3295650" y="1807591"/>
                  </a:lnTo>
                  <a:cubicBezTo>
                    <a:pt x="3295650" y="1935099"/>
                    <a:pt x="3192272" y="2038350"/>
                    <a:pt x="30648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20165" y="2703195"/>
            <a:ext cx="181737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1590" y="3284220"/>
            <a:ext cx="187452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Start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06165" y="2893695"/>
            <a:ext cx="38862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250531" y="2421731"/>
            <a:ext cx="2471738" cy="1528762"/>
            <a:chOff x="0" y="0"/>
            <a:chExt cx="3295650" cy="2038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956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2956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3064891" y="0"/>
                  </a:lnTo>
                  <a:cubicBezTo>
                    <a:pt x="3192399" y="0"/>
                    <a:pt x="3295650" y="103378"/>
                    <a:pt x="3295650" y="230759"/>
                  </a:cubicBezTo>
                  <a:lnTo>
                    <a:pt x="3295650" y="1807591"/>
                  </a:lnTo>
                  <a:cubicBezTo>
                    <a:pt x="3295650" y="1935099"/>
                    <a:pt x="3192272" y="2038350"/>
                    <a:pt x="30648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4577715" y="2703195"/>
            <a:ext cx="181737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49140" y="3284220"/>
            <a:ext cx="187452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Drill level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63715" y="2893695"/>
            <a:ext cx="38862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08081" y="2421731"/>
            <a:ext cx="2471738" cy="1528762"/>
            <a:chOff x="0" y="0"/>
            <a:chExt cx="3295650" cy="20383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956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2956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3064891" y="0"/>
                  </a:lnTo>
                  <a:cubicBezTo>
                    <a:pt x="3192399" y="0"/>
                    <a:pt x="3295650" y="103378"/>
                    <a:pt x="3295650" y="230759"/>
                  </a:cubicBezTo>
                  <a:lnTo>
                    <a:pt x="3295650" y="1807591"/>
                  </a:lnTo>
                  <a:cubicBezTo>
                    <a:pt x="3295650" y="1935099"/>
                    <a:pt x="3192272" y="2038350"/>
                    <a:pt x="30648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835265" y="2703195"/>
            <a:ext cx="181737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06690" y="3284220"/>
            <a:ext cx="187452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Drill level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21265" y="2893695"/>
            <a:ext cx="38862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765631" y="2421731"/>
            <a:ext cx="2471738" cy="1528762"/>
            <a:chOff x="0" y="0"/>
            <a:chExt cx="3295650" cy="20383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56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2956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3064891" y="0"/>
                  </a:lnTo>
                  <a:cubicBezTo>
                    <a:pt x="3192399" y="0"/>
                    <a:pt x="3295650" y="103378"/>
                    <a:pt x="3295650" y="230759"/>
                  </a:cubicBezTo>
                  <a:lnTo>
                    <a:pt x="3295650" y="1807591"/>
                  </a:lnTo>
                  <a:cubicBezTo>
                    <a:pt x="3295650" y="1935099"/>
                    <a:pt x="3192272" y="2038350"/>
                    <a:pt x="30648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092815" y="2703195"/>
            <a:ext cx="181737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7C5C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Category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64240" y="3284220"/>
            <a:ext cx="187452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Drill level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78815" y="2893695"/>
            <a:ext cx="38862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023181" y="2421731"/>
            <a:ext cx="2471738" cy="1528762"/>
            <a:chOff x="0" y="0"/>
            <a:chExt cx="3295650" cy="20383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956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2956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3064891" y="0"/>
                  </a:lnTo>
                  <a:cubicBezTo>
                    <a:pt x="3192399" y="0"/>
                    <a:pt x="3295650" y="103378"/>
                    <a:pt x="3295650" y="230759"/>
                  </a:cubicBezTo>
                  <a:lnTo>
                    <a:pt x="3295650" y="1807591"/>
                  </a:lnTo>
                  <a:cubicBezTo>
                    <a:pt x="3295650" y="1935099"/>
                    <a:pt x="3192272" y="2038350"/>
                    <a:pt x="3064891" y="2038350"/>
                  </a:cubicBezTo>
                  <a:lnTo>
                    <a:pt x="230759" y="2038350"/>
                  </a:lnTo>
                  <a:cubicBezTo>
                    <a:pt x="103378" y="2038350"/>
                    <a:pt x="0" y="1934972"/>
                    <a:pt x="0" y="1807591"/>
                  </a:cubicBezTo>
                  <a:close/>
                </a:path>
              </a:pathLst>
            </a:custGeom>
            <a:solidFill>
              <a:srgbClr val="182235">
                <a:alpha val="8431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4350365" y="2703195"/>
            <a:ext cx="181737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F4B9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321790" y="3284220"/>
            <a:ext cx="187452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Deepest detail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71600" y="4820145"/>
            <a:ext cx="15544800" cy="3818534"/>
            <a:chOff x="0" y="0"/>
            <a:chExt cx="20726400" cy="509137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726400" cy="5091430"/>
            </a:xfrm>
            <a:custGeom>
              <a:avLst/>
              <a:gdLst/>
              <a:ahLst/>
              <a:cxnLst/>
              <a:rect r="r" b="b" t="t" l="l"/>
              <a:pathLst>
                <a:path h="509143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5091430"/>
                  </a:lnTo>
                  <a:lnTo>
                    <a:pt x="0" y="509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777365" y="9037320"/>
            <a:ext cx="1467612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Full hierarchy: Customer Region → State → City → Product Category → Product. Southeast shows the largest movement/order activity in the final dashboard.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Trend and variance views surface the latest month’s movement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2097881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MoM cards compare the latest visible month with the prior calendar month.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576036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052341" y="3794427"/>
            <a:ext cx="3697594" cy="1891396"/>
            <a:chOff x="0" y="0"/>
            <a:chExt cx="4930126" cy="252186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930126" cy="2521862"/>
              <a:chOff x="0" y="0"/>
              <a:chExt cx="4133850" cy="211455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133850" cy="2114550"/>
              </a:xfrm>
              <a:custGeom>
                <a:avLst/>
                <a:gdLst/>
                <a:ahLst/>
                <a:cxnLst/>
                <a:rect r="r" b="b" t="t" l="l"/>
                <a:pathLst>
                  <a:path h="2114550" w="4133850">
                    <a:moveTo>
                      <a:pt x="0" y="230632"/>
                    </a:moveTo>
                    <a:cubicBezTo>
                      <a:pt x="0" y="103251"/>
                      <a:pt x="103251" y="0"/>
                      <a:pt x="230632" y="0"/>
                    </a:cubicBezTo>
                    <a:lnTo>
                      <a:pt x="3903218" y="0"/>
                    </a:lnTo>
                    <a:cubicBezTo>
                      <a:pt x="4030599" y="0"/>
                      <a:pt x="4133850" y="103251"/>
                      <a:pt x="4133850" y="230632"/>
                    </a:cubicBezTo>
                    <a:lnTo>
                      <a:pt x="4133850" y="1883918"/>
                    </a:lnTo>
                    <a:cubicBezTo>
                      <a:pt x="4133850" y="2011299"/>
                      <a:pt x="4030599" y="2114550"/>
                      <a:pt x="3903218" y="2114550"/>
                    </a:cubicBezTo>
                    <a:lnTo>
                      <a:pt x="230632" y="2114550"/>
                    </a:lnTo>
                    <a:cubicBezTo>
                      <a:pt x="103251" y="2114550"/>
                      <a:pt x="0" y="2011299"/>
                      <a:pt x="0" y="1883918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374871" y="352152"/>
              <a:ext cx="1090535" cy="90878"/>
              <a:chOff x="0" y="0"/>
              <a:chExt cx="914400" cy="762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ED47A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565715" y="825763"/>
              <a:ext cx="3798696" cy="930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4025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+6.66%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65715" y="1841558"/>
              <a:ext cx="3798696" cy="574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6"/>
                </a:lnSpc>
              </a:pPr>
              <a:r>
                <a:rPr lang="en-US" sz="2146" b="true">
                  <a:solidFill>
                    <a:srgbClr val="2ED4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Units MoM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39609" y="3794427"/>
            <a:ext cx="4208783" cy="1891396"/>
            <a:chOff x="0" y="0"/>
            <a:chExt cx="5611710" cy="252186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611710" cy="2521862"/>
              <a:chOff x="0" y="0"/>
              <a:chExt cx="4705350" cy="21145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705350" cy="2114550"/>
              </a:xfrm>
              <a:custGeom>
                <a:avLst/>
                <a:gdLst/>
                <a:ahLst/>
                <a:cxnLst/>
                <a:rect r="r" b="b" t="t" l="l"/>
                <a:pathLst>
                  <a:path h="2114550" w="4705350">
                    <a:moveTo>
                      <a:pt x="0" y="230632"/>
                    </a:moveTo>
                    <a:cubicBezTo>
                      <a:pt x="0" y="103251"/>
                      <a:pt x="103251" y="0"/>
                      <a:pt x="230632" y="0"/>
                    </a:cubicBezTo>
                    <a:lnTo>
                      <a:pt x="4474718" y="0"/>
                    </a:lnTo>
                    <a:cubicBezTo>
                      <a:pt x="4602099" y="0"/>
                      <a:pt x="4705350" y="103251"/>
                      <a:pt x="4705350" y="230632"/>
                    </a:cubicBezTo>
                    <a:lnTo>
                      <a:pt x="4705350" y="1883918"/>
                    </a:lnTo>
                    <a:cubicBezTo>
                      <a:pt x="4705350" y="2011299"/>
                      <a:pt x="4602099" y="2114550"/>
                      <a:pt x="4474718" y="2114550"/>
                    </a:cubicBezTo>
                    <a:lnTo>
                      <a:pt x="230632" y="2114550"/>
                    </a:lnTo>
                    <a:cubicBezTo>
                      <a:pt x="103251" y="2114550"/>
                      <a:pt x="0" y="2011299"/>
                      <a:pt x="0" y="1883918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374871" y="352152"/>
              <a:ext cx="1090535" cy="90878"/>
              <a:chOff x="0" y="0"/>
              <a:chExt cx="914400" cy="76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2D3C5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565715" y="825763"/>
              <a:ext cx="4480280" cy="930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4025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+4.88%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65715" y="1841558"/>
              <a:ext cx="4480280" cy="574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6"/>
                </a:lnSpc>
              </a:pPr>
              <a:r>
                <a:rPr lang="en-US" sz="2146" b="true">
                  <a:solidFill>
                    <a:srgbClr val="22D3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Movement Value MoM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538065" y="3794427"/>
            <a:ext cx="3697594" cy="1891396"/>
            <a:chOff x="0" y="0"/>
            <a:chExt cx="4930126" cy="252186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930126" cy="2521862"/>
              <a:chOff x="0" y="0"/>
              <a:chExt cx="4133850" cy="211455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133850" cy="2114550"/>
              </a:xfrm>
              <a:custGeom>
                <a:avLst/>
                <a:gdLst/>
                <a:ahLst/>
                <a:cxnLst/>
                <a:rect r="r" b="b" t="t" l="l"/>
                <a:pathLst>
                  <a:path h="2114550" w="4133850">
                    <a:moveTo>
                      <a:pt x="0" y="230632"/>
                    </a:moveTo>
                    <a:cubicBezTo>
                      <a:pt x="0" y="103251"/>
                      <a:pt x="103251" y="0"/>
                      <a:pt x="230632" y="0"/>
                    </a:cubicBezTo>
                    <a:lnTo>
                      <a:pt x="3903218" y="0"/>
                    </a:lnTo>
                    <a:cubicBezTo>
                      <a:pt x="4030599" y="0"/>
                      <a:pt x="4133850" y="103251"/>
                      <a:pt x="4133850" y="230632"/>
                    </a:cubicBezTo>
                    <a:lnTo>
                      <a:pt x="4133850" y="1883918"/>
                    </a:lnTo>
                    <a:cubicBezTo>
                      <a:pt x="4133850" y="2011299"/>
                      <a:pt x="4030599" y="2114550"/>
                      <a:pt x="3903218" y="2114550"/>
                    </a:cubicBezTo>
                    <a:lnTo>
                      <a:pt x="230632" y="2114550"/>
                    </a:lnTo>
                    <a:cubicBezTo>
                      <a:pt x="103251" y="2114550"/>
                      <a:pt x="0" y="2011299"/>
                      <a:pt x="0" y="1883918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374871" y="352152"/>
              <a:ext cx="1090535" cy="90878"/>
              <a:chOff x="0" y="0"/>
              <a:chExt cx="914400" cy="76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4B942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565715" y="825763"/>
              <a:ext cx="3798696" cy="930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4025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+0.99%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565715" y="1841558"/>
              <a:ext cx="3798696" cy="574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6"/>
                </a:lnSpc>
              </a:pPr>
              <a:r>
                <a:rPr lang="en-US" sz="2146" b="true">
                  <a:solidFill>
                    <a:srgbClr val="F4B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Freight Cost MoM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454925" y="6753639"/>
            <a:ext cx="3936149" cy="1891396"/>
            <a:chOff x="0" y="0"/>
            <a:chExt cx="5248199" cy="2521862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248199" cy="2521862"/>
              <a:chOff x="0" y="0"/>
              <a:chExt cx="4400550" cy="211455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400550" cy="2114550"/>
              </a:xfrm>
              <a:custGeom>
                <a:avLst/>
                <a:gdLst/>
                <a:ahLst/>
                <a:cxnLst/>
                <a:rect r="r" b="b" t="t" l="l"/>
                <a:pathLst>
                  <a:path h="2114550" w="4400550">
                    <a:moveTo>
                      <a:pt x="0" y="230632"/>
                    </a:moveTo>
                    <a:cubicBezTo>
                      <a:pt x="0" y="103251"/>
                      <a:pt x="103251" y="0"/>
                      <a:pt x="230632" y="0"/>
                    </a:cubicBezTo>
                    <a:lnTo>
                      <a:pt x="4169918" y="0"/>
                    </a:lnTo>
                    <a:cubicBezTo>
                      <a:pt x="4297299" y="0"/>
                      <a:pt x="4400550" y="103251"/>
                      <a:pt x="4400550" y="230632"/>
                    </a:cubicBezTo>
                    <a:lnTo>
                      <a:pt x="4400550" y="1883918"/>
                    </a:lnTo>
                    <a:cubicBezTo>
                      <a:pt x="4400550" y="2011299"/>
                      <a:pt x="4297299" y="2114550"/>
                      <a:pt x="4169918" y="2114550"/>
                    </a:cubicBezTo>
                    <a:lnTo>
                      <a:pt x="230632" y="2114550"/>
                    </a:lnTo>
                    <a:cubicBezTo>
                      <a:pt x="103251" y="2114550"/>
                      <a:pt x="0" y="2011299"/>
                      <a:pt x="0" y="1883918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374871" y="352152"/>
              <a:ext cx="1090535" cy="90878"/>
              <a:chOff x="0" y="0"/>
              <a:chExt cx="914400" cy="762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5C67"/>
              </a:solid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565715" y="825763"/>
              <a:ext cx="4116769" cy="930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4025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-2.89 pp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565715" y="1841558"/>
              <a:ext cx="4116769" cy="574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6"/>
                </a:lnSpc>
              </a:pPr>
              <a:r>
                <a:rPr lang="en-US" sz="2146" b="true">
                  <a:solidFill>
                    <a:srgbClr val="FF5C6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On-Time MoM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80748" y="6753639"/>
            <a:ext cx="3152327" cy="1891396"/>
            <a:chOff x="0" y="0"/>
            <a:chExt cx="4203103" cy="252186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4203103" cy="2521862"/>
              <a:chOff x="0" y="0"/>
              <a:chExt cx="3524250" cy="211455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524250" cy="2114550"/>
              </a:xfrm>
              <a:custGeom>
                <a:avLst/>
                <a:gdLst/>
                <a:ahLst/>
                <a:cxnLst/>
                <a:rect r="r" b="b" t="t" l="l"/>
                <a:pathLst>
                  <a:path h="2114550" w="3524250">
                    <a:moveTo>
                      <a:pt x="0" y="230632"/>
                    </a:moveTo>
                    <a:cubicBezTo>
                      <a:pt x="0" y="103251"/>
                      <a:pt x="103251" y="0"/>
                      <a:pt x="230632" y="0"/>
                    </a:cubicBezTo>
                    <a:lnTo>
                      <a:pt x="3293618" y="0"/>
                    </a:lnTo>
                    <a:cubicBezTo>
                      <a:pt x="3420999" y="0"/>
                      <a:pt x="3524250" y="103251"/>
                      <a:pt x="3524250" y="230632"/>
                    </a:cubicBezTo>
                    <a:lnTo>
                      <a:pt x="3524250" y="1883918"/>
                    </a:lnTo>
                    <a:cubicBezTo>
                      <a:pt x="3524250" y="2011299"/>
                      <a:pt x="3420999" y="2114550"/>
                      <a:pt x="3293618" y="2114550"/>
                    </a:cubicBezTo>
                    <a:lnTo>
                      <a:pt x="230632" y="2114550"/>
                    </a:lnTo>
                    <a:cubicBezTo>
                      <a:pt x="103251" y="2114550"/>
                      <a:pt x="0" y="2011299"/>
                      <a:pt x="0" y="1883918"/>
                    </a:cubicBezTo>
                    <a:close/>
                  </a:path>
                </a:pathLst>
              </a:custGeom>
              <a:solidFill>
                <a:srgbClr val="1D2940"/>
              </a:solidFill>
              <a:ln w="14288" cap="sq">
                <a:solidFill>
                  <a:srgbClr val="29364B"/>
                </a:solidFill>
                <a:prstDash val="solid"/>
                <a:miter/>
              </a:ln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374871" y="352152"/>
              <a:ext cx="1090535" cy="90878"/>
              <a:chOff x="0" y="0"/>
              <a:chExt cx="914400" cy="76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144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4B942"/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565715" y="825763"/>
              <a:ext cx="3071673" cy="930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4025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58.65%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565715" y="1841558"/>
              <a:ext cx="3071673" cy="574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6"/>
                </a:lnSpc>
              </a:pPr>
              <a:r>
                <a:rPr lang="en-US" sz="2146" b="true">
                  <a:solidFill>
                    <a:srgbClr val="F4B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Demand Variability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026508" y="1191094"/>
            <a:ext cx="14255018" cy="8274791"/>
          </a:xfrm>
          <a:custGeom>
            <a:avLst/>
            <a:gdLst/>
            <a:ahLst/>
            <a:cxnLst/>
            <a:rect r="r" b="b" t="t" l="l"/>
            <a:pathLst>
              <a:path h="8274791" w="14255018">
                <a:moveTo>
                  <a:pt x="0" y="0"/>
                </a:moveTo>
                <a:lnTo>
                  <a:pt x="14255018" y="0"/>
                </a:lnTo>
                <a:lnTo>
                  <a:pt x="14255018" y="8274791"/>
                </a:lnTo>
                <a:lnTo>
                  <a:pt x="0" y="8274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921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dashboard gives management an evidence-based supply-chain 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2086446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The strongest insights are performance, movement scale, regional concentration and volatility.</a:t>
            </a:r>
          </a:p>
        </p:txBody>
      </p:sp>
      <p:sp>
        <p:nvSpPr>
          <p:cNvPr name="AutoShape 9" id="9"/>
          <p:cNvSpPr/>
          <p:nvPr/>
        </p:nvSpPr>
        <p:spPr>
          <a:xfrm>
            <a:off x="891540" y="2564601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21606" y="3383751"/>
            <a:ext cx="4371975" cy="1800225"/>
            <a:chOff x="0" y="0"/>
            <a:chExt cx="5829300" cy="2400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29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58293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598922" y="0"/>
                  </a:lnTo>
                  <a:cubicBezTo>
                    <a:pt x="5726176" y="0"/>
                    <a:pt x="5829300" y="103124"/>
                    <a:pt x="5829300" y="230378"/>
                  </a:cubicBezTo>
                  <a:lnTo>
                    <a:pt x="5829300" y="2169922"/>
                  </a:lnTo>
                  <a:cubicBezTo>
                    <a:pt x="5829300" y="2297176"/>
                    <a:pt x="5726176" y="2400300"/>
                    <a:pt x="5598922" y="2400300"/>
                  </a:cubicBezTo>
                  <a:lnTo>
                    <a:pt x="230378" y="2400300"/>
                  </a:lnTo>
                  <a:cubicBezTo>
                    <a:pt x="103124" y="2400300"/>
                    <a:pt x="0" y="2297176"/>
                    <a:pt x="0" y="2169922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57350" y="3605207"/>
            <a:ext cx="685800" cy="57150"/>
            <a:chOff x="0" y="0"/>
            <a:chExt cx="9144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ED47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77365" y="3884289"/>
            <a:ext cx="3660458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93.91%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7365" y="4612952"/>
            <a:ext cx="366045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On-time or early delivery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65106" y="3383751"/>
            <a:ext cx="4371975" cy="1800225"/>
            <a:chOff x="0" y="0"/>
            <a:chExt cx="5829300" cy="2400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29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58293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598922" y="0"/>
                  </a:lnTo>
                  <a:cubicBezTo>
                    <a:pt x="5726176" y="0"/>
                    <a:pt x="5829300" y="103124"/>
                    <a:pt x="5829300" y="230378"/>
                  </a:cubicBezTo>
                  <a:lnTo>
                    <a:pt x="5829300" y="2169922"/>
                  </a:lnTo>
                  <a:cubicBezTo>
                    <a:pt x="5829300" y="2297176"/>
                    <a:pt x="5726176" y="2400300"/>
                    <a:pt x="5598922" y="2400300"/>
                  </a:cubicBezTo>
                  <a:lnTo>
                    <a:pt x="230378" y="2400300"/>
                  </a:lnTo>
                  <a:cubicBezTo>
                    <a:pt x="103124" y="2400300"/>
                    <a:pt x="0" y="2297176"/>
                    <a:pt x="0" y="2169922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800850" y="3605207"/>
            <a:ext cx="685800" cy="57150"/>
            <a:chOff x="0" y="0"/>
            <a:chExt cx="914400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F5C6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920865" y="3884289"/>
            <a:ext cx="3660458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6.09%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20865" y="4612952"/>
            <a:ext cx="366045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5C6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Late delivery rate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708606" y="3383751"/>
            <a:ext cx="4371975" cy="1800225"/>
            <a:chOff x="0" y="0"/>
            <a:chExt cx="5829300" cy="2400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29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58293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598922" y="0"/>
                  </a:lnTo>
                  <a:cubicBezTo>
                    <a:pt x="5726176" y="0"/>
                    <a:pt x="5829300" y="103124"/>
                    <a:pt x="5829300" y="230378"/>
                  </a:cubicBezTo>
                  <a:lnTo>
                    <a:pt x="5829300" y="2169922"/>
                  </a:lnTo>
                  <a:cubicBezTo>
                    <a:pt x="5829300" y="2297176"/>
                    <a:pt x="5726176" y="2400300"/>
                    <a:pt x="5598922" y="2400300"/>
                  </a:cubicBezTo>
                  <a:lnTo>
                    <a:pt x="230378" y="2400300"/>
                  </a:lnTo>
                  <a:cubicBezTo>
                    <a:pt x="103124" y="2400300"/>
                    <a:pt x="0" y="2297176"/>
                    <a:pt x="0" y="2169922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944350" y="3605207"/>
            <a:ext cx="685800" cy="57150"/>
            <a:chOff x="0" y="0"/>
            <a:chExt cx="914400" cy="76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2D3C5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064365" y="3884289"/>
            <a:ext cx="3660458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63K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64365" y="4612952"/>
            <a:ext cx="366045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2D3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Units moved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21606" y="5669751"/>
            <a:ext cx="4371975" cy="1800225"/>
            <a:chOff x="0" y="0"/>
            <a:chExt cx="5829300" cy="2400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29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58293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598922" y="0"/>
                  </a:lnTo>
                  <a:cubicBezTo>
                    <a:pt x="5726176" y="0"/>
                    <a:pt x="5829300" y="103124"/>
                    <a:pt x="5829300" y="230378"/>
                  </a:cubicBezTo>
                  <a:lnTo>
                    <a:pt x="5829300" y="2169922"/>
                  </a:lnTo>
                  <a:cubicBezTo>
                    <a:pt x="5829300" y="2297176"/>
                    <a:pt x="5726176" y="2400300"/>
                    <a:pt x="5598922" y="2400300"/>
                  </a:cubicBezTo>
                  <a:lnTo>
                    <a:pt x="230378" y="2400300"/>
                  </a:lnTo>
                  <a:cubicBezTo>
                    <a:pt x="103124" y="2400300"/>
                    <a:pt x="0" y="2297176"/>
                    <a:pt x="0" y="2169922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657350" y="5891207"/>
            <a:ext cx="685800" cy="57150"/>
            <a:chOff x="0" y="0"/>
            <a:chExt cx="914400" cy="76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C5CF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777365" y="6170289"/>
            <a:ext cx="3660458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4.10M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77365" y="6898952"/>
            <a:ext cx="366045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7C5C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Validated sales value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565106" y="5669751"/>
            <a:ext cx="4371975" cy="1800225"/>
            <a:chOff x="0" y="0"/>
            <a:chExt cx="5829300" cy="24003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29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58293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598922" y="0"/>
                  </a:lnTo>
                  <a:cubicBezTo>
                    <a:pt x="5726176" y="0"/>
                    <a:pt x="5829300" y="103124"/>
                    <a:pt x="5829300" y="230378"/>
                  </a:cubicBezTo>
                  <a:lnTo>
                    <a:pt x="5829300" y="2169922"/>
                  </a:lnTo>
                  <a:cubicBezTo>
                    <a:pt x="5829300" y="2297176"/>
                    <a:pt x="5726176" y="2400300"/>
                    <a:pt x="5598922" y="2400300"/>
                  </a:cubicBezTo>
                  <a:lnTo>
                    <a:pt x="230378" y="2400300"/>
                  </a:lnTo>
                  <a:cubicBezTo>
                    <a:pt x="103124" y="2400300"/>
                    <a:pt x="0" y="2297176"/>
                    <a:pt x="0" y="2169922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800850" y="5891207"/>
            <a:ext cx="685800" cy="57150"/>
            <a:chOff x="0" y="0"/>
            <a:chExt cx="914400" cy="76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6920865" y="6170289"/>
            <a:ext cx="3660458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Southeast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20865" y="6898952"/>
            <a:ext cx="366045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Dominant regional activity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708606" y="5669751"/>
            <a:ext cx="4371975" cy="1800225"/>
            <a:chOff x="0" y="0"/>
            <a:chExt cx="5829300" cy="24003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29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58293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598922" y="0"/>
                  </a:lnTo>
                  <a:cubicBezTo>
                    <a:pt x="5726176" y="0"/>
                    <a:pt x="5829300" y="103124"/>
                    <a:pt x="5829300" y="230378"/>
                  </a:cubicBezTo>
                  <a:lnTo>
                    <a:pt x="5829300" y="2169922"/>
                  </a:lnTo>
                  <a:cubicBezTo>
                    <a:pt x="5829300" y="2297176"/>
                    <a:pt x="5726176" y="2400300"/>
                    <a:pt x="5598922" y="2400300"/>
                  </a:cubicBezTo>
                  <a:lnTo>
                    <a:pt x="230378" y="2400300"/>
                  </a:lnTo>
                  <a:cubicBezTo>
                    <a:pt x="103124" y="2400300"/>
                    <a:pt x="0" y="2297176"/>
                    <a:pt x="0" y="2169922"/>
                  </a:cubicBezTo>
                  <a:close/>
                </a:path>
              </a:pathLst>
            </a:custGeom>
            <a:solidFill>
              <a:srgbClr val="1D2940"/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944350" y="5891207"/>
            <a:ext cx="685800" cy="57150"/>
            <a:chOff x="0" y="0"/>
            <a:chExt cx="914400" cy="76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76200"/>
            </a:xfrm>
            <a:custGeom>
              <a:avLst/>
              <a:gdLst/>
              <a:ahLst/>
              <a:cxnLst/>
              <a:rect r="r" b="b" t="t" l="l"/>
              <a:pathLst>
                <a:path h="76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4B942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064365" y="6170289"/>
            <a:ext cx="3660458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58.65%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064365" y="6898952"/>
            <a:ext cx="366045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4B9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Demand variability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091690" y="8503914"/>
            <a:ext cx="141046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ABC classification identifies movement-value concentration; Fast/Slow classification supports product movement monitoring.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1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540" y="502920"/>
            <a:ext cx="781812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AAB4C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SUPPLY CHAIN VISIBILITY &amp; OPTIMISATION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540" y="912495"/>
            <a:ext cx="12675870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Milestone 2 — Completed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540" y="1607820"/>
            <a:ext cx="129616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AAB4C5"/>
                </a:solidFill>
                <a:latin typeface="Calibri (MS)"/>
                <a:ea typeface="Calibri (MS)"/>
                <a:cs typeface="Calibri (MS)"/>
                <a:sym typeface="Calibri (MS)"/>
              </a:rPr>
              <a:t>The cleaned Olist dataset was transformed into an interactive Supply Chain Control Tower.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891540" y="2085975"/>
            <a:ext cx="2614965" cy="0"/>
          </a:xfrm>
          <a:prstGeom prst="line">
            <a:avLst/>
          </a:prstGeom>
          <a:ln cap="rnd" w="19050">
            <a:solidFill>
              <a:srgbClr val="22D3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234440" y="2631758"/>
            <a:ext cx="33147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7365" y="2693670"/>
            <a:ext cx="431768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Executive Performance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92253" y="2631758"/>
            <a:ext cx="33147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35178" y="2693670"/>
            <a:ext cx="431768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Inventory Movement Intelligence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50065" y="2631758"/>
            <a:ext cx="33147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92990" y="2693670"/>
            <a:ext cx="431768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Sales &amp; Product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4440" y="3460433"/>
            <a:ext cx="33147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77365" y="3522345"/>
            <a:ext cx="431768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Delivery Performance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92253" y="3460433"/>
            <a:ext cx="33147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35178" y="3522345"/>
            <a:ext cx="431768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Region &amp; Product Drilldown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50065" y="3460433"/>
            <a:ext cx="33147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92990" y="3522345"/>
            <a:ext cx="431768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Trends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4440" y="4289108"/>
            <a:ext cx="33147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7365" y="4351020"/>
            <a:ext cx="431768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Variance Analysis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92253" y="4289108"/>
            <a:ext cx="33147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35178" y="4351020"/>
            <a:ext cx="431768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ABC Classification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50065" y="4289108"/>
            <a:ext cx="33147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2ED4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92990" y="4351020"/>
            <a:ext cx="431768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Movement Classification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564481" y="6136481"/>
            <a:ext cx="15159038" cy="1500188"/>
            <a:chOff x="0" y="0"/>
            <a:chExt cx="20212050" cy="2000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212050" cy="2000250"/>
            </a:xfrm>
            <a:custGeom>
              <a:avLst/>
              <a:gdLst/>
              <a:ahLst/>
              <a:cxnLst/>
              <a:rect r="r" b="b" t="t" l="l"/>
              <a:pathLst>
                <a:path h="2000250" w="20212050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19981290" y="0"/>
                  </a:lnTo>
                  <a:cubicBezTo>
                    <a:pt x="20108799" y="0"/>
                    <a:pt x="20212050" y="103378"/>
                    <a:pt x="20212050" y="230759"/>
                  </a:cubicBezTo>
                  <a:lnTo>
                    <a:pt x="20212050" y="1769491"/>
                  </a:lnTo>
                  <a:cubicBezTo>
                    <a:pt x="20212050" y="1896999"/>
                    <a:pt x="20108672" y="2000250"/>
                    <a:pt x="19981290" y="2000250"/>
                  </a:cubicBezTo>
                  <a:lnTo>
                    <a:pt x="230759" y="2000250"/>
                  </a:lnTo>
                  <a:cubicBezTo>
                    <a:pt x="103378" y="2000250"/>
                    <a:pt x="0" y="1896872"/>
                    <a:pt x="0" y="1769491"/>
                  </a:cubicBezTo>
                  <a:close/>
                </a:path>
              </a:pathLst>
            </a:custGeom>
            <a:solidFill>
              <a:srgbClr val="111827">
                <a:alpha val="80784"/>
              </a:srgbClr>
            </a:solidFill>
            <a:ln w="14288" cap="sq">
              <a:solidFill>
                <a:srgbClr val="29364B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2234565" y="6522720"/>
            <a:ext cx="1381887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36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“The cleaned Olist dataset was transformed into an interactive Supply Chain Control Tower supporting product movement, sales, delivery, regional and trend-based decision analysis.”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600200" y="8143875"/>
            <a:ext cx="2714625" cy="1528762"/>
            <a:chOff x="0" y="0"/>
            <a:chExt cx="3619500" cy="20383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195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2038350"/>
                  </a:lnTo>
                  <a:lnTo>
                    <a:pt x="0" y="203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31" r="0" b="-1332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672012" y="8143875"/>
            <a:ext cx="2714625" cy="1528762"/>
            <a:chOff x="0" y="0"/>
            <a:chExt cx="3619500" cy="20383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195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2038350"/>
                  </a:lnTo>
                  <a:lnTo>
                    <a:pt x="0" y="203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31" r="0" b="-133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743825" y="8143875"/>
            <a:ext cx="2714625" cy="1528762"/>
            <a:chOff x="0" y="0"/>
            <a:chExt cx="3619500" cy="20383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195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2038350"/>
                  </a:lnTo>
                  <a:lnTo>
                    <a:pt x="0" y="203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31" r="0" b="-133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815638" y="8143875"/>
            <a:ext cx="2714625" cy="1528762"/>
            <a:chOff x="0" y="0"/>
            <a:chExt cx="3619500" cy="20383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195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2038350"/>
                  </a:lnTo>
                  <a:lnTo>
                    <a:pt x="0" y="203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331" r="0" b="-1332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887450" y="8143875"/>
            <a:ext cx="2714625" cy="1528762"/>
            <a:chOff x="0" y="0"/>
            <a:chExt cx="3619500" cy="20383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195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2038350"/>
                  </a:lnTo>
                  <a:lnTo>
                    <a:pt x="0" y="203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31" r="0" b="-133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DAHSjgtT504</dc:identifier>
  <dcterms:modified xsi:type="dcterms:W3CDTF">2011-08-01T06:04:30Z</dcterms:modified>
  <cp:revision>1</cp:revision>
  <dc:title>Milestone_2_Supply_Chain_Visibility_and_Optimisation.pptx</dc:title>
</cp:coreProperties>
</file>