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x="18288000" cy="10287000"/>
  <p:notesSz cx="6858000" cy="9144000"/>
  <p:embeddedFontLst>
    <p:embeddedFont>
      <p:font typeface="Aptos Bold" charset="1" panose="020B0004020202020204"/>
      <p:regular r:id="rId28"/>
    </p:embeddedFont>
    <p:embeddedFont>
      <p:font typeface="Aptos" charset="1" panose="020B0004020202020204"/>
      <p:regular r:id="rId29"/>
    </p:embeddedFont>
    <p:embeddedFont>
      <p:font typeface="Aptos Italics" charset="1" panose="020B0004020202090204"/>
      <p:regular r:id="rId30"/>
    </p:embeddedFont>
    <p:embeddedFont>
      <p:font typeface="Courier New" charset="1" panose="02070309020205020404"/>
      <p:regular r:id="rId34"/>
    </p:embeddedFont>
    <p:embeddedFont>
      <p:font typeface="Aptos Bold Italics" charset="1" panose="020B0004020202090204"/>
      <p:regular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notesMasters/notesMaster1.xml" Type="http://schemas.openxmlformats.org/officeDocument/2006/relationships/notesMaster"/><Relationship Id="rId26" Target="theme/theme2.xml" Type="http://schemas.openxmlformats.org/officeDocument/2006/relationships/theme"/><Relationship Id="rId27" Target="notesSlides/notesSlide1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notesSlides/notesSlide2.xml" Type="http://schemas.openxmlformats.org/officeDocument/2006/relationships/notesSlide"/><Relationship Id="rId32" Target="notesSlides/notesSlide3.xml" Type="http://schemas.openxmlformats.org/officeDocument/2006/relationships/notesSlide"/><Relationship Id="rId33" Target="notesSlides/notesSlide4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5.xml" Type="http://schemas.openxmlformats.org/officeDocument/2006/relationships/notesSlide"/><Relationship Id="rId36" Target="notesSlides/notesSlide6.xml" Type="http://schemas.openxmlformats.org/officeDocument/2006/relationships/notesSlide"/><Relationship Id="rId37" Target="notesSlides/notesSlide7.xml" Type="http://schemas.openxmlformats.org/officeDocument/2006/relationships/notesSlide"/><Relationship Id="rId38" Target="fonts/font38.fntdata" Type="http://schemas.openxmlformats.org/officeDocument/2006/relationships/font"/><Relationship Id="rId39" Target="notesSlides/notesSlide8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9.xml" Type="http://schemas.openxmlformats.org/officeDocument/2006/relationships/notesSlide"/><Relationship Id="rId41" Target="notesSlides/notesSlide10.xml" Type="http://schemas.openxmlformats.org/officeDocument/2006/relationships/notesSlide"/><Relationship Id="rId42" Target="notesSlides/notesSlide11.xml" Type="http://schemas.openxmlformats.org/officeDocument/2006/relationships/notesSlide"/><Relationship Id="rId43" Target="notesSlides/notesSlide12.xml" Type="http://schemas.openxmlformats.org/officeDocument/2006/relationships/notesSlide"/><Relationship Id="rId44" Target="notesSlides/notesSlide13.xml" Type="http://schemas.openxmlformats.org/officeDocument/2006/relationships/notesSlide"/><Relationship Id="rId45" Target="notesSlides/notesSlide14.xml" Type="http://schemas.openxmlformats.org/officeDocument/2006/relationships/notesSlide"/><Relationship Id="rId46" Target="notesSlides/notesSlide15.xml" Type="http://schemas.openxmlformats.org/officeDocument/2006/relationships/notesSlide"/><Relationship Id="rId47" Target="notesSlides/notesSlide16.xml" Type="http://schemas.openxmlformats.org/officeDocument/2006/relationships/notesSlide"/><Relationship Id="rId48" Target="notesSlides/notesSlide17.xml" Type="http://schemas.openxmlformats.org/officeDocument/2006/relationships/notesSlide"/><Relationship Id="rId49" Target="notesSlides/notesSlide18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9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3.png" Type="http://schemas.openxmlformats.org/officeDocument/2006/relationships/image"/><Relationship Id="rId4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4.png" Type="http://schemas.openxmlformats.org/officeDocument/2006/relationships/image"/><Relationship Id="rId4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data/wide_clean_corporate_logistics_data_visualization_batch_3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0100310" cy="10306050"/>
            <a:chOff x="0" y="0"/>
            <a:chExt cx="1346708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467080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13467080">
                  <a:moveTo>
                    <a:pt x="0" y="0"/>
                  </a:moveTo>
                  <a:lnTo>
                    <a:pt x="13467080" y="0"/>
                  </a:lnTo>
                  <a:lnTo>
                    <a:pt x="13467080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FFFF">
                <a:alpha val="88235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69645" y="1440180"/>
            <a:ext cx="8161020" cy="1851660"/>
            <a:chOff x="0" y="0"/>
            <a:chExt cx="10881360" cy="24688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881360" cy="2468880"/>
            </a:xfrm>
            <a:custGeom>
              <a:avLst/>
              <a:gdLst/>
              <a:ahLst/>
              <a:cxnLst/>
              <a:rect r="r" b="b" t="t" l="l"/>
              <a:pathLst>
                <a:path h="2468880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2468880"/>
                  </a:lnTo>
                  <a:lnTo>
                    <a:pt x="0" y="24688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878" r="0" b="-35878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10881360" cy="24688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</a:t>
              </a:r>
            </a:p>
            <a:p>
              <a:pPr algn="l">
                <a:lnSpc>
                  <a:spcPts val="5400"/>
                </a:lnSpc>
              </a:pPr>
              <a:r>
                <a:rPr lang="en-US" sz="45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VISIBILITY &amp; OPTIMISATION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9645" y="3538728"/>
            <a:ext cx="7680960" cy="576072"/>
            <a:chOff x="0" y="0"/>
            <a:chExt cx="10241280" cy="76809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241280" cy="768096"/>
            </a:xfrm>
            <a:custGeom>
              <a:avLst/>
              <a:gdLst/>
              <a:ahLst/>
              <a:cxnLst/>
              <a:rect r="r" b="b" t="t" l="l"/>
              <a:pathLst>
                <a:path h="768096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09800" r="0" b="-20980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102412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3 — Performance Analytics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69645" y="4293108"/>
            <a:ext cx="8023860" cy="905256"/>
            <a:chOff x="0" y="0"/>
            <a:chExt cx="10698480" cy="12070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698480" cy="1207008"/>
            </a:xfrm>
            <a:custGeom>
              <a:avLst/>
              <a:gdLst/>
              <a:ahLst/>
              <a:cxnLst/>
              <a:rect r="r" b="b" t="t" l="l"/>
              <a:pathLst>
                <a:path h="1207008" w="10698480">
                  <a:moveTo>
                    <a:pt x="0" y="0"/>
                  </a:moveTo>
                  <a:lnTo>
                    <a:pt x="10698480" y="0"/>
                  </a:lnTo>
                  <a:lnTo>
                    <a:pt x="10698480" y="1207008"/>
                  </a:lnTo>
                  <a:lnTo>
                    <a:pt x="0" y="12070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10698480" cy="119748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95"/>
                </a:lnSpc>
              </a:pPr>
              <a:r>
                <a:rPr lang="en-US" sz="182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Supplier Scorecards • Transportation Cost </a:t>
              </a:r>
            </a:p>
            <a:p>
              <a:pPr algn="l">
                <a:lnSpc>
                  <a:spcPts val="2744"/>
                </a:lnSpc>
              </a:pPr>
              <a:r>
                <a:rPr lang="en-US" sz="182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• Route &amp; Carrier Performance • Advanced KPIs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69645" y="6062472"/>
            <a:ext cx="7680960" cy="356616"/>
            <a:chOff x="0" y="0"/>
            <a:chExt cx="10241280" cy="47548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241280" cy="475488"/>
            </a:xfrm>
            <a:custGeom>
              <a:avLst/>
              <a:gdLst/>
              <a:ahLst/>
              <a:cxnLst/>
              <a:rect r="r" b="b" t="t" l="l"/>
              <a:pathLst>
                <a:path h="475488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9677" r="0" b="-36967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1024128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Infosys Springboard Virtual Internship 7.0 — Batch 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69645" y="6556248"/>
            <a:ext cx="8161020" cy="356616"/>
            <a:chOff x="0" y="0"/>
            <a:chExt cx="10881360" cy="4754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881360" cy="475488"/>
            </a:xfrm>
            <a:custGeom>
              <a:avLst/>
              <a:gdLst/>
              <a:ahLst/>
              <a:cxnLst/>
              <a:rect r="r" b="b" t="t" l="l"/>
              <a:pathLst>
                <a:path h="475488" w="10881360">
                  <a:moveTo>
                    <a:pt x="0" y="0"/>
                  </a:moveTo>
                  <a:lnTo>
                    <a:pt x="10881360" y="0"/>
                  </a:lnTo>
                  <a:lnTo>
                    <a:pt x="1088136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95907" r="0" b="-395907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088136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Team 4  •  Mahi  •  Vishal  •  Ramya  •  Abdul Haseeb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69645" y="7063740"/>
            <a:ext cx="6172200" cy="356616"/>
            <a:chOff x="0" y="0"/>
            <a:chExt cx="8229600" cy="4754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229600" cy="475488"/>
            </a:xfrm>
            <a:custGeom>
              <a:avLst/>
              <a:gdLst/>
              <a:ahLst/>
              <a:cxnLst/>
              <a:rect r="r" b="b" t="t" l="l"/>
              <a:pathLst>
                <a:path h="475488" w="8229600">
                  <a:moveTo>
                    <a:pt x="0" y="0"/>
                  </a:moveTo>
                  <a:lnTo>
                    <a:pt x="8229600" y="0"/>
                  </a:lnTo>
                  <a:lnTo>
                    <a:pt x="822960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87241" r="0" b="-287241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8229600" cy="47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Mentor: Sundar Shakthi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40434" y="8718042"/>
            <a:ext cx="3118866" cy="540258"/>
            <a:chOff x="0" y="0"/>
            <a:chExt cx="4158488" cy="7203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158488" cy="720344"/>
            </a:xfrm>
            <a:custGeom>
              <a:avLst/>
              <a:gdLst/>
              <a:ahLst/>
              <a:cxnLst/>
              <a:rect r="r" b="b" t="t" l="l"/>
              <a:pathLst>
                <a:path h="720344" w="4158488">
                  <a:moveTo>
                    <a:pt x="0" y="151638"/>
                  </a:moveTo>
                  <a:cubicBezTo>
                    <a:pt x="0" y="67945"/>
                    <a:pt x="67945" y="0"/>
                    <a:pt x="151638" y="0"/>
                  </a:cubicBezTo>
                  <a:lnTo>
                    <a:pt x="4006850" y="0"/>
                  </a:lnTo>
                  <a:cubicBezTo>
                    <a:pt x="4090543" y="0"/>
                    <a:pt x="4158488" y="67945"/>
                    <a:pt x="4158488" y="151638"/>
                  </a:cubicBezTo>
                  <a:lnTo>
                    <a:pt x="4158488" y="568706"/>
                  </a:lnTo>
                  <a:cubicBezTo>
                    <a:pt x="4158488" y="652399"/>
                    <a:pt x="4090543" y="720344"/>
                    <a:pt x="4006850" y="720344"/>
                  </a:cubicBezTo>
                  <a:lnTo>
                    <a:pt x="151638" y="720344"/>
                  </a:lnTo>
                  <a:cubicBezTo>
                    <a:pt x="67945" y="720344"/>
                    <a:pt x="0" y="652399"/>
                    <a:pt x="0" y="568706"/>
                  </a:cubicBezTo>
                  <a:close/>
                </a:path>
              </a:pathLst>
            </a:custGeom>
            <a:solidFill>
              <a:srgbClr val="3B404A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14369415" y="8864170"/>
            <a:ext cx="2660904" cy="273681"/>
            <a:chOff x="0" y="0"/>
            <a:chExt cx="3547872" cy="36490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547872" cy="364908"/>
            </a:xfrm>
            <a:custGeom>
              <a:avLst/>
              <a:gdLst/>
              <a:ahLst/>
              <a:cxnLst/>
              <a:rect r="r" b="b" t="t" l="l"/>
              <a:pathLst>
                <a:path h="364908" w="3547872">
                  <a:moveTo>
                    <a:pt x="0" y="0"/>
                  </a:moveTo>
                  <a:lnTo>
                    <a:pt x="3547872" y="0"/>
                  </a:lnTo>
                  <a:lnTo>
                    <a:pt x="3547872" y="364908"/>
                  </a:lnTo>
                  <a:lnTo>
                    <a:pt x="0" y="364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9376" r="0" b="-11951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547872" cy="36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b="true" sz="1474" spc="173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Continue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969645" y="8805672"/>
            <a:ext cx="7955280" cy="384048"/>
            <a:chOff x="0" y="0"/>
            <a:chExt cx="10607040" cy="51206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607040" cy="512064"/>
            </a:xfrm>
            <a:custGeom>
              <a:avLst/>
              <a:gdLst/>
              <a:ahLst/>
              <a:cxnLst/>
              <a:rect r="r" b="b" t="t" l="l"/>
              <a:pathLst>
                <a:path h="512064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53618" r="0" b="-35361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0607040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0F172A"/>
                  </a:solidFill>
                  <a:latin typeface="Aptos Italics"/>
                  <a:ea typeface="Aptos Italics"/>
                  <a:cs typeface="Aptos Italics"/>
                  <a:sym typeface="Aptos Italics"/>
                </a:rPr>
                <a:t>From cleaned data to operational decision support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CONTEXT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 unified view of product movement, delivery reliability, freight, sellers and route performance.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097512" y="850392"/>
            <a:ext cx="5692140" cy="3703320"/>
            <a:chOff x="0" y="0"/>
            <a:chExt cx="7589520" cy="4937760"/>
          </a:xfrm>
        </p:grpSpPr>
        <p:sp>
          <p:nvSpPr>
            <p:cNvPr name="Freeform 20" id="20" descr="/mnt/data/a_clean_modern_infographic_style_wide_landscape_i_batch_2.png"/>
            <p:cNvSpPr/>
            <p:nvPr/>
          </p:nvSpPr>
          <p:spPr>
            <a:xfrm flipH="false" flipV="false" rot="0">
              <a:off x="0" y="0"/>
              <a:ext cx="7589520" cy="4937760"/>
            </a:xfrm>
            <a:custGeom>
              <a:avLst/>
              <a:gdLst/>
              <a:ahLst/>
              <a:cxnLst/>
              <a:rect r="r" b="b" t="t" l="l"/>
              <a:pathLst>
                <a:path h="4937760" w="7589520">
                  <a:moveTo>
                    <a:pt x="0" y="0"/>
                  </a:moveTo>
                  <a:lnTo>
                    <a:pt x="7589520" y="0"/>
                  </a:lnTo>
                  <a:lnTo>
                    <a:pt x="7589520" y="4937760"/>
                  </a:lnTo>
                  <a:lnTo>
                    <a:pt x="0" y="4937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3564" t="-9091" r="-36620" b="-72728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786003" y="2349627"/>
            <a:ext cx="2967990" cy="1431798"/>
            <a:chOff x="0" y="0"/>
            <a:chExt cx="3957320" cy="1909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786003" y="2349627"/>
            <a:ext cx="87630" cy="1431798"/>
            <a:chOff x="0" y="0"/>
            <a:chExt cx="116840" cy="190906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014984" y="2523744"/>
            <a:ext cx="2619756" cy="274320"/>
            <a:chOff x="0" y="0"/>
            <a:chExt cx="3493008" cy="36576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Cleaned Records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14984" y="2880360"/>
            <a:ext cx="2619756" cy="521208"/>
            <a:chOff x="0" y="0"/>
            <a:chExt cx="3493008" cy="6949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66,039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014984" y="3387852"/>
            <a:ext cx="2619756" cy="246888"/>
            <a:chOff x="0" y="0"/>
            <a:chExt cx="3493008" cy="32918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Final analysis-ready dataset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3968115" y="2349627"/>
            <a:ext cx="2967990" cy="1431798"/>
            <a:chOff x="0" y="0"/>
            <a:chExt cx="3957320" cy="1909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3968115" y="2349627"/>
            <a:ext cx="87630" cy="1431798"/>
            <a:chOff x="0" y="0"/>
            <a:chExt cx="116840" cy="1909064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4197096" y="2523744"/>
            <a:ext cx="2619756" cy="274320"/>
            <a:chOff x="0" y="0"/>
            <a:chExt cx="3493008" cy="36576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Distinct Orders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4197096" y="2880360"/>
            <a:ext cx="2619756" cy="521208"/>
            <a:chOff x="0" y="0"/>
            <a:chExt cx="3493008" cy="6949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55,649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197096" y="3387852"/>
            <a:ext cx="2619756" cy="246888"/>
            <a:chOff x="0" y="0"/>
            <a:chExt cx="3493008" cy="32918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Validated order grain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50227" y="2349627"/>
            <a:ext cx="2967990" cy="1431798"/>
            <a:chOff x="0" y="0"/>
            <a:chExt cx="3957320" cy="1909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150227" y="2349627"/>
            <a:ext cx="87630" cy="1431798"/>
            <a:chOff x="0" y="0"/>
            <a:chExt cx="116840" cy="190906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7379208" y="2523744"/>
            <a:ext cx="2619756" cy="274320"/>
            <a:chOff x="0" y="0"/>
            <a:chExt cx="3493008" cy="36576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Movement Lines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7379208" y="2880360"/>
            <a:ext cx="2619756" cy="521208"/>
            <a:chOff x="0" y="0"/>
            <a:chExt cx="3493008" cy="6949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63,089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7379208" y="3387852"/>
            <a:ext cx="2619756" cy="246888"/>
            <a:chOff x="0" y="0"/>
            <a:chExt cx="3493008" cy="32918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Unique order-item movements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0332339" y="2349627"/>
            <a:ext cx="2967990" cy="1431798"/>
            <a:chOff x="0" y="0"/>
            <a:chExt cx="3957320" cy="1909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332339" y="2349627"/>
            <a:ext cx="87630" cy="1431798"/>
            <a:chOff x="0" y="0"/>
            <a:chExt cx="116840" cy="19090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0561320" y="2523744"/>
            <a:ext cx="2619756" cy="274320"/>
            <a:chOff x="0" y="0"/>
            <a:chExt cx="3493008" cy="365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On-Time Delivery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10561320" y="2880360"/>
            <a:ext cx="2619756" cy="521208"/>
            <a:chOff x="0" y="0"/>
            <a:chExt cx="3493008" cy="694944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93.91%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0561320" y="3387852"/>
            <a:ext cx="2619756" cy="246888"/>
            <a:chOff x="0" y="0"/>
            <a:chExt cx="3493008" cy="3291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Overall service reliability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86003" y="4242435"/>
            <a:ext cx="8180070" cy="4751070"/>
            <a:chOff x="0" y="0"/>
            <a:chExt cx="10906760" cy="633476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10906760" cy="6334760"/>
            </a:xfrm>
            <a:custGeom>
              <a:avLst/>
              <a:gdLst/>
              <a:ahLst/>
              <a:cxnLst/>
              <a:rect r="r" b="b" t="t" l="l"/>
              <a:pathLst>
                <a:path h="6334760" w="1090676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759821" y="0"/>
                  </a:lnTo>
                  <a:cubicBezTo>
                    <a:pt x="10840974" y="0"/>
                    <a:pt x="10906760" y="65786"/>
                    <a:pt x="10906760" y="146939"/>
                  </a:cubicBezTo>
                  <a:lnTo>
                    <a:pt x="10906760" y="6187821"/>
                  </a:lnTo>
                  <a:cubicBezTo>
                    <a:pt x="10906760" y="6268974"/>
                    <a:pt x="10840974" y="6334760"/>
                    <a:pt x="10759821" y="6334760"/>
                  </a:cubicBezTo>
                  <a:lnTo>
                    <a:pt x="146939" y="6334760"/>
                  </a:lnTo>
                  <a:cubicBezTo>
                    <a:pt x="65786" y="6334760"/>
                    <a:pt x="0" y="6268974"/>
                    <a:pt x="0" y="618782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115187" y="4571619"/>
            <a:ext cx="2282190" cy="403098"/>
            <a:chOff x="0" y="0"/>
            <a:chExt cx="3042920" cy="537464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042920" cy="537464"/>
            </a:xfrm>
            <a:custGeom>
              <a:avLst/>
              <a:gdLst/>
              <a:ahLst/>
              <a:cxnLst/>
              <a:rect r="r" b="b" t="t" l="l"/>
              <a:pathLst>
                <a:path h="537464" w="30429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927731" y="0"/>
                  </a:lnTo>
                  <a:cubicBezTo>
                    <a:pt x="2991358" y="0"/>
                    <a:pt x="3042920" y="51562"/>
                    <a:pt x="3042920" y="115189"/>
                  </a:cubicBezTo>
                  <a:lnTo>
                    <a:pt x="3042920" y="422275"/>
                  </a:lnTo>
                  <a:cubicBezTo>
                    <a:pt x="3042920" y="485902"/>
                    <a:pt x="2991358" y="537464"/>
                    <a:pt x="292773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330452" y="4666619"/>
            <a:ext cx="1851660" cy="213099"/>
            <a:chOff x="0" y="0"/>
            <a:chExt cx="2468880" cy="28413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468880" cy="284131"/>
            </a:xfrm>
            <a:custGeom>
              <a:avLst/>
              <a:gdLst/>
              <a:ahLst/>
              <a:cxnLst/>
              <a:rect r="r" b="b" t="t" l="l"/>
              <a:pathLst>
                <a:path h="284131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4254" r="0" b="-11436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2468880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OBJECTIVE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24712" y="5212080"/>
            <a:ext cx="7475220" cy="713232"/>
            <a:chOff x="0" y="0"/>
            <a:chExt cx="9966960" cy="950976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966960" cy="950976"/>
            </a:xfrm>
            <a:custGeom>
              <a:avLst/>
              <a:gdLst/>
              <a:ahLst/>
              <a:cxnLst/>
              <a:rect r="r" b="b" t="t" l="l"/>
              <a:pathLst>
                <a:path h="950976" w="9966960">
                  <a:moveTo>
                    <a:pt x="0" y="0"/>
                  </a:moveTo>
                  <a:lnTo>
                    <a:pt x="9966960" y="0"/>
                  </a:lnTo>
                  <a:lnTo>
                    <a:pt x="9966960" y="950976"/>
                  </a:lnTo>
                  <a:lnTo>
                    <a:pt x="0" y="9509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4218" r="0" b="-154218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9966960" cy="9509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30"/>
                </a:lnSpc>
              </a:pPr>
              <a:r>
                <a:rPr lang="en-US" sz="20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Turn transactional e-commerce data into a practical supply-chain control tower that helps management answer: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70051" y="6272403"/>
            <a:ext cx="156210" cy="156210"/>
            <a:chOff x="0" y="0"/>
            <a:chExt cx="208280" cy="20828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1440180" y="6103620"/>
            <a:ext cx="6981444" cy="582930"/>
            <a:chOff x="0" y="0"/>
            <a:chExt cx="9308592" cy="77724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9308592" cy="777240"/>
            </a:xfrm>
            <a:custGeom>
              <a:avLst/>
              <a:gdLst/>
              <a:ahLst/>
              <a:cxnLst/>
              <a:rect r="r" b="b" t="t" l="l"/>
              <a:pathLst>
                <a:path h="777240" w="9308592">
                  <a:moveTo>
                    <a:pt x="0" y="0"/>
                  </a:moveTo>
                  <a:lnTo>
                    <a:pt x="9308592" y="0"/>
                  </a:lnTo>
                  <a:lnTo>
                    <a:pt x="9308592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61" r="0" b="-183361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9525"/>
              <a:ext cx="9308592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How efficiently are products moving through the network?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170051" y="6882765"/>
            <a:ext cx="156210" cy="156210"/>
            <a:chOff x="0" y="0"/>
            <a:chExt cx="208280" cy="208280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440180" y="6713982"/>
            <a:ext cx="6981444" cy="582930"/>
            <a:chOff x="0" y="0"/>
            <a:chExt cx="9308592" cy="777240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308592" cy="777240"/>
            </a:xfrm>
            <a:custGeom>
              <a:avLst/>
              <a:gdLst/>
              <a:ahLst/>
              <a:cxnLst/>
              <a:rect r="r" b="b" t="t" l="l"/>
              <a:pathLst>
                <a:path h="777240" w="9308592">
                  <a:moveTo>
                    <a:pt x="0" y="0"/>
                  </a:moveTo>
                  <a:lnTo>
                    <a:pt x="9308592" y="0"/>
                  </a:lnTo>
                  <a:lnTo>
                    <a:pt x="9308592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61" r="0" b="-183361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-9525"/>
              <a:ext cx="9308592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Where are delays, freight costs and regional bottlenecks concentrated?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170051" y="7493127"/>
            <a:ext cx="156210" cy="156210"/>
            <a:chOff x="0" y="0"/>
            <a:chExt cx="208280" cy="208280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440180" y="7324344"/>
            <a:ext cx="6981444" cy="582930"/>
            <a:chOff x="0" y="0"/>
            <a:chExt cx="9308592" cy="7772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9308592" cy="777240"/>
            </a:xfrm>
            <a:custGeom>
              <a:avLst/>
              <a:gdLst/>
              <a:ahLst/>
              <a:cxnLst/>
              <a:rect r="r" b="b" t="t" l="l"/>
              <a:pathLst>
                <a:path h="777240" w="9308592">
                  <a:moveTo>
                    <a:pt x="0" y="0"/>
                  </a:moveTo>
                  <a:lnTo>
                    <a:pt x="9308592" y="0"/>
                  </a:lnTo>
                  <a:lnTo>
                    <a:pt x="9308592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61" r="0" b="-183361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9525"/>
              <a:ext cx="9308592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Which sellers and routes are strong performers — and which need intervention?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70051" y="8103489"/>
            <a:ext cx="156210" cy="156210"/>
            <a:chOff x="0" y="0"/>
            <a:chExt cx="208280" cy="208280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100" id="100"/>
          <p:cNvGrpSpPr/>
          <p:nvPr/>
        </p:nvGrpSpPr>
        <p:grpSpPr>
          <a:xfrm rot="0">
            <a:off x="1440180" y="7934706"/>
            <a:ext cx="6981444" cy="582930"/>
            <a:chOff x="0" y="0"/>
            <a:chExt cx="9308592" cy="777240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9308592" cy="777240"/>
            </a:xfrm>
            <a:custGeom>
              <a:avLst/>
              <a:gdLst/>
              <a:ahLst/>
              <a:cxnLst/>
              <a:rect r="r" b="b" t="t" l="l"/>
              <a:pathLst>
                <a:path h="777240" w="9308592">
                  <a:moveTo>
                    <a:pt x="0" y="0"/>
                  </a:moveTo>
                  <a:lnTo>
                    <a:pt x="9308592" y="0"/>
                  </a:lnTo>
                  <a:lnTo>
                    <a:pt x="9308592" y="777240"/>
                  </a:lnTo>
                  <a:lnTo>
                    <a:pt x="0" y="777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361" r="0" b="-183361"/>
              </a:stretch>
            </a:blipFill>
          </p:spPr>
        </p:sp>
        <p:sp>
          <p:nvSpPr>
            <p:cNvPr name="TextBox 102" id="102"/>
            <p:cNvSpPr txBox="true"/>
            <p:nvPr/>
          </p:nvSpPr>
          <p:spPr>
            <a:xfrm>
              <a:off x="0" y="-9525"/>
              <a:ext cx="9308592" cy="7867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How can operational KPIs be combined into decision-ready management views?</a:t>
              </a:r>
            </a:p>
          </p:txBody>
        </p:sp>
      </p:grpSp>
      <p:grpSp>
        <p:nvGrpSpPr>
          <p:cNvPr name="Group 103" id="103"/>
          <p:cNvGrpSpPr/>
          <p:nvPr/>
        </p:nvGrpSpPr>
        <p:grpSpPr>
          <a:xfrm rot="0">
            <a:off x="9344787" y="4242435"/>
            <a:ext cx="8152638" cy="4751070"/>
            <a:chOff x="0" y="0"/>
            <a:chExt cx="10870184" cy="633476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0870184" cy="6334760"/>
            </a:xfrm>
            <a:custGeom>
              <a:avLst/>
              <a:gdLst/>
              <a:ahLst/>
              <a:cxnLst/>
              <a:rect r="r" b="b" t="t" l="l"/>
              <a:pathLst>
                <a:path h="6334760" w="10870184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10723245" y="0"/>
                  </a:lnTo>
                  <a:cubicBezTo>
                    <a:pt x="10804398" y="0"/>
                    <a:pt x="10870184" y="65786"/>
                    <a:pt x="10870184" y="146939"/>
                  </a:cubicBezTo>
                  <a:lnTo>
                    <a:pt x="10870184" y="6187821"/>
                  </a:lnTo>
                  <a:cubicBezTo>
                    <a:pt x="10870184" y="6268974"/>
                    <a:pt x="10804398" y="6334760"/>
                    <a:pt x="10723245" y="6334760"/>
                  </a:cubicBezTo>
                  <a:lnTo>
                    <a:pt x="146939" y="6334760"/>
                  </a:lnTo>
                  <a:cubicBezTo>
                    <a:pt x="65786" y="6334760"/>
                    <a:pt x="0" y="6268974"/>
                    <a:pt x="0" y="6187821"/>
                  </a:cubicBezTo>
                  <a:close/>
                </a:path>
              </a:pathLst>
            </a:custGeom>
            <a:solidFill>
              <a:srgbClr val="F8FBFF"/>
            </a:solidFill>
            <a:ln w="19050" cap="sq">
              <a:solidFill>
                <a:srgbClr val="D6E6F5"/>
              </a:solidFill>
              <a:prstDash val="solid"/>
              <a:miter/>
            </a:ln>
          </p:spPr>
        </p:sp>
      </p:grpSp>
      <p:grpSp>
        <p:nvGrpSpPr>
          <p:cNvPr name="Group 105" id="105"/>
          <p:cNvGrpSpPr/>
          <p:nvPr/>
        </p:nvGrpSpPr>
        <p:grpSpPr>
          <a:xfrm rot="0">
            <a:off x="9701403" y="4571619"/>
            <a:ext cx="1767840" cy="403098"/>
            <a:chOff x="0" y="0"/>
            <a:chExt cx="2357120" cy="53746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357120" cy="537464"/>
            </a:xfrm>
            <a:custGeom>
              <a:avLst/>
              <a:gdLst/>
              <a:ahLst/>
              <a:cxnLst/>
              <a:rect r="r" b="b" t="t" l="l"/>
              <a:pathLst>
                <a:path h="537464" w="23571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241931" y="0"/>
                  </a:lnTo>
                  <a:cubicBezTo>
                    <a:pt x="2305558" y="0"/>
                    <a:pt x="2357120" y="51562"/>
                    <a:pt x="2357120" y="115189"/>
                  </a:cubicBezTo>
                  <a:lnTo>
                    <a:pt x="2357120" y="422275"/>
                  </a:lnTo>
                  <a:cubicBezTo>
                    <a:pt x="2357120" y="485902"/>
                    <a:pt x="2305558" y="537464"/>
                    <a:pt x="224193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107" id="107"/>
          <p:cNvGrpSpPr/>
          <p:nvPr/>
        </p:nvGrpSpPr>
        <p:grpSpPr>
          <a:xfrm rot="0">
            <a:off x="9916668" y="4666619"/>
            <a:ext cx="1337310" cy="213099"/>
            <a:chOff x="0" y="0"/>
            <a:chExt cx="1783080" cy="28413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783080" cy="284131"/>
            </a:xfrm>
            <a:custGeom>
              <a:avLst/>
              <a:gdLst/>
              <a:ahLst/>
              <a:cxnLst/>
              <a:rect r="r" b="b" t="t" l="l"/>
              <a:pathLst>
                <a:path h="284131" w="1783080">
                  <a:moveTo>
                    <a:pt x="0" y="0"/>
                  </a:moveTo>
                  <a:lnTo>
                    <a:pt x="1783080" y="0"/>
                  </a:lnTo>
                  <a:lnTo>
                    <a:pt x="1783080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224" r="0" b="-6733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0"/>
              <a:ext cx="1783080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COVERAGE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9701403" y="5312283"/>
            <a:ext cx="3475482" cy="649986"/>
            <a:chOff x="0" y="0"/>
            <a:chExt cx="4633976" cy="8666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12" id="112"/>
          <p:cNvGrpSpPr/>
          <p:nvPr/>
        </p:nvGrpSpPr>
        <p:grpSpPr>
          <a:xfrm rot="0">
            <a:off x="9875520" y="5541264"/>
            <a:ext cx="1261872" cy="192024"/>
            <a:chOff x="0" y="0"/>
            <a:chExt cx="1682496" cy="256032"/>
          </a:xfrm>
        </p:grpSpPr>
        <p:sp>
          <p:nvSpPr>
            <p:cNvPr name="Freeform 113" id="113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14" id="114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Orders</a:t>
              </a:r>
            </a:p>
          </p:txBody>
        </p:sp>
      </p:grpSp>
      <p:grpSp>
        <p:nvGrpSpPr>
          <p:cNvPr name="Group 115" id="115"/>
          <p:cNvGrpSpPr/>
          <p:nvPr/>
        </p:nvGrpSpPr>
        <p:grpSpPr>
          <a:xfrm rot="0">
            <a:off x="11055096" y="5541264"/>
            <a:ext cx="1851660" cy="192024"/>
            <a:chOff x="0" y="0"/>
            <a:chExt cx="2468880" cy="256032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17" id="117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lifecycle &amp; status</a:t>
              </a:r>
            </a:p>
          </p:txBody>
        </p:sp>
      </p:grpSp>
      <p:grpSp>
        <p:nvGrpSpPr>
          <p:cNvPr name="Group 118" id="118"/>
          <p:cNvGrpSpPr/>
          <p:nvPr/>
        </p:nvGrpSpPr>
        <p:grpSpPr>
          <a:xfrm rot="0">
            <a:off x="13473303" y="5312283"/>
            <a:ext cx="3475482" cy="649986"/>
            <a:chOff x="0" y="0"/>
            <a:chExt cx="4633976" cy="86664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20" id="120"/>
          <p:cNvGrpSpPr/>
          <p:nvPr/>
        </p:nvGrpSpPr>
        <p:grpSpPr>
          <a:xfrm rot="0">
            <a:off x="13647420" y="5541264"/>
            <a:ext cx="1261872" cy="192024"/>
            <a:chOff x="0" y="0"/>
            <a:chExt cx="1682496" cy="256032"/>
          </a:xfrm>
        </p:grpSpPr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22" id="122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Products</a:t>
              </a:r>
            </a:p>
          </p:txBody>
        </p:sp>
      </p:grpSp>
      <p:grpSp>
        <p:nvGrpSpPr>
          <p:cNvPr name="Group 123" id="123"/>
          <p:cNvGrpSpPr/>
          <p:nvPr/>
        </p:nvGrpSpPr>
        <p:grpSpPr>
          <a:xfrm rot="0">
            <a:off x="14826996" y="5541264"/>
            <a:ext cx="1851660" cy="192024"/>
            <a:chOff x="0" y="0"/>
            <a:chExt cx="2468880" cy="256032"/>
          </a:xfrm>
        </p:grpSpPr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25" id="125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category &amp; dimensions</a:t>
              </a:r>
            </a:p>
          </p:txBody>
        </p:sp>
      </p:grpSp>
      <p:grpSp>
        <p:nvGrpSpPr>
          <p:cNvPr name="Group 126" id="126"/>
          <p:cNvGrpSpPr/>
          <p:nvPr/>
        </p:nvGrpSpPr>
        <p:grpSpPr>
          <a:xfrm rot="0">
            <a:off x="9701403" y="6162675"/>
            <a:ext cx="3475482" cy="649986"/>
            <a:chOff x="0" y="0"/>
            <a:chExt cx="4633976" cy="866648"/>
          </a:xfrm>
        </p:grpSpPr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28" id="128"/>
          <p:cNvGrpSpPr/>
          <p:nvPr/>
        </p:nvGrpSpPr>
        <p:grpSpPr>
          <a:xfrm rot="0">
            <a:off x="9875520" y="6390894"/>
            <a:ext cx="1261872" cy="192024"/>
            <a:chOff x="0" y="0"/>
            <a:chExt cx="1682496" cy="25603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Sellers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1055096" y="6390894"/>
            <a:ext cx="1851660" cy="192024"/>
            <a:chOff x="0" y="0"/>
            <a:chExt cx="2468880" cy="25603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location &amp; performance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473303" y="6162675"/>
            <a:ext cx="3475482" cy="649986"/>
            <a:chOff x="0" y="0"/>
            <a:chExt cx="4633976" cy="866648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36" id="136"/>
          <p:cNvGrpSpPr/>
          <p:nvPr/>
        </p:nvGrpSpPr>
        <p:grpSpPr>
          <a:xfrm rot="0">
            <a:off x="13647420" y="6390894"/>
            <a:ext cx="1261872" cy="192024"/>
            <a:chOff x="0" y="0"/>
            <a:chExt cx="1682496" cy="256032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Customers</a:t>
              </a:r>
            </a:p>
          </p:txBody>
        </p:sp>
      </p:grpSp>
      <p:grpSp>
        <p:nvGrpSpPr>
          <p:cNvPr name="Group 139" id="139"/>
          <p:cNvGrpSpPr/>
          <p:nvPr/>
        </p:nvGrpSpPr>
        <p:grpSpPr>
          <a:xfrm rot="0">
            <a:off x="14826996" y="6390894"/>
            <a:ext cx="1851660" cy="192024"/>
            <a:chOff x="0" y="0"/>
            <a:chExt cx="2468880" cy="256032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region &amp; city</a:t>
              </a:r>
            </a:p>
          </p:txBody>
        </p:sp>
      </p:grpSp>
      <p:grpSp>
        <p:nvGrpSpPr>
          <p:cNvPr name="Group 142" id="142"/>
          <p:cNvGrpSpPr/>
          <p:nvPr/>
        </p:nvGrpSpPr>
        <p:grpSpPr>
          <a:xfrm rot="0">
            <a:off x="9701403" y="7013067"/>
            <a:ext cx="3475482" cy="649986"/>
            <a:chOff x="0" y="0"/>
            <a:chExt cx="4633976" cy="866648"/>
          </a:xfrm>
        </p:grpSpPr>
        <p:sp>
          <p:nvSpPr>
            <p:cNvPr name="Freeform 143" id="143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44" id="144"/>
          <p:cNvGrpSpPr/>
          <p:nvPr/>
        </p:nvGrpSpPr>
        <p:grpSpPr>
          <a:xfrm rot="0">
            <a:off x="9875520" y="7228332"/>
            <a:ext cx="1261872" cy="192024"/>
            <a:chOff x="0" y="0"/>
            <a:chExt cx="1682496" cy="256032"/>
          </a:xfrm>
        </p:grpSpPr>
        <p:sp>
          <p:nvSpPr>
            <p:cNvPr name="Freeform 145" id="145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46" id="146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</a:t>
              </a:r>
            </a:p>
          </p:txBody>
        </p:sp>
      </p:grpSp>
      <p:grpSp>
        <p:nvGrpSpPr>
          <p:cNvPr name="Group 147" id="147"/>
          <p:cNvGrpSpPr/>
          <p:nvPr/>
        </p:nvGrpSpPr>
        <p:grpSpPr>
          <a:xfrm rot="0">
            <a:off x="11055096" y="7228332"/>
            <a:ext cx="1851660" cy="192024"/>
            <a:chOff x="0" y="0"/>
            <a:chExt cx="2468880" cy="256032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cost &amp; efficiency</a:t>
              </a:r>
            </a:p>
          </p:txBody>
        </p:sp>
      </p:grpSp>
      <p:grpSp>
        <p:nvGrpSpPr>
          <p:cNvPr name="Group 150" id="150"/>
          <p:cNvGrpSpPr/>
          <p:nvPr/>
        </p:nvGrpSpPr>
        <p:grpSpPr>
          <a:xfrm rot="0">
            <a:off x="13473303" y="7013067"/>
            <a:ext cx="3475482" cy="649986"/>
            <a:chOff x="0" y="0"/>
            <a:chExt cx="4633976" cy="866648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52" id="152"/>
          <p:cNvGrpSpPr/>
          <p:nvPr/>
        </p:nvGrpSpPr>
        <p:grpSpPr>
          <a:xfrm rot="0">
            <a:off x="13647420" y="7228332"/>
            <a:ext cx="1261872" cy="192024"/>
            <a:chOff x="0" y="0"/>
            <a:chExt cx="1682496" cy="25603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Reviews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14826996" y="7228332"/>
            <a:ext cx="1851660" cy="192024"/>
            <a:chOff x="0" y="0"/>
            <a:chExt cx="2468880" cy="25603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experience proxy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9701403" y="7863459"/>
            <a:ext cx="3475482" cy="649986"/>
            <a:chOff x="0" y="0"/>
            <a:chExt cx="4633976" cy="8666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60" id="160"/>
          <p:cNvGrpSpPr/>
          <p:nvPr/>
        </p:nvGrpSpPr>
        <p:grpSpPr>
          <a:xfrm rot="0">
            <a:off x="9875520" y="8078724"/>
            <a:ext cx="1261872" cy="192024"/>
            <a:chOff x="0" y="0"/>
            <a:chExt cx="1682496" cy="256032"/>
          </a:xfrm>
        </p:grpSpPr>
        <p:sp>
          <p:nvSpPr>
            <p:cNvPr name="Freeform 161" id="161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62" id="162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Payments</a:t>
              </a:r>
            </a:p>
          </p:txBody>
        </p:sp>
      </p:grpSp>
      <p:grpSp>
        <p:nvGrpSpPr>
          <p:cNvPr name="Group 163" id="163"/>
          <p:cNvGrpSpPr/>
          <p:nvPr/>
        </p:nvGrpSpPr>
        <p:grpSpPr>
          <a:xfrm rot="0">
            <a:off x="11055096" y="8078724"/>
            <a:ext cx="1851660" cy="192024"/>
            <a:chOff x="0" y="0"/>
            <a:chExt cx="2468880" cy="256032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transaction mix</a:t>
              </a:r>
            </a:p>
          </p:txBody>
        </p:sp>
      </p:grpSp>
      <p:grpSp>
        <p:nvGrpSpPr>
          <p:cNvPr name="Group 166" id="166"/>
          <p:cNvGrpSpPr/>
          <p:nvPr/>
        </p:nvGrpSpPr>
        <p:grpSpPr>
          <a:xfrm rot="0">
            <a:off x="13473303" y="7863459"/>
            <a:ext cx="3475482" cy="649986"/>
            <a:chOff x="0" y="0"/>
            <a:chExt cx="4633976" cy="866648"/>
          </a:xfrm>
        </p:grpSpPr>
        <p:sp>
          <p:nvSpPr>
            <p:cNvPr name="Freeform 167" id="167"/>
            <p:cNvSpPr/>
            <p:nvPr/>
          </p:nvSpPr>
          <p:spPr>
            <a:xfrm flipH="false" flipV="false" rot="0">
              <a:off x="0" y="0"/>
              <a:ext cx="4633976" cy="866648"/>
            </a:xfrm>
            <a:custGeom>
              <a:avLst/>
              <a:gdLst/>
              <a:ahLst/>
              <a:cxnLst/>
              <a:rect r="r" b="b" t="t" l="l"/>
              <a:pathLst>
                <a:path h="866648" w="4633976">
                  <a:moveTo>
                    <a:pt x="0" y="113030"/>
                  </a:moveTo>
                  <a:cubicBezTo>
                    <a:pt x="0" y="50546"/>
                    <a:pt x="50546" y="0"/>
                    <a:pt x="113030" y="0"/>
                  </a:cubicBezTo>
                  <a:lnTo>
                    <a:pt x="4520946" y="0"/>
                  </a:lnTo>
                  <a:cubicBezTo>
                    <a:pt x="4583430" y="0"/>
                    <a:pt x="4633976" y="50546"/>
                    <a:pt x="4633976" y="113030"/>
                  </a:cubicBezTo>
                  <a:lnTo>
                    <a:pt x="4633976" y="753618"/>
                  </a:lnTo>
                  <a:cubicBezTo>
                    <a:pt x="4633976" y="816102"/>
                    <a:pt x="4583430" y="866648"/>
                    <a:pt x="4520946" y="866648"/>
                  </a:cubicBezTo>
                  <a:lnTo>
                    <a:pt x="113030" y="866648"/>
                  </a:lnTo>
                  <a:cubicBezTo>
                    <a:pt x="50546" y="866648"/>
                    <a:pt x="0" y="816102"/>
                    <a:pt x="0" y="753618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DE7F1"/>
              </a:solidFill>
              <a:prstDash val="solid"/>
              <a:miter/>
            </a:ln>
          </p:spPr>
        </p:sp>
      </p:grpSp>
      <p:grpSp>
        <p:nvGrpSpPr>
          <p:cNvPr name="Group 168" id="168"/>
          <p:cNvGrpSpPr/>
          <p:nvPr/>
        </p:nvGrpSpPr>
        <p:grpSpPr>
          <a:xfrm rot="0">
            <a:off x="13647420" y="8078724"/>
            <a:ext cx="1261872" cy="192024"/>
            <a:chOff x="0" y="0"/>
            <a:chExt cx="1682496" cy="256032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1682496" cy="256032"/>
            </a:xfrm>
            <a:custGeom>
              <a:avLst/>
              <a:gdLst/>
              <a:ahLst/>
              <a:cxnLst/>
              <a:rect r="r" b="b" t="t" l="l"/>
              <a:pathLst>
                <a:path h="256032" w="1682496">
                  <a:moveTo>
                    <a:pt x="0" y="0"/>
                  </a:moveTo>
                  <a:lnTo>
                    <a:pt x="1682496" y="0"/>
                  </a:lnTo>
                  <a:lnTo>
                    <a:pt x="168249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8044" r="0" b="-78044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0"/>
              <a:ext cx="168249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Delivery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4826996" y="8078724"/>
            <a:ext cx="1851660" cy="192024"/>
            <a:chOff x="0" y="0"/>
            <a:chExt cx="2468880" cy="256032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468880" cy="256032"/>
            </a:xfrm>
            <a:custGeom>
              <a:avLst/>
              <a:gdLst/>
              <a:ahLst/>
              <a:cxnLst/>
              <a:rect r="r" b="b" t="t" l="l"/>
              <a:pathLst>
                <a:path h="256032" w="2468880">
                  <a:moveTo>
                    <a:pt x="0" y="0"/>
                  </a:moveTo>
                  <a:lnTo>
                    <a:pt x="2468880" y="0"/>
                  </a:lnTo>
                  <a:lnTo>
                    <a:pt x="246888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891" r="0" b="-137891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0"/>
              <a:ext cx="246888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75"/>
                </a:lnSpc>
              </a:pPr>
              <a:r>
                <a:rPr lang="en-US" sz="12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estimated vs actual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PROGRESSION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Project Journey: Milestone 1 → 2 → 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Each milestone builds on the previous one — from clean data, to visibility, to performance-oriented analytics.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080699" y="2527935"/>
            <a:ext cx="6475781" cy="6456045"/>
            <a:chOff x="0" y="0"/>
            <a:chExt cx="8634375" cy="8608060"/>
          </a:xfrm>
        </p:grpSpPr>
        <p:sp>
          <p:nvSpPr>
            <p:cNvPr name="Freeform 20" id="20" descr="/mnt/data/a_clean_high_tech_logistics_supply_chain_infogr_batch_1.png"/>
            <p:cNvSpPr/>
            <p:nvPr/>
          </p:nvSpPr>
          <p:spPr>
            <a:xfrm flipH="false" flipV="false" rot="0">
              <a:off x="0" y="0"/>
              <a:ext cx="8634375" cy="8608060"/>
            </a:xfrm>
            <a:custGeom>
              <a:avLst/>
              <a:gdLst/>
              <a:ahLst/>
              <a:cxnLst/>
              <a:rect r="r" b="b" t="t" l="l"/>
              <a:pathLst>
                <a:path h="8608060" w="8634375">
                  <a:moveTo>
                    <a:pt x="0" y="0"/>
                  </a:moveTo>
                  <a:lnTo>
                    <a:pt x="8634375" y="0"/>
                  </a:lnTo>
                  <a:lnTo>
                    <a:pt x="8634375" y="8608060"/>
                  </a:lnTo>
                  <a:lnTo>
                    <a:pt x="0" y="8608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7104" t="-28204" r="0" b="0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115187" y="2527935"/>
            <a:ext cx="4133850" cy="4613910"/>
            <a:chOff x="0" y="0"/>
            <a:chExt cx="5511800" cy="615188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511800" cy="6151880"/>
            </a:xfrm>
            <a:custGeom>
              <a:avLst/>
              <a:gdLst/>
              <a:ahLst/>
              <a:cxnLst/>
              <a:rect r="r" b="b" t="t" l="l"/>
              <a:pathLst>
                <a:path h="6151880" w="55118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364861" y="0"/>
                  </a:lnTo>
                  <a:cubicBezTo>
                    <a:pt x="5446014" y="0"/>
                    <a:pt x="5511800" y="65786"/>
                    <a:pt x="5511800" y="146939"/>
                  </a:cubicBezTo>
                  <a:lnTo>
                    <a:pt x="5511800" y="6004941"/>
                  </a:lnTo>
                  <a:cubicBezTo>
                    <a:pt x="5511800" y="6086094"/>
                    <a:pt x="5446014" y="6151880"/>
                    <a:pt x="5364861" y="6151880"/>
                  </a:cubicBezTo>
                  <a:lnTo>
                    <a:pt x="146939" y="6151880"/>
                  </a:lnTo>
                  <a:cubicBezTo>
                    <a:pt x="65786" y="6151880"/>
                    <a:pt x="0" y="6086094"/>
                    <a:pt x="0" y="60049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362075" y="2843403"/>
            <a:ext cx="814578" cy="814578"/>
            <a:chOff x="0" y="0"/>
            <a:chExt cx="1086104" cy="108610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371600" y="3072384"/>
            <a:ext cx="795528" cy="414821"/>
            <a:chOff x="0" y="0"/>
            <a:chExt cx="1060704" cy="55309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0704" cy="553094"/>
            </a:xfrm>
            <a:custGeom>
              <a:avLst/>
              <a:gdLst/>
              <a:ahLst/>
              <a:cxnLst/>
              <a:rect r="r" b="b" t="t" l="l"/>
              <a:pathLst>
                <a:path h="55309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53094"/>
                  </a:lnTo>
                  <a:lnTo>
                    <a:pt x="0" y="553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5" r="0" b="3618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60704" cy="553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427732" y="2798064"/>
            <a:ext cx="2263140" cy="356616"/>
            <a:chOff x="0" y="0"/>
            <a:chExt cx="3017520" cy="4754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3017520" cy="475488"/>
            </a:xfrm>
            <a:custGeom>
              <a:avLst/>
              <a:gdLst/>
              <a:ahLst/>
              <a:cxnLst/>
              <a:rect r="r" b="b" t="t" l="l"/>
              <a:pathLst>
                <a:path h="47548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301752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1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2427732" y="3250692"/>
            <a:ext cx="2468880" cy="274320"/>
            <a:chOff x="0" y="0"/>
            <a:chExt cx="3291840" cy="36576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291840" cy="365760"/>
            </a:xfrm>
            <a:custGeom>
              <a:avLst/>
              <a:gdLst/>
              <a:ahLst/>
              <a:cxnLst/>
              <a:rect r="r" b="b" t="t" l="l"/>
              <a:pathLst>
                <a:path h="36576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32918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Data Preprocessing</a:t>
              </a: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1399032" y="4046220"/>
            <a:ext cx="3538728" cy="200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Cleaned and validated the merged Olist dataset using Python, missing-value treatment, feature engineering and IQR outlier handling.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99032" y="6336792"/>
            <a:ext cx="3497580" cy="329184"/>
            <a:chOff x="0" y="0"/>
            <a:chExt cx="4663440" cy="4389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663440" cy="438912"/>
            </a:xfrm>
            <a:custGeom>
              <a:avLst/>
              <a:gdLst/>
              <a:ahLst/>
              <a:cxnLst/>
              <a:rect r="r" b="b" t="t" l="l"/>
              <a:pathLst>
                <a:path h="438912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46634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OUTPUT: 66,039 clean rows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094095" y="2527935"/>
            <a:ext cx="4133850" cy="4613910"/>
            <a:chOff x="0" y="0"/>
            <a:chExt cx="5511800" cy="615188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511800" cy="6151880"/>
            </a:xfrm>
            <a:custGeom>
              <a:avLst/>
              <a:gdLst/>
              <a:ahLst/>
              <a:cxnLst/>
              <a:rect r="r" b="b" t="t" l="l"/>
              <a:pathLst>
                <a:path h="6151880" w="55118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364861" y="0"/>
                  </a:lnTo>
                  <a:cubicBezTo>
                    <a:pt x="5446014" y="0"/>
                    <a:pt x="5511800" y="65786"/>
                    <a:pt x="5511800" y="146939"/>
                  </a:cubicBezTo>
                  <a:lnTo>
                    <a:pt x="5511800" y="6004941"/>
                  </a:lnTo>
                  <a:cubicBezTo>
                    <a:pt x="5511800" y="6086094"/>
                    <a:pt x="5446014" y="6151880"/>
                    <a:pt x="5364861" y="6151880"/>
                  </a:cubicBezTo>
                  <a:lnTo>
                    <a:pt x="146939" y="6151880"/>
                  </a:lnTo>
                  <a:cubicBezTo>
                    <a:pt x="65786" y="6151880"/>
                    <a:pt x="0" y="6086094"/>
                    <a:pt x="0" y="60049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6340983" y="2843403"/>
            <a:ext cx="814578" cy="814578"/>
            <a:chOff x="0" y="0"/>
            <a:chExt cx="1086104" cy="108610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6350508" y="3072384"/>
            <a:ext cx="795528" cy="414821"/>
            <a:chOff x="0" y="0"/>
            <a:chExt cx="1060704" cy="55309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60704" cy="553094"/>
            </a:xfrm>
            <a:custGeom>
              <a:avLst/>
              <a:gdLst/>
              <a:ahLst/>
              <a:cxnLst/>
              <a:rect r="r" b="b" t="t" l="l"/>
              <a:pathLst>
                <a:path h="55309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53094"/>
                  </a:lnTo>
                  <a:lnTo>
                    <a:pt x="0" y="553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5" r="0" b="36180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1060704" cy="553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406640" y="2798064"/>
            <a:ext cx="2263140" cy="356616"/>
            <a:chOff x="0" y="0"/>
            <a:chExt cx="3017520" cy="47548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017520" cy="475488"/>
            </a:xfrm>
            <a:custGeom>
              <a:avLst/>
              <a:gdLst/>
              <a:ahLst/>
              <a:cxnLst/>
              <a:rect r="r" b="b" t="t" l="l"/>
              <a:pathLst>
                <a:path h="47548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-9525"/>
              <a:ext cx="301752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7406640" y="3250692"/>
            <a:ext cx="2468880" cy="274320"/>
            <a:chOff x="0" y="0"/>
            <a:chExt cx="3291840" cy="36576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291840" cy="365760"/>
            </a:xfrm>
            <a:custGeom>
              <a:avLst/>
              <a:gdLst/>
              <a:ahLst/>
              <a:cxnLst/>
              <a:rect r="r" b="b" t="t" l="l"/>
              <a:pathLst>
                <a:path h="36576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32918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 BI Visibility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6377940" y="4046220"/>
            <a:ext cx="3538728" cy="200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Built a five-page Supply Chain Control Tower for product movement, delivery, regional drilldown, trends and variance.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6377940" y="6336792"/>
            <a:ext cx="3497580" cy="329184"/>
            <a:chOff x="0" y="0"/>
            <a:chExt cx="4663440" cy="43891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4663440" cy="438912"/>
            </a:xfrm>
            <a:custGeom>
              <a:avLst/>
              <a:gdLst/>
              <a:ahLst/>
              <a:cxnLst/>
              <a:rect r="r" b="b" t="t" l="l"/>
              <a:pathLst>
                <a:path h="438912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46634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OUTPUT: 5 Decision-Ready Pages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073003" y="2527935"/>
            <a:ext cx="4133850" cy="4613910"/>
            <a:chOff x="0" y="0"/>
            <a:chExt cx="5511800" cy="61518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511800" cy="6151880"/>
            </a:xfrm>
            <a:custGeom>
              <a:avLst/>
              <a:gdLst/>
              <a:ahLst/>
              <a:cxnLst/>
              <a:rect r="r" b="b" t="t" l="l"/>
              <a:pathLst>
                <a:path h="6151880" w="5511800">
                  <a:moveTo>
                    <a:pt x="0" y="146939"/>
                  </a:moveTo>
                  <a:cubicBezTo>
                    <a:pt x="0" y="65786"/>
                    <a:pt x="65786" y="0"/>
                    <a:pt x="146939" y="0"/>
                  </a:cubicBezTo>
                  <a:lnTo>
                    <a:pt x="5364861" y="0"/>
                  </a:lnTo>
                  <a:cubicBezTo>
                    <a:pt x="5446014" y="0"/>
                    <a:pt x="5511800" y="65786"/>
                    <a:pt x="5511800" y="146939"/>
                  </a:cubicBezTo>
                  <a:lnTo>
                    <a:pt x="5511800" y="6004941"/>
                  </a:lnTo>
                  <a:cubicBezTo>
                    <a:pt x="5511800" y="6086094"/>
                    <a:pt x="5446014" y="6151880"/>
                    <a:pt x="5364861" y="6151880"/>
                  </a:cubicBezTo>
                  <a:lnTo>
                    <a:pt x="146939" y="6151880"/>
                  </a:lnTo>
                  <a:cubicBezTo>
                    <a:pt x="65786" y="6151880"/>
                    <a:pt x="0" y="6086094"/>
                    <a:pt x="0" y="6004941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1319891" y="2843403"/>
            <a:ext cx="814578" cy="814578"/>
            <a:chOff x="0" y="0"/>
            <a:chExt cx="1086104" cy="108610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86104" cy="1086104"/>
            </a:xfrm>
            <a:custGeom>
              <a:avLst/>
              <a:gdLst/>
              <a:ahLst/>
              <a:cxnLst/>
              <a:rect r="r" b="b" t="t" l="l"/>
              <a:pathLst>
                <a:path h="1086104" w="1086104">
                  <a:moveTo>
                    <a:pt x="0" y="543052"/>
                  </a:moveTo>
                  <a:cubicBezTo>
                    <a:pt x="0" y="243078"/>
                    <a:pt x="243078" y="0"/>
                    <a:pt x="543052" y="0"/>
                  </a:cubicBezTo>
                  <a:cubicBezTo>
                    <a:pt x="843026" y="0"/>
                    <a:pt x="1086104" y="243078"/>
                    <a:pt x="1086104" y="543052"/>
                  </a:cubicBezTo>
                  <a:cubicBezTo>
                    <a:pt x="1086104" y="843026"/>
                    <a:pt x="843026" y="1086104"/>
                    <a:pt x="543052" y="1086104"/>
                  </a:cubicBezTo>
                  <a:cubicBezTo>
                    <a:pt x="243078" y="1086104"/>
                    <a:pt x="0" y="843026"/>
                    <a:pt x="0" y="54305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1329416" y="3072384"/>
            <a:ext cx="795528" cy="414821"/>
            <a:chOff x="0" y="0"/>
            <a:chExt cx="1060704" cy="55309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060704" cy="553094"/>
            </a:xfrm>
            <a:custGeom>
              <a:avLst/>
              <a:gdLst/>
              <a:ahLst/>
              <a:cxnLst/>
              <a:rect r="r" b="b" t="t" l="l"/>
              <a:pathLst>
                <a:path h="553094" w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553094"/>
                  </a:lnTo>
                  <a:lnTo>
                    <a:pt x="0" y="5530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915" r="0" b="3618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1060704" cy="5530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39"/>
                </a:lnSpc>
              </a:pPr>
              <a:r>
                <a:rPr lang="en-US" sz="219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2385548" y="2798064"/>
            <a:ext cx="2263140" cy="356616"/>
            <a:chOff x="0" y="0"/>
            <a:chExt cx="3017520" cy="4754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017520" cy="475488"/>
            </a:xfrm>
            <a:custGeom>
              <a:avLst/>
              <a:gdLst/>
              <a:ahLst/>
              <a:cxnLst/>
              <a:rect r="r" b="b" t="t" l="l"/>
              <a:pathLst>
                <a:path h="475488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655" r="0" b="-7365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017520" cy="4850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2385548" y="3250692"/>
            <a:ext cx="2468880" cy="274320"/>
            <a:chOff x="0" y="0"/>
            <a:chExt cx="3291840" cy="36576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291840" cy="365760"/>
            </a:xfrm>
            <a:custGeom>
              <a:avLst/>
              <a:gdLst/>
              <a:ahLst/>
              <a:cxnLst/>
              <a:rect r="r" b="b" t="t" l="l"/>
              <a:pathLst>
                <a:path h="365760" w="3291840">
                  <a:moveTo>
                    <a:pt x="0" y="0"/>
                  </a:moveTo>
                  <a:lnTo>
                    <a:pt x="3291840" y="0"/>
                  </a:lnTo>
                  <a:lnTo>
                    <a:pt x="329184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5365" r="0" b="-12536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291840" cy="3657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Analytics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1356848" y="4046220"/>
            <a:ext cx="3538728" cy="2002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36"/>
              </a:lnSpc>
            </a:pPr>
            <a:r>
              <a:rPr lang="en-US" sz="153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Added seller scorecards, transportation-cost analysis, route performance and advanced cross-KPI management views.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11356848" y="6336792"/>
            <a:ext cx="3497580" cy="329184"/>
            <a:chOff x="0" y="0"/>
            <a:chExt cx="4663440" cy="438912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4663440" cy="438912"/>
            </a:xfrm>
            <a:custGeom>
              <a:avLst/>
              <a:gdLst/>
              <a:ahLst/>
              <a:cxnLst/>
              <a:rect r="r" b="b" t="t" l="l"/>
              <a:pathLst>
                <a:path h="438912" w="4663440">
                  <a:moveTo>
                    <a:pt x="0" y="0"/>
                  </a:moveTo>
                  <a:lnTo>
                    <a:pt x="4663440" y="0"/>
                  </a:lnTo>
                  <a:lnTo>
                    <a:pt x="46634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028" r="0" b="-157028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46634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494"/>
                </a:lnSpc>
              </a:pPr>
              <a:r>
                <a:rPr lang="en-US" sz="1245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OUTPUT: 4 Analytical Workstreams</a:t>
              </a:r>
            </a:p>
          </p:txBody>
        </p:sp>
      </p:grpSp>
      <p:sp>
        <p:nvSpPr>
          <p:cNvPr name="AutoShape 72" id="72"/>
          <p:cNvSpPr/>
          <p:nvPr/>
        </p:nvSpPr>
        <p:spPr>
          <a:xfrm>
            <a:off x="5239512" y="4844415"/>
            <a:ext cx="785563" cy="0"/>
          </a:xfrm>
          <a:prstGeom prst="line">
            <a:avLst/>
          </a:prstGeom>
          <a:ln cap="rnd" w="19050">
            <a:solidFill>
              <a:srgbClr val="B9CADB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73" id="73"/>
          <p:cNvSpPr/>
          <p:nvPr/>
        </p:nvSpPr>
        <p:spPr>
          <a:xfrm>
            <a:off x="10221468" y="4844415"/>
            <a:ext cx="792556" cy="0"/>
          </a:xfrm>
          <a:prstGeom prst="line">
            <a:avLst/>
          </a:prstGeom>
          <a:ln cap="rnd" w="19050">
            <a:solidFill>
              <a:srgbClr val="B9CADB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74" id="74"/>
          <p:cNvGrpSpPr/>
          <p:nvPr/>
        </p:nvGrpSpPr>
        <p:grpSpPr>
          <a:xfrm rot="0">
            <a:off x="1124712" y="7612380"/>
            <a:ext cx="9623018" cy="1017479"/>
            <a:chOff x="0" y="0"/>
            <a:chExt cx="12830690" cy="135663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2830690" cy="1356639"/>
            </a:xfrm>
            <a:custGeom>
              <a:avLst/>
              <a:gdLst/>
              <a:ahLst/>
              <a:cxnLst/>
              <a:rect r="r" b="b" t="t" l="l"/>
              <a:pathLst>
                <a:path h="1356639" w="12830690">
                  <a:moveTo>
                    <a:pt x="0" y="0"/>
                  </a:moveTo>
                  <a:lnTo>
                    <a:pt x="12830690" y="0"/>
                  </a:lnTo>
                  <a:lnTo>
                    <a:pt x="12830690" y="1356639"/>
                  </a:lnTo>
                  <a:lnTo>
                    <a:pt x="0" y="135663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567" r="-7612" b="-13605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12830690" cy="135663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40"/>
                </a:lnSpc>
              </a:pPr>
              <a:r>
                <a:rPr lang="en-US" sz="19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analytical grain and data-quality decisions from Milestone 1 remain the foundation for every KPI that follows.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PREVIOUS MILESTONE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1 Recap — Data Preprocessing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Python preprocessing transformed the raw merged Olist data into an analysis-ready dataset.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116455"/>
            <a:ext cx="2967990" cy="1431798"/>
            <a:chOff x="0" y="0"/>
            <a:chExt cx="3957320" cy="19090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86003" y="2116455"/>
            <a:ext cx="87630" cy="1431798"/>
            <a:chOff x="0" y="0"/>
            <a:chExt cx="116840" cy="1909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14984" y="2290572"/>
            <a:ext cx="2619756" cy="274320"/>
            <a:chOff x="0" y="0"/>
            <a:chExt cx="3493008" cy="3657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Raw Records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14984" y="2647188"/>
            <a:ext cx="2619756" cy="521208"/>
            <a:chOff x="0" y="0"/>
            <a:chExt cx="3493008" cy="6949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119,143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14984" y="3154680"/>
            <a:ext cx="2619756" cy="246888"/>
            <a:chOff x="0" y="0"/>
            <a:chExt cx="3493008" cy="32918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40 raw columns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968115" y="2116455"/>
            <a:ext cx="2967990" cy="1431798"/>
            <a:chOff x="0" y="0"/>
            <a:chExt cx="3957320" cy="190906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3968115" y="2116455"/>
            <a:ext cx="87630" cy="1431798"/>
            <a:chOff x="0" y="0"/>
            <a:chExt cx="116840" cy="1909064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4197096" y="2290572"/>
            <a:ext cx="2619756" cy="274320"/>
            <a:chOff x="0" y="0"/>
            <a:chExt cx="3493008" cy="36576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Exact Duplicates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4197096" y="2647188"/>
            <a:ext cx="2619756" cy="521208"/>
            <a:chOff x="0" y="0"/>
            <a:chExt cx="3493008" cy="69494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4197096" y="3154680"/>
            <a:ext cx="2619756" cy="246888"/>
            <a:chOff x="0" y="0"/>
            <a:chExt cx="3493008" cy="329184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No exact duplicate rows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150227" y="2116455"/>
            <a:ext cx="2967990" cy="1431798"/>
            <a:chOff x="0" y="0"/>
            <a:chExt cx="3957320" cy="190906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7150227" y="2116455"/>
            <a:ext cx="87630" cy="1431798"/>
            <a:chOff x="0" y="0"/>
            <a:chExt cx="116840" cy="1909064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7379208" y="2290572"/>
            <a:ext cx="2619756" cy="274320"/>
            <a:chOff x="0" y="0"/>
            <a:chExt cx="3493008" cy="36576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Before IQR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379208" y="2647188"/>
            <a:ext cx="2619756" cy="521208"/>
            <a:chOff x="0" y="0"/>
            <a:chExt cx="3493008" cy="6949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81,170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379208" y="3154680"/>
            <a:ext cx="2619756" cy="246888"/>
            <a:chOff x="0" y="0"/>
            <a:chExt cx="3493008" cy="329184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Rows before outlier filtering</a:t>
              </a: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0332339" y="2116455"/>
            <a:ext cx="2967990" cy="1431798"/>
            <a:chOff x="0" y="0"/>
            <a:chExt cx="3957320" cy="190906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3957320" cy="1909064"/>
            </a:xfrm>
            <a:custGeom>
              <a:avLst/>
              <a:gdLst/>
              <a:ahLst/>
              <a:cxnLst/>
              <a:rect r="r" b="b" t="t" l="l"/>
              <a:pathLst>
                <a:path h="1909064" w="3957320">
                  <a:moveTo>
                    <a:pt x="0" y="148336"/>
                  </a:moveTo>
                  <a:cubicBezTo>
                    <a:pt x="0" y="66421"/>
                    <a:pt x="66421" y="0"/>
                    <a:pt x="148336" y="0"/>
                  </a:cubicBezTo>
                  <a:lnTo>
                    <a:pt x="3808984" y="0"/>
                  </a:lnTo>
                  <a:cubicBezTo>
                    <a:pt x="3890899" y="0"/>
                    <a:pt x="3957320" y="66421"/>
                    <a:pt x="3957320" y="148336"/>
                  </a:cubicBezTo>
                  <a:lnTo>
                    <a:pt x="3957320" y="1760728"/>
                  </a:lnTo>
                  <a:cubicBezTo>
                    <a:pt x="3957320" y="1842643"/>
                    <a:pt x="3890899" y="1909064"/>
                    <a:pt x="3808984" y="1909064"/>
                  </a:cubicBezTo>
                  <a:lnTo>
                    <a:pt x="148336" y="1909064"/>
                  </a:lnTo>
                  <a:cubicBezTo>
                    <a:pt x="66421" y="1909064"/>
                    <a:pt x="0" y="1842643"/>
                    <a:pt x="0" y="176072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332339" y="2116455"/>
            <a:ext cx="87630" cy="1431798"/>
            <a:chOff x="0" y="0"/>
            <a:chExt cx="116840" cy="190906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16840" cy="1909064"/>
            </a:xfrm>
            <a:custGeom>
              <a:avLst/>
              <a:gdLst/>
              <a:ahLst/>
              <a:cxnLst/>
              <a:rect r="r" b="b" t="t" l="l"/>
              <a:pathLst>
                <a:path h="1909064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909064"/>
                  </a:lnTo>
                  <a:lnTo>
                    <a:pt x="0" y="1909064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561320" y="2290572"/>
            <a:ext cx="2619756" cy="274320"/>
            <a:chOff x="0" y="0"/>
            <a:chExt cx="3493008" cy="36576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493008" cy="365760"/>
            </a:xfrm>
            <a:custGeom>
              <a:avLst/>
              <a:gdLst/>
              <a:ahLst/>
              <a:cxnLst/>
              <a:rect r="r" b="b" t="t" l="l"/>
              <a:pathLst>
                <a:path h="365760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6082" r="0" b="-136082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349300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Cleaned Output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561320" y="2647188"/>
            <a:ext cx="2619756" cy="521208"/>
            <a:chOff x="0" y="0"/>
            <a:chExt cx="3493008" cy="6949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3493008" cy="694944"/>
            </a:xfrm>
            <a:custGeom>
              <a:avLst/>
              <a:gdLst/>
              <a:ahLst/>
              <a:cxnLst/>
              <a:rect r="r" b="b" t="t" l="l"/>
              <a:pathLst>
                <a:path h="69494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937" r="0" b="-4793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349300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66,039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0561320" y="3154680"/>
            <a:ext cx="2619756" cy="246888"/>
            <a:chOff x="0" y="0"/>
            <a:chExt cx="3493008" cy="329184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3493008" cy="329184"/>
            </a:xfrm>
            <a:custGeom>
              <a:avLst/>
              <a:gdLst/>
              <a:ahLst/>
              <a:cxnLst/>
              <a:rect r="r" b="b" t="t" l="l"/>
              <a:pathLst>
                <a:path h="329184" w="3493008">
                  <a:moveTo>
                    <a:pt x="0" y="0"/>
                  </a:moveTo>
                  <a:lnTo>
                    <a:pt x="3493008" y="0"/>
                  </a:lnTo>
                  <a:lnTo>
                    <a:pt x="349300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757" r="0" b="-156757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0"/>
              <a:ext cx="349300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36 final columns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86003" y="4009263"/>
            <a:ext cx="10237470" cy="5025390"/>
            <a:chOff x="0" y="0"/>
            <a:chExt cx="13649960" cy="6700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13649961" cy="6700520"/>
            </a:xfrm>
            <a:custGeom>
              <a:avLst/>
              <a:gdLst/>
              <a:ahLst/>
              <a:cxnLst/>
              <a:rect r="r" b="b" t="t" l="l"/>
              <a:pathLst>
                <a:path h="6700520" w="13649961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13503148" y="0"/>
                  </a:lnTo>
                  <a:cubicBezTo>
                    <a:pt x="13584301" y="0"/>
                    <a:pt x="13649961" y="65786"/>
                    <a:pt x="13649961" y="146812"/>
                  </a:cubicBezTo>
                  <a:lnTo>
                    <a:pt x="13649961" y="6553708"/>
                  </a:lnTo>
                  <a:cubicBezTo>
                    <a:pt x="13649961" y="6634861"/>
                    <a:pt x="13584174" y="6700520"/>
                    <a:pt x="13503148" y="6700520"/>
                  </a:cubicBezTo>
                  <a:lnTo>
                    <a:pt x="146812" y="6700520"/>
                  </a:lnTo>
                  <a:cubicBezTo>
                    <a:pt x="65786" y="6700520"/>
                    <a:pt x="0" y="6634734"/>
                    <a:pt x="0" y="655370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1115187" y="4352163"/>
            <a:ext cx="2638806" cy="623697"/>
            <a:chOff x="0" y="0"/>
            <a:chExt cx="3518408" cy="83159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3518408" cy="831596"/>
            </a:xfrm>
            <a:custGeom>
              <a:avLst/>
              <a:gdLst/>
              <a:ahLst/>
              <a:cxnLst/>
              <a:rect r="r" b="b" t="t" l="l"/>
              <a:pathLst>
                <a:path h="831596" w="3518408">
                  <a:moveTo>
                    <a:pt x="0" y="178227"/>
                  </a:moveTo>
                  <a:cubicBezTo>
                    <a:pt x="0" y="79780"/>
                    <a:pt x="62433" y="0"/>
                    <a:pt x="139475" y="0"/>
                  </a:cubicBezTo>
                  <a:lnTo>
                    <a:pt x="3378933" y="0"/>
                  </a:lnTo>
                  <a:cubicBezTo>
                    <a:pt x="3455975" y="0"/>
                    <a:pt x="3518408" y="79780"/>
                    <a:pt x="3518408" y="178227"/>
                  </a:cubicBezTo>
                  <a:lnTo>
                    <a:pt x="3518408" y="653369"/>
                  </a:lnTo>
                  <a:cubicBezTo>
                    <a:pt x="3518408" y="751816"/>
                    <a:pt x="3455975" y="831596"/>
                    <a:pt x="3378933" y="831596"/>
                  </a:cubicBezTo>
                  <a:lnTo>
                    <a:pt x="139475" y="831596"/>
                  </a:lnTo>
                  <a:cubicBezTo>
                    <a:pt x="62433" y="831596"/>
                    <a:pt x="0" y="751816"/>
                    <a:pt x="0" y="653369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289304" y="4437126"/>
            <a:ext cx="1892066" cy="462534"/>
            <a:chOff x="0" y="0"/>
            <a:chExt cx="2522755" cy="6167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522755" cy="616712"/>
            </a:xfrm>
            <a:custGeom>
              <a:avLst/>
              <a:gdLst/>
              <a:ahLst/>
              <a:cxnLst/>
              <a:rect r="r" b="b" t="t" l="l"/>
              <a:pathLst>
                <a:path h="616712" w="2522755">
                  <a:moveTo>
                    <a:pt x="0" y="0"/>
                  </a:moveTo>
                  <a:lnTo>
                    <a:pt x="2522755" y="0"/>
                  </a:lnTo>
                  <a:lnTo>
                    <a:pt x="2522755" y="616712"/>
                  </a:lnTo>
                  <a:lnTo>
                    <a:pt x="0" y="616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912" r="7572" b="5571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0"/>
              <a:ext cx="2522755" cy="6167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CLEANING WORKFLOW</a:t>
              </a:r>
            </a:p>
          </p:txBody>
        </p:sp>
      </p:grpSp>
      <p:grpSp>
        <p:nvGrpSpPr>
          <p:cNvPr name="Group 78" id="78"/>
          <p:cNvGrpSpPr/>
          <p:nvPr/>
        </p:nvGrpSpPr>
        <p:grpSpPr>
          <a:xfrm rot="0">
            <a:off x="1152144" y="5294376"/>
            <a:ext cx="480060" cy="219456"/>
            <a:chOff x="0" y="0"/>
            <a:chExt cx="640080" cy="2926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755648" y="5280660"/>
            <a:ext cx="1618488" cy="246888"/>
            <a:chOff x="0" y="0"/>
            <a:chExt cx="2157984" cy="3291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Profile</a:t>
              </a:r>
            </a:p>
          </p:txBody>
        </p:sp>
      </p:grpSp>
      <p:grpSp>
        <p:nvGrpSpPr>
          <p:cNvPr name="Group 84" id="84"/>
          <p:cNvGrpSpPr/>
          <p:nvPr/>
        </p:nvGrpSpPr>
        <p:grpSpPr>
          <a:xfrm rot="0">
            <a:off x="3401568" y="5280660"/>
            <a:ext cx="6803136" cy="246888"/>
            <a:chOff x="0" y="0"/>
            <a:chExt cx="9070848" cy="329184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shape • dtypes • nulls • duplicates</a:t>
              </a:r>
            </a:p>
          </p:txBody>
        </p:sp>
      </p:grpSp>
      <p:sp>
        <p:nvSpPr>
          <p:cNvPr name="AutoShape 87" id="87"/>
          <p:cNvSpPr/>
          <p:nvPr/>
        </p:nvSpPr>
        <p:spPr>
          <a:xfrm>
            <a:off x="1357889" y="5558861"/>
            <a:ext cx="0" cy="293989"/>
          </a:xfrm>
          <a:prstGeom prst="line">
            <a:avLst/>
          </a:prstGeom>
          <a:ln cap="rnd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8" id="88"/>
          <p:cNvGrpSpPr/>
          <p:nvPr/>
        </p:nvGrpSpPr>
        <p:grpSpPr>
          <a:xfrm rot="0">
            <a:off x="1152144" y="5897880"/>
            <a:ext cx="480060" cy="219456"/>
            <a:chOff x="0" y="0"/>
            <a:chExt cx="640080" cy="29260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1755648" y="5884164"/>
            <a:ext cx="1618488" cy="246888"/>
            <a:chOff x="0" y="0"/>
            <a:chExt cx="2157984" cy="329184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Clean</a:t>
              </a:r>
            </a:p>
          </p:txBody>
        </p:sp>
      </p:grpSp>
      <p:grpSp>
        <p:nvGrpSpPr>
          <p:cNvPr name="Group 94" id="94"/>
          <p:cNvGrpSpPr/>
          <p:nvPr/>
        </p:nvGrpSpPr>
        <p:grpSpPr>
          <a:xfrm rot="0">
            <a:off x="3401568" y="5884164"/>
            <a:ext cx="6803136" cy="246888"/>
            <a:chOff x="0" y="0"/>
            <a:chExt cx="9070848" cy="32918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drop noise • fill categorical/numeric gaps</a:t>
              </a:r>
            </a:p>
          </p:txBody>
        </p:sp>
      </p:grpSp>
      <p:sp>
        <p:nvSpPr>
          <p:cNvPr name="AutoShape 97" id="97"/>
          <p:cNvSpPr/>
          <p:nvPr/>
        </p:nvSpPr>
        <p:spPr>
          <a:xfrm>
            <a:off x="1357889" y="6164961"/>
            <a:ext cx="0" cy="293989"/>
          </a:xfrm>
          <a:prstGeom prst="line">
            <a:avLst/>
          </a:prstGeom>
          <a:ln cap="rnd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8" id="98"/>
          <p:cNvGrpSpPr/>
          <p:nvPr/>
        </p:nvGrpSpPr>
        <p:grpSpPr>
          <a:xfrm rot="0">
            <a:off x="1152144" y="6501384"/>
            <a:ext cx="480060" cy="219456"/>
            <a:chOff x="0" y="0"/>
            <a:chExt cx="640080" cy="292608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755648" y="6487668"/>
            <a:ext cx="1618488" cy="246888"/>
            <a:chOff x="0" y="0"/>
            <a:chExt cx="2157984" cy="329184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Validate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3401568" y="6487668"/>
            <a:ext cx="6803136" cy="246888"/>
            <a:chOff x="0" y="0"/>
            <a:chExt cx="9070848" cy="329184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price • freight • product dimensions</a:t>
              </a:r>
            </a:p>
          </p:txBody>
        </p:sp>
      </p:grpSp>
      <p:sp>
        <p:nvSpPr>
          <p:cNvPr name="AutoShape 107" id="107"/>
          <p:cNvSpPr/>
          <p:nvPr/>
        </p:nvSpPr>
        <p:spPr>
          <a:xfrm flipH="true">
            <a:off x="1357889" y="6768465"/>
            <a:ext cx="0" cy="293989"/>
          </a:xfrm>
          <a:prstGeom prst="line">
            <a:avLst/>
          </a:prstGeom>
          <a:ln cap="rnd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8" id="108"/>
          <p:cNvGrpSpPr/>
          <p:nvPr/>
        </p:nvGrpSpPr>
        <p:grpSpPr>
          <a:xfrm rot="0">
            <a:off x="1152144" y="7104888"/>
            <a:ext cx="480060" cy="219456"/>
            <a:chOff x="0" y="0"/>
            <a:chExt cx="640080" cy="292608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10" id="11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111" id="111"/>
          <p:cNvGrpSpPr/>
          <p:nvPr/>
        </p:nvGrpSpPr>
        <p:grpSpPr>
          <a:xfrm rot="0">
            <a:off x="1755648" y="7091172"/>
            <a:ext cx="1618488" cy="246888"/>
            <a:chOff x="0" y="0"/>
            <a:chExt cx="2157984" cy="329184"/>
          </a:xfrm>
        </p:grpSpPr>
        <p:sp>
          <p:nvSpPr>
            <p:cNvPr name="Freeform 112" id="11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13" id="11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Engineer</a:t>
              </a:r>
            </a:p>
          </p:txBody>
        </p:sp>
      </p:grpSp>
      <p:grpSp>
        <p:nvGrpSpPr>
          <p:cNvPr name="Group 114" id="114"/>
          <p:cNvGrpSpPr/>
          <p:nvPr/>
        </p:nvGrpSpPr>
        <p:grpSpPr>
          <a:xfrm rot="0">
            <a:off x="3401568" y="7091172"/>
            <a:ext cx="6803136" cy="246888"/>
            <a:chOff x="0" y="0"/>
            <a:chExt cx="9070848" cy="329184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delivery_delay from actual vs estimated date</a:t>
              </a:r>
            </a:p>
          </p:txBody>
        </p:sp>
      </p:grpSp>
      <p:sp>
        <p:nvSpPr>
          <p:cNvPr name="AutoShape 117" id="117"/>
          <p:cNvSpPr/>
          <p:nvPr/>
        </p:nvSpPr>
        <p:spPr>
          <a:xfrm>
            <a:off x="1357889" y="7371969"/>
            <a:ext cx="0" cy="293989"/>
          </a:xfrm>
          <a:prstGeom prst="line">
            <a:avLst/>
          </a:prstGeom>
          <a:ln cap="rnd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8" id="118"/>
          <p:cNvGrpSpPr/>
          <p:nvPr/>
        </p:nvGrpSpPr>
        <p:grpSpPr>
          <a:xfrm rot="0">
            <a:off x="1152144" y="7708392"/>
            <a:ext cx="480060" cy="219456"/>
            <a:chOff x="0" y="0"/>
            <a:chExt cx="640080" cy="292608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121" id="121"/>
          <p:cNvGrpSpPr/>
          <p:nvPr/>
        </p:nvGrpSpPr>
        <p:grpSpPr>
          <a:xfrm rot="0">
            <a:off x="1755648" y="7694676"/>
            <a:ext cx="1618488" cy="246888"/>
            <a:chOff x="0" y="0"/>
            <a:chExt cx="2157984" cy="329184"/>
          </a:xfrm>
        </p:grpSpPr>
        <p:sp>
          <p:nvSpPr>
            <p:cNvPr name="Freeform 122" id="12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23" id="12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Treat outliers</a:t>
              </a:r>
            </a:p>
          </p:txBody>
        </p:sp>
      </p:grpSp>
      <p:grpSp>
        <p:nvGrpSpPr>
          <p:cNvPr name="Group 124" id="124"/>
          <p:cNvGrpSpPr/>
          <p:nvPr/>
        </p:nvGrpSpPr>
        <p:grpSpPr>
          <a:xfrm rot="0">
            <a:off x="3401568" y="7694676"/>
            <a:ext cx="6803136" cy="246888"/>
            <a:chOff x="0" y="0"/>
            <a:chExt cx="9070848" cy="329184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IQR-based filtering of extreme values</a:t>
              </a:r>
            </a:p>
          </p:txBody>
        </p:sp>
      </p:grpSp>
      <p:sp>
        <p:nvSpPr>
          <p:cNvPr name="AutoShape 127" id="127"/>
          <p:cNvSpPr/>
          <p:nvPr/>
        </p:nvSpPr>
        <p:spPr>
          <a:xfrm>
            <a:off x="1357889" y="7975473"/>
            <a:ext cx="0" cy="293989"/>
          </a:xfrm>
          <a:prstGeom prst="line">
            <a:avLst/>
          </a:prstGeom>
          <a:ln cap="rnd" w="9525">
            <a:solidFill>
              <a:srgbClr val="CBD5E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8" id="128"/>
          <p:cNvGrpSpPr/>
          <p:nvPr/>
        </p:nvGrpSpPr>
        <p:grpSpPr>
          <a:xfrm rot="0">
            <a:off x="1152144" y="8311896"/>
            <a:ext cx="480060" cy="219456"/>
            <a:chOff x="0" y="0"/>
            <a:chExt cx="640080" cy="292608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640080" cy="292608"/>
            </a:xfrm>
            <a:custGeom>
              <a:avLst/>
              <a:gdLst/>
              <a:ahLst/>
              <a:cxnLst/>
              <a:rect r="r" b="b" t="t" l="l"/>
              <a:pathLst>
                <a:path h="292608" w="640080">
                  <a:moveTo>
                    <a:pt x="0" y="0"/>
                  </a:moveTo>
                  <a:lnTo>
                    <a:pt x="640080" y="0"/>
                  </a:lnTo>
                  <a:lnTo>
                    <a:pt x="64008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653" t="0" r="-8653" b="0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9525"/>
              <a:ext cx="640080" cy="30213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06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755648" y="8298180"/>
            <a:ext cx="1618488" cy="246888"/>
            <a:chOff x="0" y="0"/>
            <a:chExt cx="2157984" cy="329184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157984" cy="329184"/>
            </a:xfrm>
            <a:custGeom>
              <a:avLst/>
              <a:gdLst/>
              <a:ahLst/>
              <a:cxnLst/>
              <a:rect r="r" b="b" t="t" l="l"/>
              <a:pathLst>
                <a:path h="329184" w="2157984">
                  <a:moveTo>
                    <a:pt x="0" y="0"/>
                  </a:moveTo>
                  <a:lnTo>
                    <a:pt x="2157984" y="0"/>
                  </a:lnTo>
                  <a:lnTo>
                    <a:pt x="21579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7735" r="0" b="-77735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0"/>
              <a:ext cx="2157984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27"/>
                </a:lnSpc>
              </a:pPr>
              <a:r>
                <a:rPr lang="en-US" sz="143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Export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3401568" y="8298180"/>
            <a:ext cx="6803136" cy="246888"/>
            <a:chOff x="0" y="0"/>
            <a:chExt cx="9070848" cy="329184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9070848" cy="329184"/>
            </a:xfrm>
            <a:custGeom>
              <a:avLst/>
              <a:gdLst/>
              <a:ahLst/>
              <a:cxnLst/>
              <a:rect r="r" b="b" t="t" l="l"/>
              <a:pathLst>
                <a:path h="329184" w="9070848">
                  <a:moveTo>
                    <a:pt x="0" y="0"/>
                  </a:moveTo>
                  <a:lnTo>
                    <a:pt x="9070848" y="0"/>
                  </a:lnTo>
                  <a:lnTo>
                    <a:pt x="9070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86921" r="0" b="-486921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9525"/>
              <a:ext cx="907084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02"/>
                </a:lnSpc>
              </a:pPr>
              <a:r>
                <a:rPr lang="en-US" sz="133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Supply_Chain_Cleaned_Dataset.csv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1402187" y="4009263"/>
            <a:ext cx="6081522" cy="2145030"/>
            <a:chOff x="0" y="0"/>
            <a:chExt cx="8108696" cy="2860040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108696" cy="2860040"/>
            </a:xfrm>
            <a:custGeom>
              <a:avLst/>
              <a:gdLst/>
              <a:ahLst/>
              <a:cxnLst/>
              <a:rect r="r" b="b" t="t" l="l"/>
              <a:pathLst>
                <a:path h="2860040" w="8108696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7961122" y="0"/>
                  </a:lnTo>
                  <a:cubicBezTo>
                    <a:pt x="8042656" y="0"/>
                    <a:pt x="8108696" y="66040"/>
                    <a:pt x="8108696" y="147574"/>
                  </a:cubicBezTo>
                  <a:lnTo>
                    <a:pt x="8108696" y="2712466"/>
                  </a:lnTo>
                  <a:cubicBezTo>
                    <a:pt x="8108696" y="2794000"/>
                    <a:pt x="8042656" y="2860040"/>
                    <a:pt x="7961122" y="2860040"/>
                  </a:cubicBezTo>
                  <a:lnTo>
                    <a:pt x="147574" y="2860040"/>
                  </a:lnTo>
                  <a:cubicBezTo>
                    <a:pt x="66040" y="2860040"/>
                    <a:pt x="0" y="2794000"/>
                    <a:pt x="0" y="2712466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139" id="139"/>
          <p:cNvGrpSpPr/>
          <p:nvPr/>
        </p:nvGrpSpPr>
        <p:grpSpPr>
          <a:xfrm rot="0">
            <a:off x="11631168" y="4183380"/>
            <a:ext cx="5623560" cy="246888"/>
            <a:chOff x="0" y="0"/>
            <a:chExt cx="7498080" cy="329184"/>
          </a:xfrm>
        </p:grpSpPr>
        <p:sp>
          <p:nvSpPr>
            <p:cNvPr name="Freeform 140" id="140"/>
            <p:cNvSpPr/>
            <p:nvPr/>
          </p:nvSpPr>
          <p:spPr>
            <a:xfrm flipH="false" flipV="false" rot="0">
              <a:off x="0" y="0"/>
              <a:ext cx="7498080" cy="329184"/>
            </a:xfrm>
            <a:custGeom>
              <a:avLst/>
              <a:gdLst/>
              <a:ahLst/>
              <a:cxnLst/>
              <a:rect r="r" b="b" t="t" l="l"/>
              <a:pathLst>
                <a:path h="32918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41" id="141"/>
            <p:cNvSpPr txBox="true"/>
            <p:nvPr/>
          </p:nvSpPr>
          <p:spPr>
            <a:xfrm>
              <a:off x="0" y="-9525"/>
              <a:ext cx="74980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FEATURE ENGINEERING — PYTHON LOGIC</a:t>
              </a:r>
            </a:p>
          </p:txBody>
        </p:sp>
      </p:grpSp>
      <p:sp>
        <p:nvSpPr>
          <p:cNvPr name="TextBox 142" id="142"/>
          <p:cNvSpPr txBox="true"/>
          <p:nvPr/>
        </p:nvSpPr>
        <p:spPr>
          <a:xfrm rot="0">
            <a:off x="11631168" y="4520946"/>
            <a:ext cx="5623560" cy="148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delivery_delay =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delivered_customer_date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− estimated_delivery_date</a:t>
            </a:r>
          </a:p>
        </p:txBody>
      </p:sp>
      <p:grpSp>
        <p:nvGrpSpPr>
          <p:cNvPr name="Group 143" id="143"/>
          <p:cNvGrpSpPr/>
          <p:nvPr/>
        </p:nvGrpSpPr>
        <p:grpSpPr>
          <a:xfrm rot="0">
            <a:off x="11402187" y="6382131"/>
            <a:ext cx="6081522" cy="2652522"/>
            <a:chOff x="0" y="0"/>
            <a:chExt cx="8108696" cy="3536696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8108696" cy="3536696"/>
            </a:xfrm>
            <a:custGeom>
              <a:avLst/>
              <a:gdLst/>
              <a:ahLst/>
              <a:cxnLst/>
              <a:rect r="r" b="b" t="t" l="l"/>
              <a:pathLst>
                <a:path h="3536696" w="8108696">
                  <a:moveTo>
                    <a:pt x="0" y="147320"/>
                  </a:moveTo>
                  <a:cubicBezTo>
                    <a:pt x="0" y="66040"/>
                    <a:pt x="66040" y="0"/>
                    <a:pt x="147320" y="0"/>
                  </a:cubicBezTo>
                  <a:lnTo>
                    <a:pt x="7961376" y="0"/>
                  </a:lnTo>
                  <a:cubicBezTo>
                    <a:pt x="8042783" y="0"/>
                    <a:pt x="8108696" y="66040"/>
                    <a:pt x="8108696" y="147320"/>
                  </a:cubicBezTo>
                  <a:lnTo>
                    <a:pt x="8108696" y="3389376"/>
                  </a:lnTo>
                  <a:cubicBezTo>
                    <a:pt x="8108696" y="3470783"/>
                    <a:pt x="8042656" y="3536696"/>
                    <a:pt x="7961376" y="3536696"/>
                  </a:cubicBezTo>
                  <a:lnTo>
                    <a:pt x="147320" y="3536696"/>
                  </a:lnTo>
                  <a:cubicBezTo>
                    <a:pt x="65913" y="3536696"/>
                    <a:pt x="0" y="3470656"/>
                    <a:pt x="0" y="3389376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145" id="145"/>
          <p:cNvGrpSpPr/>
          <p:nvPr/>
        </p:nvGrpSpPr>
        <p:grpSpPr>
          <a:xfrm rot="0">
            <a:off x="11631168" y="6556248"/>
            <a:ext cx="5623560" cy="246888"/>
            <a:chOff x="0" y="0"/>
            <a:chExt cx="7498080" cy="329184"/>
          </a:xfrm>
        </p:grpSpPr>
        <p:sp>
          <p:nvSpPr>
            <p:cNvPr name="Freeform 146" id="146"/>
            <p:cNvSpPr/>
            <p:nvPr/>
          </p:nvSpPr>
          <p:spPr>
            <a:xfrm flipH="false" flipV="false" rot="0">
              <a:off x="0" y="0"/>
              <a:ext cx="7498080" cy="329184"/>
            </a:xfrm>
            <a:custGeom>
              <a:avLst/>
              <a:gdLst/>
              <a:ahLst/>
              <a:cxnLst/>
              <a:rect r="r" b="b" t="t" l="l"/>
              <a:pathLst>
                <a:path h="329184" w="7498080">
                  <a:moveTo>
                    <a:pt x="0" y="0"/>
                  </a:moveTo>
                  <a:lnTo>
                    <a:pt x="7498080" y="0"/>
                  </a:lnTo>
                  <a:lnTo>
                    <a:pt x="749808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3825" r="0" b="-393825"/>
              </a:stretch>
            </a:blipFill>
          </p:spPr>
        </p:sp>
        <p:sp>
          <p:nvSpPr>
            <p:cNvPr name="TextBox 147" id="147"/>
            <p:cNvSpPr txBox="true"/>
            <p:nvPr/>
          </p:nvSpPr>
          <p:spPr>
            <a:xfrm>
              <a:off x="0" y="-9525"/>
              <a:ext cx="749808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OUTLIER RULE — IQR</a:t>
              </a:r>
            </a:p>
          </p:txBody>
        </p:sp>
      </p:grpSp>
      <p:sp>
        <p:nvSpPr>
          <p:cNvPr name="TextBox 148" id="148"/>
          <p:cNvSpPr txBox="true"/>
          <p:nvPr/>
        </p:nvSpPr>
        <p:spPr>
          <a:xfrm rot="0">
            <a:off x="11631168" y="6893814"/>
            <a:ext cx="5623560" cy="1994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IQR = Q3 − Q1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Lower = Q1 − 1.5 × IQR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Upper = Q3 + 1.5 × IQR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Result: 66,039 rows retained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PREVIOUS MILESTONE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2 Recap — Supply Chain Control Tower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Five Power BI pages converted the cleaned dataset into interactive visibility and diagnostic analytics.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116455"/>
            <a:ext cx="5505450" cy="3242310"/>
            <a:chOff x="0" y="0"/>
            <a:chExt cx="7340600" cy="4323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0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340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93407" y="0"/>
                  </a:lnTo>
                  <a:cubicBezTo>
                    <a:pt x="7274687" y="0"/>
                    <a:pt x="7340600" y="65913"/>
                    <a:pt x="7340600" y="147193"/>
                  </a:cubicBezTo>
                  <a:lnTo>
                    <a:pt x="7340600" y="4175887"/>
                  </a:lnTo>
                  <a:cubicBezTo>
                    <a:pt x="7340600" y="4257167"/>
                    <a:pt x="7274687" y="4323080"/>
                    <a:pt x="7193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4ED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02579" y="2235708"/>
            <a:ext cx="4672298" cy="2702052"/>
            <a:chOff x="0" y="0"/>
            <a:chExt cx="6229731" cy="3602736"/>
          </a:xfrm>
        </p:grpSpPr>
        <p:sp>
          <p:nvSpPr>
            <p:cNvPr name="Freeform 22" id="22" descr="/mnt/data/ppt_assets/m2m3-1.png"/>
            <p:cNvSpPr/>
            <p:nvPr/>
          </p:nvSpPr>
          <p:spPr>
            <a:xfrm flipH="false" flipV="false" rot="0">
              <a:off x="0" y="0"/>
              <a:ext cx="6229731" cy="3602736"/>
            </a:xfrm>
            <a:custGeom>
              <a:avLst/>
              <a:gdLst/>
              <a:ahLst/>
              <a:cxnLst/>
              <a:rect r="r" b="b" t="t" l="l"/>
              <a:pathLst>
                <a:path h="3602736" w="6229731">
                  <a:moveTo>
                    <a:pt x="0" y="0"/>
                  </a:moveTo>
                  <a:lnTo>
                    <a:pt x="6229731" y="0"/>
                  </a:lnTo>
                  <a:lnTo>
                    <a:pt x="6229731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32688" y="5006340"/>
            <a:ext cx="5212080" cy="192024"/>
            <a:chOff x="0" y="0"/>
            <a:chExt cx="6949440" cy="2560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0" cy="256032"/>
            </a:xfrm>
            <a:custGeom>
              <a:avLst/>
              <a:gdLst/>
              <a:ahLst/>
              <a:cxnLst/>
              <a:rect r="r" b="b" t="t" l="l"/>
              <a:pathLst>
                <a:path h="2560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94944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4"/>
                </a:lnSpc>
              </a:pPr>
              <a:r>
                <a:rPr lang="en-US" sz="1170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1. Executive Supply Chain Overview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395847" y="2116455"/>
            <a:ext cx="5505450" cy="3242310"/>
            <a:chOff x="0" y="0"/>
            <a:chExt cx="7340600" cy="432308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7340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340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93407" y="0"/>
                  </a:lnTo>
                  <a:cubicBezTo>
                    <a:pt x="7274687" y="0"/>
                    <a:pt x="7340600" y="65913"/>
                    <a:pt x="7340600" y="147193"/>
                  </a:cubicBezTo>
                  <a:lnTo>
                    <a:pt x="7340600" y="4175887"/>
                  </a:lnTo>
                  <a:cubicBezTo>
                    <a:pt x="7340600" y="4257167"/>
                    <a:pt x="7274687" y="4323080"/>
                    <a:pt x="7193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4ED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6812423" y="2235708"/>
            <a:ext cx="4672298" cy="2702052"/>
            <a:chOff x="0" y="0"/>
            <a:chExt cx="6229731" cy="3602736"/>
          </a:xfrm>
        </p:grpSpPr>
        <p:sp>
          <p:nvSpPr>
            <p:cNvPr name="Freeform 29" id="29" descr="/mnt/data/ppt_assets/m2m3-2.png"/>
            <p:cNvSpPr/>
            <p:nvPr/>
          </p:nvSpPr>
          <p:spPr>
            <a:xfrm flipH="false" flipV="false" rot="0">
              <a:off x="0" y="0"/>
              <a:ext cx="6229731" cy="3602736"/>
            </a:xfrm>
            <a:custGeom>
              <a:avLst/>
              <a:gdLst/>
              <a:ahLst/>
              <a:cxnLst/>
              <a:rect r="r" b="b" t="t" l="l"/>
              <a:pathLst>
                <a:path h="3602736" w="6229731">
                  <a:moveTo>
                    <a:pt x="0" y="0"/>
                  </a:moveTo>
                  <a:lnTo>
                    <a:pt x="6229731" y="0"/>
                  </a:lnTo>
                  <a:lnTo>
                    <a:pt x="6229731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6542532" y="5006340"/>
            <a:ext cx="5212080" cy="192024"/>
            <a:chOff x="0" y="0"/>
            <a:chExt cx="6949440" cy="25603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949440" cy="256032"/>
            </a:xfrm>
            <a:custGeom>
              <a:avLst/>
              <a:gdLst/>
              <a:ahLst/>
              <a:cxnLst/>
              <a:rect r="r" b="b" t="t" l="l"/>
              <a:pathLst>
                <a:path h="2560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94944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4"/>
                </a:lnSpc>
              </a:pPr>
              <a:r>
                <a:rPr lang="en-US" sz="1170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2. Inventory Movement Intelligence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005691" y="2116455"/>
            <a:ext cx="5505450" cy="3242310"/>
            <a:chOff x="0" y="0"/>
            <a:chExt cx="7340600" cy="432308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340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340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93407" y="0"/>
                  </a:lnTo>
                  <a:cubicBezTo>
                    <a:pt x="7274687" y="0"/>
                    <a:pt x="7340600" y="65913"/>
                    <a:pt x="7340600" y="147193"/>
                  </a:cubicBezTo>
                  <a:lnTo>
                    <a:pt x="7340600" y="4175887"/>
                  </a:lnTo>
                  <a:cubicBezTo>
                    <a:pt x="7340600" y="4257167"/>
                    <a:pt x="7274687" y="4323080"/>
                    <a:pt x="7193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4ED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2422267" y="2235708"/>
            <a:ext cx="4672298" cy="2702052"/>
            <a:chOff x="0" y="0"/>
            <a:chExt cx="6229731" cy="3602736"/>
          </a:xfrm>
        </p:grpSpPr>
        <p:sp>
          <p:nvSpPr>
            <p:cNvPr name="Freeform 36" id="36" descr="/mnt/data/ppt_assets/m2m3-3.png"/>
            <p:cNvSpPr/>
            <p:nvPr/>
          </p:nvSpPr>
          <p:spPr>
            <a:xfrm flipH="false" flipV="false" rot="0">
              <a:off x="0" y="0"/>
              <a:ext cx="6229731" cy="3602736"/>
            </a:xfrm>
            <a:custGeom>
              <a:avLst/>
              <a:gdLst/>
              <a:ahLst/>
              <a:cxnLst/>
              <a:rect r="r" b="b" t="t" l="l"/>
              <a:pathLst>
                <a:path h="3602736" w="6229731">
                  <a:moveTo>
                    <a:pt x="0" y="0"/>
                  </a:moveTo>
                  <a:lnTo>
                    <a:pt x="6229731" y="0"/>
                  </a:lnTo>
                  <a:lnTo>
                    <a:pt x="6229731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2152376" y="5006340"/>
            <a:ext cx="5212080" cy="192024"/>
            <a:chOff x="0" y="0"/>
            <a:chExt cx="6949440" cy="2560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949440" cy="256032"/>
            </a:xfrm>
            <a:custGeom>
              <a:avLst/>
              <a:gdLst/>
              <a:ahLst/>
              <a:cxnLst/>
              <a:rect r="r" b="b" t="t" l="l"/>
              <a:pathLst>
                <a:path h="2560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694944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4"/>
                </a:lnSpc>
              </a:pPr>
              <a:r>
                <a:rPr lang="en-US" sz="1170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3. Delivery Performance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3597783" y="5710047"/>
            <a:ext cx="5505450" cy="3242310"/>
            <a:chOff x="0" y="0"/>
            <a:chExt cx="7340600" cy="432308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340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340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93407" y="0"/>
                  </a:lnTo>
                  <a:cubicBezTo>
                    <a:pt x="7274687" y="0"/>
                    <a:pt x="7340600" y="65913"/>
                    <a:pt x="7340600" y="147193"/>
                  </a:cubicBezTo>
                  <a:lnTo>
                    <a:pt x="7340600" y="4175887"/>
                  </a:lnTo>
                  <a:cubicBezTo>
                    <a:pt x="7340600" y="4257167"/>
                    <a:pt x="7274687" y="4323080"/>
                    <a:pt x="7193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4ED"/>
              </a:solidFill>
              <a:prstDash val="solid"/>
              <a:miter/>
            </a:ln>
          </p:spPr>
        </p:sp>
      </p:grpSp>
      <p:grpSp>
        <p:nvGrpSpPr>
          <p:cNvPr name="Group 42" id="42"/>
          <p:cNvGrpSpPr/>
          <p:nvPr/>
        </p:nvGrpSpPr>
        <p:grpSpPr>
          <a:xfrm rot="0">
            <a:off x="4014359" y="5829300"/>
            <a:ext cx="4672298" cy="2702052"/>
            <a:chOff x="0" y="0"/>
            <a:chExt cx="6229731" cy="3602736"/>
          </a:xfrm>
        </p:grpSpPr>
        <p:sp>
          <p:nvSpPr>
            <p:cNvPr name="Freeform 43" id="43" descr="/mnt/data/ppt_assets/m2m3-4.png"/>
            <p:cNvSpPr/>
            <p:nvPr/>
          </p:nvSpPr>
          <p:spPr>
            <a:xfrm flipH="false" flipV="false" rot="0">
              <a:off x="0" y="0"/>
              <a:ext cx="6229731" cy="3602736"/>
            </a:xfrm>
            <a:custGeom>
              <a:avLst/>
              <a:gdLst/>
              <a:ahLst/>
              <a:cxnLst/>
              <a:rect r="r" b="b" t="t" l="l"/>
              <a:pathLst>
                <a:path h="3602736" w="6229731">
                  <a:moveTo>
                    <a:pt x="0" y="0"/>
                  </a:moveTo>
                  <a:lnTo>
                    <a:pt x="6229731" y="0"/>
                  </a:lnTo>
                  <a:lnTo>
                    <a:pt x="6229731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3744468" y="8599932"/>
            <a:ext cx="5212080" cy="192024"/>
            <a:chOff x="0" y="0"/>
            <a:chExt cx="6949440" cy="25603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949440" cy="256032"/>
            </a:xfrm>
            <a:custGeom>
              <a:avLst/>
              <a:gdLst/>
              <a:ahLst/>
              <a:cxnLst/>
              <a:rect r="r" b="b" t="t" l="l"/>
              <a:pathLst>
                <a:path h="2560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9525"/>
              <a:ext cx="694944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4"/>
                </a:lnSpc>
              </a:pPr>
              <a:r>
                <a:rPr lang="en-US" sz="1170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 Region &amp; Product Drilldown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207627" y="5710047"/>
            <a:ext cx="5505450" cy="3242310"/>
            <a:chOff x="0" y="0"/>
            <a:chExt cx="7340600" cy="432308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40600" cy="4323080"/>
            </a:xfrm>
            <a:custGeom>
              <a:avLst/>
              <a:gdLst/>
              <a:ahLst/>
              <a:cxnLst/>
              <a:rect r="r" b="b" t="t" l="l"/>
              <a:pathLst>
                <a:path h="4323080" w="73406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193407" y="0"/>
                  </a:lnTo>
                  <a:cubicBezTo>
                    <a:pt x="7274687" y="0"/>
                    <a:pt x="7340600" y="65913"/>
                    <a:pt x="7340600" y="147193"/>
                  </a:cubicBezTo>
                  <a:lnTo>
                    <a:pt x="7340600" y="4175887"/>
                  </a:lnTo>
                  <a:cubicBezTo>
                    <a:pt x="7340600" y="4257167"/>
                    <a:pt x="7274687" y="4323080"/>
                    <a:pt x="7193407" y="4323080"/>
                  </a:cubicBezTo>
                  <a:lnTo>
                    <a:pt x="147193" y="4323080"/>
                  </a:lnTo>
                  <a:cubicBezTo>
                    <a:pt x="65913" y="4323080"/>
                    <a:pt x="0" y="4257167"/>
                    <a:pt x="0" y="41758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9E4ED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9624203" y="5829300"/>
            <a:ext cx="4672298" cy="2702052"/>
            <a:chOff x="0" y="0"/>
            <a:chExt cx="6229731" cy="3602736"/>
          </a:xfrm>
        </p:grpSpPr>
        <p:sp>
          <p:nvSpPr>
            <p:cNvPr name="Freeform 50" id="50" descr="/mnt/data/ppt_assets/m2m3-5.png"/>
            <p:cNvSpPr/>
            <p:nvPr/>
          </p:nvSpPr>
          <p:spPr>
            <a:xfrm flipH="false" flipV="false" rot="0">
              <a:off x="0" y="0"/>
              <a:ext cx="6229731" cy="3602736"/>
            </a:xfrm>
            <a:custGeom>
              <a:avLst/>
              <a:gdLst/>
              <a:ahLst/>
              <a:cxnLst/>
              <a:rect r="r" b="b" t="t" l="l"/>
              <a:pathLst>
                <a:path h="3602736" w="6229731">
                  <a:moveTo>
                    <a:pt x="0" y="0"/>
                  </a:moveTo>
                  <a:lnTo>
                    <a:pt x="6229731" y="0"/>
                  </a:lnTo>
                  <a:lnTo>
                    <a:pt x="6229731" y="3602736"/>
                  </a:lnTo>
                  <a:lnTo>
                    <a:pt x="0" y="36027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9354312" y="8599932"/>
            <a:ext cx="5212080" cy="192024"/>
            <a:chOff x="0" y="0"/>
            <a:chExt cx="6949440" cy="256032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49440" cy="256032"/>
            </a:xfrm>
            <a:custGeom>
              <a:avLst/>
              <a:gdLst/>
              <a:ahLst/>
              <a:cxnLst/>
              <a:rect r="r" b="b" t="t" l="l"/>
              <a:pathLst>
                <a:path h="256032" w="6949440">
                  <a:moveTo>
                    <a:pt x="0" y="0"/>
                  </a:moveTo>
                  <a:lnTo>
                    <a:pt x="6949440" y="0"/>
                  </a:lnTo>
                  <a:lnTo>
                    <a:pt x="694944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9525"/>
              <a:ext cx="6949440" cy="26555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04"/>
                </a:lnSpc>
              </a:pPr>
              <a:r>
                <a:rPr lang="en-US" sz="1170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 Trends &amp; Variance Analysis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MODEL &amp; DAX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2 Analytical Foundation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dashboard logic was designed around correct grain, transparent inventory assumptions and duplicate-safe measures.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212467"/>
            <a:ext cx="5340858" cy="2471605"/>
            <a:chOff x="0" y="0"/>
            <a:chExt cx="7121144" cy="329547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121144" cy="3295473"/>
            </a:xfrm>
            <a:custGeom>
              <a:avLst/>
              <a:gdLst/>
              <a:ahLst/>
              <a:cxnLst/>
              <a:rect r="r" b="b" t="t" l="l"/>
              <a:pathLst>
                <a:path h="3295473" w="7121144">
                  <a:moveTo>
                    <a:pt x="0" y="120899"/>
                  </a:moveTo>
                  <a:cubicBezTo>
                    <a:pt x="0" y="54139"/>
                    <a:pt x="65913" y="0"/>
                    <a:pt x="147193" y="0"/>
                  </a:cubicBezTo>
                  <a:lnTo>
                    <a:pt x="6973951" y="0"/>
                  </a:lnTo>
                  <a:cubicBezTo>
                    <a:pt x="7055231" y="0"/>
                    <a:pt x="7121144" y="54139"/>
                    <a:pt x="7121144" y="120899"/>
                  </a:cubicBezTo>
                  <a:lnTo>
                    <a:pt x="7121144" y="3174574"/>
                  </a:lnTo>
                  <a:cubicBezTo>
                    <a:pt x="7121144" y="3241334"/>
                    <a:pt x="7055231" y="3295473"/>
                    <a:pt x="6973951" y="3295473"/>
                  </a:cubicBezTo>
                  <a:lnTo>
                    <a:pt x="147193" y="3295473"/>
                  </a:lnTo>
                  <a:cubicBezTo>
                    <a:pt x="65913" y="3295473"/>
                    <a:pt x="0" y="3241335"/>
                    <a:pt x="0" y="3174574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32891" y="2431923"/>
            <a:ext cx="540258" cy="540258"/>
            <a:chOff x="0" y="0"/>
            <a:chExt cx="720344" cy="7203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2416" y="2570226"/>
            <a:ext cx="521208" cy="282702"/>
            <a:chOff x="0" y="0"/>
            <a:chExt cx="694944" cy="3769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" cy="376936"/>
            </a:xfrm>
            <a:custGeom>
              <a:avLst/>
              <a:gdLst/>
              <a:ahLst/>
              <a:cxnLst/>
              <a:rect r="r" b="b" t="t" l="l"/>
              <a:pathLst>
                <a:path h="3769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76936"/>
                  </a:lnTo>
                  <a:lnTo>
                    <a:pt x="0" y="376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1" r="0" b="3011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694944" cy="376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28216" y="2551176"/>
            <a:ext cx="4169664" cy="301752"/>
            <a:chOff x="0" y="0"/>
            <a:chExt cx="5559552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559552" cy="402336"/>
            </a:xfrm>
            <a:custGeom>
              <a:avLst/>
              <a:gdLst/>
              <a:ahLst/>
              <a:cxnLst/>
              <a:rect r="r" b="b" t="t" l="l"/>
              <a:pathLst>
                <a:path h="40233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47" r="0" b="-219247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555955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Correct analytical grain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28216" y="3353181"/>
            <a:ext cx="414223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63,089 unique Movement Line Keys prevent repeated payment rows from inflating order-item analysis.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464427" y="2212467"/>
            <a:ext cx="5340858" cy="2471605"/>
            <a:chOff x="0" y="0"/>
            <a:chExt cx="7121144" cy="32954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121144" cy="3295473"/>
            </a:xfrm>
            <a:custGeom>
              <a:avLst/>
              <a:gdLst/>
              <a:ahLst/>
              <a:cxnLst/>
              <a:rect r="r" b="b" t="t" l="l"/>
              <a:pathLst>
                <a:path h="3295473" w="7121144">
                  <a:moveTo>
                    <a:pt x="0" y="120899"/>
                  </a:moveTo>
                  <a:cubicBezTo>
                    <a:pt x="0" y="54139"/>
                    <a:pt x="65913" y="0"/>
                    <a:pt x="147193" y="0"/>
                  </a:cubicBezTo>
                  <a:lnTo>
                    <a:pt x="6973951" y="0"/>
                  </a:lnTo>
                  <a:cubicBezTo>
                    <a:pt x="7055231" y="0"/>
                    <a:pt x="7121144" y="54139"/>
                    <a:pt x="7121144" y="120899"/>
                  </a:cubicBezTo>
                  <a:lnTo>
                    <a:pt x="7121144" y="3174574"/>
                  </a:lnTo>
                  <a:cubicBezTo>
                    <a:pt x="7121144" y="3241334"/>
                    <a:pt x="7055231" y="3295473"/>
                    <a:pt x="6973951" y="3295473"/>
                  </a:cubicBezTo>
                  <a:lnTo>
                    <a:pt x="147193" y="3295473"/>
                  </a:lnTo>
                  <a:cubicBezTo>
                    <a:pt x="65913" y="3295473"/>
                    <a:pt x="0" y="3241335"/>
                    <a:pt x="0" y="3174574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6711315" y="2431923"/>
            <a:ext cx="540258" cy="540258"/>
            <a:chOff x="0" y="0"/>
            <a:chExt cx="720344" cy="7203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720840" y="2560701"/>
            <a:ext cx="521208" cy="301752"/>
            <a:chOff x="0" y="0"/>
            <a:chExt cx="694944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" cy="402336"/>
            </a:xfrm>
            <a:custGeom>
              <a:avLst/>
              <a:gdLst/>
              <a:ahLst/>
              <a:cxnLst/>
              <a:rect r="r" b="b" t="t" l="l"/>
              <a:pathLst>
                <a:path h="4023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" r="0" b="345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949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406640" y="2551176"/>
            <a:ext cx="4169664" cy="301752"/>
            <a:chOff x="0" y="0"/>
            <a:chExt cx="5559552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559552" cy="402336"/>
            </a:xfrm>
            <a:custGeom>
              <a:avLst/>
              <a:gdLst/>
              <a:ahLst/>
              <a:cxnLst/>
              <a:rect r="r" b="b" t="t" l="l"/>
              <a:pathLst>
                <a:path h="40233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47" r="0" b="-21924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555955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Inventory proxy — not stock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7406640" y="3353181"/>
            <a:ext cx="414223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Olist has no warehouse stock or on-hand balance. Product movement is explicitly used as the inventory proxy.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142851" y="2212467"/>
            <a:ext cx="5340858" cy="2471605"/>
            <a:chOff x="0" y="0"/>
            <a:chExt cx="7121144" cy="3295473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121144" cy="3295473"/>
            </a:xfrm>
            <a:custGeom>
              <a:avLst/>
              <a:gdLst/>
              <a:ahLst/>
              <a:cxnLst/>
              <a:rect r="r" b="b" t="t" l="l"/>
              <a:pathLst>
                <a:path h="3295473" w="7121144">
                  <a:moveTo>
                    <a:pt x="0" y="120899"/>
                  </a:moveTo>
                  <a:cubicBezTo>
                    <a:pt x="0" y="54139"/>
                    <a:pt x="65913" y="0"/>
                    <a:pt x="147193" y="0"/>
                  </a:cubicBezTo>
                  <a:lnTo>
                    <a:pt x="6973951" y="0"/>
                  </a:lnTo>
                  <a:cubicBezTo>
                    <a:pt x="7055231" y="0"/>
                    <a:pt x="7121144" y="54139"/>
                    <a:pt x="7121144" y="120899"/>
                  </a:cubicBezTo>
                  <a:lnTo>
                    <a:pt x="7121144" y="3174574"/>
                  </a:lnTo>
                  <a:cubicBezTo>
                    <a:pt x="7121144" y="3241334"/>
                    <a:pt x="7055231" y="3295473"/>
                    <a:pt x="6973951" y="3295473"/>
                  </a:cubicBezTo>
                  <a:lnTo>
                    <a:pt x="147193" y="3295473"/>
                  </a:lnTo>
                  <a:cubicBezTo>
                    <a:pt x="65913" y="3295473"/>
                    <a:pt x="0" y="3241335"/>
                    <a:pt x="0" y="3174574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389739" y="2431923"/>
            <a:ext cx="540258" cy="540258"/>
            <a:chOff x="0" y="0"/>
            <a:chExt cx="720344" cy="720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399264" y="2570226"/>
            <a:ext cx="521208" cy="282702"/>
            <a:chOff x="0" y="0"/>
            <a:chExt cx="694944" cy="3769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" cy="376936"/>
            </a:xfrm>
            <a:custGeom>
              <a:avLst/>
              <a:gdLst/>
              <a:ahLst/>
              <a:cxnLst/>
              <a:rect r="r" b="b" t="t" l="l"/>
              <a:pathLst>
                <a:path h="3769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76936"/>
                  </a:lnTo>
                  <a:lnTo>
                    <a:pt x="0" y="3769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61" r="0" b="30113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94944" cy="3769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085064" y="2560701"/>
            <a:ext cx="4169664" cy="301752"/>
            <a:chOff x="0" y="0"/>
            <a:chExt cx="5559552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559552" cy="402336"/>
            </a:xfrm>
            <a:custGeom>
              <a:avLst/>
              <a:gdLst/>
              <a:ahLst/>
              <a:cxnLst/>
              <a:rect r="r" b="b" t="t" l="l"/>
              <a:pathLst>
                <a:path h="402336" w="5559552">
                  <a:moveTo>
                    <a:pt x="0" y="0"/>
                  </a:moveTo>
                  <a:lnTo>
                    <a:pt x="5559552" y="0"/>
                  </a:lnTo>
                  <a:lnTo>
                    <a:pt x="5559552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9247" r="0" b="-21924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5559552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Service reliability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3085064" y="3353181"/>
            <a:ext cx="4142232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Delivery KPIs compare actual delivery with estimated delivery and distinguish on-time/early from late orders.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786003" y="5069967"/>
            <a:ext cx="8015478" cy="2926842"/>
            <a:chOff x="0" y="0"/>
            <a:chExt cx="10687304" cy="39024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687303" cy="3902456"/>
            </a:xfrm>
            <a:custGeom>
              <a:avLst/>
              <a:gdLst/>
              <a:ahLst/>
              <a:cxnLst/>
              <a:rect r="r" b="b" t="t" l="l"/>
              <a:pathLst>
                <a:path h="3902456" w="10687303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539984" y="0"/>
                  </a:lnTo>
                  <a:cubicBezTo>
                    <a:pt x="10621264" y="0"/>
                    <a:pt x="10687303" y="65913"/>
                    <a:pt x="10687303" y="147320"/>
                  </a:cubicBezTo>
                  <a:lnTo>
                    <a:pt x="10687303" y="3755136"/>
                  </a:lnTo>
                  <a:cubicBezTo>
                    <a:pt x="10687303" y="3836416"/>
                    <a:pt x="10621390" y="3902456"/>
                    <a:pt x="10539984" y="3902456"/>
                  </a:cubicBezTo>
                  <a:lnTo>
                    <a:pt x="147320" y="3902456"/>
                  </a:lnTo>
                  <a:cubicBezTo>
                    <a:pt x="66040" y="3902456"/>
                    <a:pt x="0" y="3836543"/>
                    <a:pt x="0" y="3755136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014984" y="5244084"/>
            <a:ext cx="7557516" cy="246888"/>
            <a:chOff x="0" y="0"/>
            <a:chExt cx="10076688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0076688" cy="329184"/>
            </a:xfrm>
            <a:custGeom>
              <a:avLst/>
              <a:gdLst/>
              <a:ahLst/>
              <a:cxnLst/>
              <a:rect r="r" b="b" t="t" l="l"/>
              <a:pathLst>
                <a:path h="329184" w="10076688">
                  <a:moveTo>
                    <a:pt x="0" y="0"/>
                  </a:moveTo>
                  <a:lnTo>
                    <a:pt x="10076688" y="0"/>
                  </a:lnTo>
                  <a:lnTo>
                    <a:pt x="100766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46458" r="0" b="-546458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007668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DAX — DUPLICATE-SAFE TOTAL SALES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014984" y="5581650"/>
            <a:ext cx="7557516" cy="22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Total Sales =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SUMX(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VALUES([Movement Line Key]),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CALCULATE(MAX([price]))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9125331" y="5069967"/>
            <a:ext cx="8358378" cy="2926842"/>
            <a:chOff x="0" y="0"/>
            <a:chExt cx="11144504" cy="39024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11144503" cy="3902456"/>
            </a:xfrm>
            <a:custGeom>
              <a:avLst/>
              <a:gdLst/>
              <a:ahLst/>
              <a:cxnLst/>
              <a:rect r="r" b="b" t="t" l="l"/>
              <a:pathLst>
                <a:path h="3902456" w="11144503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0997184" y="0"/>
                  </a:lnTo>
                  <a:cubicBezTo>
                    <a:pt x="11078464" y="0"/>
                    <a:pt x="11144503" y="65913"/>
                    <a:pt x="11144503" y="147320"/>
                  </a:cubicBezTo>
                  <a:lnTo>
                    <a:pt x="11144503" y="3755136"/>
                  </a:lnTo>
                  <a:cubicBezTo>
                    <a:pt x="11144503" y="3836416"/>
                    <a:pt x="11078590" y="3902456"/>
                    <a:pt x="10997184" y="3902456"/>
                  </a:cubicBezTo>
                  <a:lnTo>
                    <a:pt x="147320" y="3902456"/>
                  </a:lnTo>
                  <a:cubicBezTo>
                    <a:pt x="66040" y="3902456"/>
                    <a:pt x="0" y="3836543"/>
                    <a:pt x="0" y="3755136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9354312" y="5244084"/>
            <a:ext cx="7900416" cy="246888"/>
            <a:chOff x="0" y="0"/>
            <a:chExt cx="10533888" cy="32918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533888" cy="329184"/>
            </a:xfrm>
            <a:custGeom>
              <a:avLst/>
              <a:gdLst/>
              <a:ahLst/>
              <a:cxnLst/>
              <a:rect r="r" b="b" t="t" l="l"/>
              <a:pathLst>
                <a:path h="329184" w="10533888">
                  <a:moveTo>
                    <a:pt x="0" y="0"/>
                  </a:moveTo>
                  <a:lnTo>
                    <a:pt x="10533888" y="0"/>
                  </a:lnTo>
                  <a:lnTo>
                    <a:pt x="105338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3521" r="0" b="-57352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9525"/>
              <a:ext cx="1053388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KPI LOGIC — MOVEMENT &amp; DELIVERY</a:t>
              </a:r>
            </a:p>
          </p:txBody>
        </p:sp>
      </p:grpSp>
      <p:sp>
        <p:nvSpPr>
          <p:cNvPr name="TextBox 63" id="63"/>
          <p:cNvSpPr txBox="true"/>
          <p:nvPr/>
        </p:nvSpPr>
        <p:spPr>
          <a:xfrm rot="0">
            <a:off x="9354312" y="5581650"/>
            <a:ext cx="7900416" cy="226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Units Moved = DISTINCTCOUNT([Movement Line Key])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On-Time Delivery % =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On-Time Delivered Orders / Delivered Orders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Demand Variability = STDEV(monthly movement) / AVERAGE(monthly movement)</a:t>
            </a:r>
          </a:p>
        </p:txBody>
      </p:sp>
      <p:grpSp>
        <p:nvGrpSpPr>
          <p:cNvPr name="Group 64" id="64"/>
          <p:cNvGrpSpPr/>
          <p:nvPr/>
        </p:nvGrpSpPr>
        <p:grpSpPr>
          <a:xfrm rot="0">
            <a:off x="795528" y="8511159"/>
            <a:ext cx="16692372" cy="493776"/>
            <a:chOff x="0" y="0"/>
            <a:chExt cx="22256496" cy="65836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2256496" cy="658368"/>
            </a:xfrm>
            <a:custGeom>
              <a:avLst/>
              <a:gdLst/>
              <a:ahLst/>
              <a:cxnLst/>
              <a:rect r="r" b="b" t="t" l="l"/>
              <a:pathLst>
                <a:path h="658368" w="22256496">
                  <a:moveTo>
                    <a:pt x="0" y="0"/>
                  </a:moveTo>
                  <a:lnTo>
                    <a:pt x="22256496" y="0"/>
                  </a:lnTo>
                  <a:lnTo>
                    <a:pt x="22256496" y="658368"/>
                  </a:lnTo>
                  <a:lnTo>
                    <a:pt x="0" y="6583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5475" r="29334" b="-415475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22256496" cy="65836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32"/>
                </a:lnSpc>
              </a:pPr>
              <a:r>
                <a:rPr lang="en-US" sz="186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Why it matters: business insights are only trustworthy when the data grain and measure definitions are correct.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data/a_clean_modern_infographic_style_wide_landscape_i_batch_2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50595" y="1053465"/>
            <a:ext cx="9071610" cy="8180070"/>
            <a:chOff x="0" y="0"/>
            <a:chExt cx="12095480" cy="1090676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095480" cy="10906760"/>
            </a:xfrm>
            <a:custGeom>
              <a:avLst/>
              <a:gdLst/>
              <a:ahLst/>
              <a:cxnLst/>
              <a:rect r="r" b="b" t="t" l="l"/>
              <a:pathLst>
                <a:path h="10906760" w="120954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1948795" y="0"/>
                  </a:lnTo>
                  <a:cubicBezTo>
                    <a:pt x="12029821" y="0"/>
                    <a:pt x="12095480" y="65659"/>
                    <a:pt x="12095480" y="146685"/>
                  </a:cubicBezTo>
                  <a:lnTo>
                    <a:pt x="12095480" y="10760075"/>
                  </a:lnTo>
                  <a:cubicBezTo>
                    <a:pt x="12095480" y="10841101"/>
                    <a:pt x="12029821" y="10906760"/>
                    <a:pt x="11948795" y="10906760"/>
                  </a:cubicBezTo>
                  <a:lnTo>
                    <a:pt x="146685" y="10906760"/>
                  </a:lnTo>
                  <a:cubicBezTo>
                    <a:pt x="65659" y="10906760"/>
                    <a:pt x="0" y="10841101"/>
                    <a:pt x="0" y="10760075"/>
                  </a:cubicBezTo>
                  <a:close/>
                </a:path>
              </a:pathLst>
            </a:custGeom>
            <a:solidFill>
              <a:srgbClr val="FFFFFF">
                <a:alpha val="84314"/>
              </a:srgbClr>
            </a:solidFill>
            <a:ln w="19050" cap="sq">
              <a:solidFill>
                <a:srgbClr val="D9E5E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399032" y="1570482"/>
            <a:ext cx="3017520" cy="329184"/>
            <a:chOff x="0" y="0"/>
            <a:chExt cx="4023360" cy="4389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23360" cy="438912"/>
            </a:xfrm>
            <a:custGeom>
              <a:avLst/>
              <a:gdLst/>
              <a:ahLst/>
              <a:cxnLst/>
              <a:rect r="r" b="b" t="t" l="l"/>
              <a:pathLst>
                <a:path h="438912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28612" r="0" b="-128612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40233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b="true" sz="1500" spc="270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3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99032" y="2146554"/>
            <a:ext cx="7200900" cy="850392"/>
            <a:chOff x="0" y="0"/>
            <a:chExt cx="9601200" cy="113385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601200" cy="1133856"/>
            </a:xfrm>
            <a:custGeom>
              <a:avLst/>
              <a:gdLst/>
              <a:ahLst/>
              <a:cxnLst/>
              <a:rect r="r" b="b" t="t" l="l"/>
              <a:pathLst>
                <a:path h="113385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14994" r="0" b="-11499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9601200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Analytics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9032" y="3146298"/>
            <a:ext cx="7173468" cy="1303020"/>
            <a:chOff x="0" y="0"/>
            <a:chExt cx="9564624" cy="1737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564624" cy="1737360"/>
            </a:xfrm>
            <a:custGeom>
              <a:avLst/>
              <a:gdLst/>
              <a:ahLst/>
              <a:cxnLst/>
              <a:rect r="r" b="b" t="t" l="l"/>
              <a:pathLst>
                <a:path h="1737360" w="9564624">
                  <a:moveTo>
                    <a:pt x="0" y="0"/>
                  </a:moveTo>
                  <a:lnTo>
                    <a:pt x="9564624" y="0"/>
                  </a:lnTo>
                  <a:lnTo>
                    <a:pt x="9564624" y="1737360"/>
                  </a:lnTo>
                  <a:lnTo>
                    <a:pt x="0" y="17373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5884" r="-8030" b="-65884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9564624" cy="17373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55"/>
                </a:lnSpc>
              </a:pPr>
              <a:r>
                <a:rPr lang="en-US" sz="212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Four analytical workstreams deepen the control tower from visibility into performance evaluation, cost diagnosis and decision support.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416939" y="4732020"/>
            <a:ext cx="540258" cy="540258"/>
            <a:chOff x="0" y="0"/>
            <a:chExt cx="720344" cy="7203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19" id="19"/>
          <p:cNvGrpSpPr/>
          <p:nvPr/>
        </p:nvGrpSpPr>
        <p:grpSpPr>
          <a:xfrm rot="0">
            <a:off x="1426464" y="4865679"/>
            <a:ext cx="521208" cy="272940"/>
            <a:chOff x="0" y="0"/>
            <a:chExt cx="694944" cy="3639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4944" cy="363920"/>
            </a:xfrm>
            <a:custGeom>
              <a:avLst/>
              <a:gdLst/>
              <a:ahLst/>
              <a:cxnLst/>
              <a:rect r="r" b="b" t="t" l="l"/>
              <a:pathLst>
                <a:path h="363920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3920"/>
                  </a:lnTo>
                  <a:lnTo>
                    <a:pt x="0" y="36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7" r="0" b="3263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694944" cy="36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45"/>
                </a:lnSpc>
              </a:pPr>
              <a:r>
                <a:rPr lang="en-US" sz="14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2194560" y="4851273"/>
            <a:ext cx="6377940" cy="301752"/>
            <a:chOff x="0" y="0"/>
            <a:chExt cx="8503920" cy="40233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503920" cy="402336"/>
            </a:xfrm>
            <a:custGeom>
              <a:avLst/>
              <a:gdLst/>
              <a:ahLst/>
              <a:cxnLst/>
              <a:rect r="r" b="b" t="t" l="l"/>
              <a:pathLst>
                <a:path h="40233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842" r="0" b="-361842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8503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Supplier Scorecards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416939" y="5582412"/>
            <a:ext cx="540258" cy="540258"/>
            <a:chOff x="0" y="0"/>
            <a:chExt cx="720344" cy="72034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426464" y="5716071"/>
            <a:ext cx="521208" cy="272940"/>
            <a:chOff x="0" y="0"/>
            <a:chExt cx="694944" cy="363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4944" cy="363920"/>
            </a:xfrm>
            <a:custGeom>
              <a:avLst/>
              <a:gdLst/>
              <a:ahLst/>
              <a:cxnLst/>
              <a:rect r="r" b="b" t="t" l="l"/>
              <a:pathLst>
                <a:path h="363920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3920"/>
                  </a:lnTo>
                  <a:lnTo>
                    <a:pt x="0" y="3639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7057" r="0" b="3263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694944" cy="3639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45"/>
                </a:lnSpc>
              </a:pPr>
              <a:r>
                <a:rPr lang="en-US" sz="14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2194560" y="5701665"/>
            <a:ext cx="6377940" cy="301752"/>
            <a:chOff x="0" y="0"/>
            <a:chExt cx="8503920" cy="40233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03920" cy="402336"/>
            </a:xfrm>
            <a:custGeom>
              <a:avLst/>
              <a:gdLst/>
              <a:ahLst/>
              <a:cxnLst/>
              <a:rect r="r" b="b" t="t" l="l"/>
              <a:pathLst>
                <a:path h="40233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842" r="0" b="-361842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503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Transportation Cost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416939" y="6432804"/>
            <a:ext cx="540258" cy="540258"/>
            <a:chOff x="0" y="0"/>
            <a:chExt cx="720344" cy="72034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1426464" y="6550342"/>
            <a:ext cx="521208" cy="305181"/>
            <a:chOff x="0" y="0"/>
            <a:chExt cx="694944" cy="40690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94944" cy="406908"/>
            </a:xfrm>
            <a:custGeom>
              <a:avLst/>
              <a:gdLst/>
              <a:ahLst/>
              <a:cxnLst/>
              <a:rect r="r" b="b" t="t" l="l"/>
              <a:pathLst>
                <a:path h="4069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6908"/>
                  </a:lnTo>
                  <a:lnTo>
                    <a:pt x="0" y="40690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311" r="0" b="39755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694944" cy="4069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45"/>
                </a:lnSpc>
              </a:pPr>
              <a:r>
                <a:rPr lang="en-US" sz="14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2194560" y="6552057"/>
            <a:ext cx="6377940" cy="301752"/>
            <a:chOff x="0" y="0"/>
            <a:chExt cx="8503920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03920" cy="402336"/>
            </a:xfrm>
            <a:custGeom>
              <a:avLst/>
              <a:gdLst/>
              <a:ahLst/>
              <a:cxnLst/>
              <a:rect r="r" b="b" t="t" l="l"/>
              <a:pathLst>
                <a:path h="40233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842" r="0" b="-36184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8503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 &amp; Carrier Performance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416939" y="7283196"/>
            <a:ext cx="540258" cy="540258"/>
            <a:chOff x="0" y="0"/>
            <a:chExt cx="720344" cy="72034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426464" y="7412580"/>
            <a:ext cx="521208" cy="281490"/>
            <a:chOff x="0" y="0"/>
            <a:chExt cx="694944" cy="3753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94944" cy="375320"/>
            </a:xfrm>
            <a:custGeom>
              <a:avLst/>
              <a:gdLst/>
              <a:ahLst/>
              <a:cxnLst/>
              <a:rect r="r" b="b" t="t" l="l"/>
              <a:pathLst>
                <a:path h="375320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75320"/>
                  </a:lnTo>
                  <a:lnTo>
                    <a:pt x="0" y="3753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842" r="0" b="3468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694944" cy="375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45"/>
                </a:lnSpc>
              </a:pPr>
              <a:r>
                <a:rPr lang="en-US" sz="145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2194560" y="7402449"/>
            <a:ext cx="6377940" cy="301752"/>
            <a:chOff x="0" y="0"/>
            <a:chExt cx="8503920" cy="40233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503920" cy="402336"/>
            </a:xfrm>
            <a:custGeom>
              <a:avLst/>
              <a:gdLst/>
              <a:ahLst/>
              <a:cxnLst/>
              <a:rect r="r" b="b" t="t" l="l"/>
              <a:pathLst>
                <a:path h="402336" w="8503920">
                  <a:moveTo>
                    <a:pt x="0" y="0"/>
                  </a:moveTo>
                  <a:lnTo>
                    <a:pt x="8503920" y="0"/>
                  </a:lnTo>
                  <a:lnTo>
                    <a:pt x="85039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361842" r="0" b="-36184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85039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14"/>
                </a:lnSpc>
              </a:pPr>
              <a:r>
                <a:rPr lang="en-US" sz="184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KPI Visualization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399032" y="8299761"/>
            <a:ext cx="7749540" cy="770325"/>
            <a:chOff x="0" y="0"/>
            <a:chExt cx="10332720" cy="1027099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332720" cy="1027100"/>
            </a:xfrm>
            <a:custGeom>
              <a:avLst/>
              <a:gdLst/>
              <a:ahLst/>
              <a:cxnLst/>
              <a:rect r="r" b="b" t="t" l="l"/>
              <a:pathLst>
                <a:path h="1027100" w="10332720">
                  <a:moveTo>
                    <a:pt x="0" y="0"/>
                  </a:moveTo>
                  <a:lnTo>
                    <a:pt x="10332720" y="0"/>
                  </a:lnTo>
                  <a:lnTo>
                    <a:pt x="10332720" y="1027100"/>
                  </a:lnTo>
                  <a:lnTo>
                    <a:pt x="0" y="10271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56849" r="0" b="-135193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10332720" cy="106519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351"/>
                </a:lnSpc>
              </a:pPr>
              <a:r>
                <a:rPr lang="en-US" b="true" sz="1679" i="true">
                  <a:solidFill>
                    <a:srgbClr val="2563EB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Milestone 3 asks not only “what happened?” — but “where is performance strong, weak, costly or inefficient?”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1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Supplier / Seller Performance Scorecards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 quartile-based scorecard identifies strong sellers and sellers that require operational attention.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1938147"/>
            <a:ext cx="11266170" cy="7494270"/>
            <a:chOff x="0" y="0"/>
            <a:chExt cx="15021560" cy="9992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021559" cy="9992360"/>
            </a:xfrm>
            <a:custGeom>
              <a:avLst/>
              <a:gdLst/>
              <a:ahLst/>
              <a:cxnLst/>
              <a:rect r="r" b="b" t="t" l="l"/>
              <a:pathLst>
                <a:path h="9992360" w="15021559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874875" y="0"/>
                  </a:lnTo>
                  <a:cubicBezTo>
                    <a:pt x="14955901" y="0"/>
                    <a:pt x="15021559" y="65659"/>
                    <a:pt x="15021559" y="146685"/>
                  </a:cubicBezTo>
                  <a:lnTo>
                    <a:pt x="15021559" y="9845675"/>
                  </a:lnTo>
                  <a:cubicBezTo>
                    <a:pt x="15021559" y="9926701"/>
                    <a:pt x="14955901" y="9992360"/>
                    <a:pt x="14874875" y="9992360"/>
                  </a:cubicBezTo>
                  <a:lnTo>
                    <a:pt x="146685" y="9992360"/>
                  </a:lnTo>
                  <a:cubicBezTo>
                    <a:pt x="65659" y="9992360"/>
                    <a:pt x="0" y="9926701"/>
                    <a:pt x="0" y="984567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" y="2395525"/>
            <a:ext cx="10972800" cy="6688618"/>
            <a:chOff x="0" y="0"/>
            <a:chExt cx="14630400" cy="8918158"/>
          </a:xfrm>
        </p:grpSpPr>
        <p:sp>
          <p:nvSpPr>
            <p:cNvPr name="Freeform 22" id="22" descr="/mnt/data/ppt_assets/m2m3-6.png"/>
            <p:cNvSpPr/>
            <p:nvPr/>
          </p:nvSpPr>
          <p:spPr>
            <a:xfrm flipH="false" flipV="false" rot="0">
              <a:off x="0" y="0"/>
              <a:ext cx="14630400" cy="8918196"/>
            </a:xfrm>
            <a:custGeom>
              <a:avLst/>
              <a:gdLst/>
              <a:ahLst/>
              <a:cxnLst/>
              <a:rect r="r" b="b" t="t" l="l"/>
              <a:pathLst>
                <a:path h="8918196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8918196"/>
                  </a:lnTo>
                  <a:lnTo>
                    <a:pt x="0" y="89181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702" t="0" r="-270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44603" y="2075307"/>
            <a:ext cx="2405634" cy="1335786"/>
            <a:chOff x="0" y="0"/>
            <a:chExt cx="3207512" cy="17810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07512" cy="1781048"/>
            </a:xfrm>
            <a:custGeom>
              <a:avLst/>
              <a:gdLst/>
              <a:ahLst/>
              <a:cxnLst/>
              <a:rect r="r" b="b" t="t" l="l"/>
              <a:pathLst>
                <a:path h="1781048" w="320751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059049" y="0"/>
                  </a:lnTo>
                  <a:cubicBezTo>
                    <a:pt x="3140964" y="0"/>
                    <a:pt x="3207512" y="66421"/>
                    <a:pt x="3207512" y="148463"/>
                  </a:cubicBezTo>
                  <a:lnTo>
                    <a:pt x="3207512" y="1632585"/>
                  </a:lnTo>
                  <a:cubicBezTo>
                    <a:pt x="3207512" y="1714500"/>
                    <a:pt x="3141091" y="1781048"/>
                    <a:pt x="3059049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44603" y="2075307"/>
            <a:ext cx="87630" cy="1335786"/>
            <a:chOff x="0" y="0"/>
            <a:chExt cx="116840" cy="1781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673584" y="2249424"/>
            <a:ext cx="2057400" cy="274320"/>
            <a:chOff x="0" y="0"/>
            <a:chExt cx="2743200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74320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7432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Eligible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673584" y="2606040"/>
            <a:ext cx="2057400" cy="521208"/>
            <a:chOff x="0" y="0"/>
            <a:chExt cx="2743200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743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7432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235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673584" y="3017520"/>
            <a:ext cx="2057400" cy="246888"/>
            <a:chOff x="0" y="0"/>
            <a:chExt cx="2743200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43200" cy="329184"/>
            </a:xfrm>
            <a:custGeom>
              <a:avLst/>
              <a:gdLst/>
              <a:ahLst/>
              <a:cxnLst/>
              <a:rect r="r" b="b" t="t" l="l"/>
              <a:pathLst>
                <a:path h="32918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7432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50+ delivered orders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36927" y="2075307"/>
            <a:ext cx="2405634" cy="1335786"/>
            <a:chOff x="0" y="0"/>
            <a:chExt cx="3207512" cy="17810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207512" cy="1781048"/>
            </a:xfrm>
            <a:custGeom>
              <a:avLst/>
              <a:gdLst/>
              <a:ahLst/>
              <a:cxnLst/>
              <a:rect r="r" b="b" t="t" l="l"/>
              <a:pathLst>
                <a:path h="1781048" w="320751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059049" y="0"/>
                  </a:lnTo>
                  <a:cubicBezTo>
                    <a:pt x="3140964" y="0"/>
                    <a:pt x="3207512" y="66421"/>
                    <a:pt x="3207512" y="148463"/>
                  </a:cubicBezTo>
                  <a:lnTo>
                    <a:pt x="3207512" y="1632585"/>
                  </a:lnTo>
                  <a:cubicBezTo>
                    <a:pt x="3207512" y="1714500"/>
                    <a:pt x="3141091" y="1781048"/>
                    <a:pt x="3059049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036927" y="2075307"/>
            <a:ext cx="87630" cy="1335786"/>
            <a:chOff x="0" y="0"/>
            <a:chExt cx="116840" cy="17810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265908" y="2249424"/>
            <a:ext cx="2057400" cy="274320"/>
            <a:chOff x="0" y="0"/>
            <a:chExt cx="2743200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74320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7432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Excellent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265908" y="2606040"/>
            <a:ext cx="2057400" cy="521208"/>
            <a:chOff x="0" y="0"/>
            <a:chExt cx="2743200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743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7432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82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265908" y="3017520"/>
            <a:ext cx="2057400" cy="246888"/>
            <a:chOff x="0" y="0"/>
            <a:chExt cx="2743200" cy="3291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743200" cy="329184"/>
            </a:xfrm>
            <a:custGeom>
              <a:avLst/>
              <a:gdLst/>
              <a:ahLst/>
              <a:cxnLst/>
              <a:rect r="r" b="b" t="t" l="l"/>
              <a:pathLst>
                <a:path h="32918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7432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Top-performing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44603" y="3666363"/>
            <a:ext cx="2405634" cy="1335786"/>
            <a:chOff x="0" y="0"/>
            <a:chExt cx="3207512" cy="17810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207512" cy="1781048"/>
            </a:xfrm>
            <a:custGeom>
              <a:avLst/>
              <a:gdLst/>
              <a:ahLst/>
              <a:cxnLst/>
              <a:rect r="r" b="b" t="t" l="l"/>
              <a:pathLst>
                <a:path h="1781048" w="320751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059049" y="0"/>
                  </a:lnTo>
                  <a:cubicBezTo>
                    <a:pt x="3140964" y="0"/>
                    <a:pt x="3207512" y="66421"/>
                    <a:pt x="3207512" y="148463"/>
                  </a:cubicBezTo>
                  <a:lnTo>
                    <a:pt x="3207512" y="1632585"/>
                  </a:lnTo>
                  <a:cubicBezTo>
                    <a:pt x="3207512" y="1714500"/>
                    <a:pt x="3141091" y="1781048"/>
                    <a:pt x="3059049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444603" y="3666363"/>
            <a:ext cx="87630" cy="1335786"/>
            <a:chOff x="0" y="0"/>
            <a:chExt cx="116840" cy="17810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673584" y="3840480"/>
            <a:ext cx="2057400" cy="274320"/>
            <a:chOff x="0" y="0"/>
            <a:chExt cx="2743200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74320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7432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Watchlist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673584" y="4197096"/>
            <a:ext cx="2057400" cy="521208"/>
            <a:chOff x="0" y="0"/>
            <a:chExt cx="2743200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743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7432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52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673584" y="4608576"/>
            <a:ext cx="2057400" cy="246888"/>
            <a:chOff x="0" y="0"/>
            <a:chExt cx="2743200" cy="32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743200" cy="329184"/>
            </a:xfrm>
            <a:custGeom>
              <a:avLst/>
              <a:gdLst/>
              <a:ahLst/>
              <a:cxnLst/>
              <a:rect r="r" b="b" t="t" l="l"/>
              <a:pathLst>
                <a:path h="32918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7432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Needs monitoring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36927" y="3666363"/>
            <a:ext cx="2405634" cy="1335786"/>
            <a:chOff x="0" y="0"/>
            <a:chExt cx="3207512" cy="17810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207512" cy="1781048"/>
            </a:xfrm>
            <a:custGeom>
              <a:avLst/>
              <a:gdLst/>
              <a:ahLst/>
              <a:cxnLst/>
              <a:rect r="r" b="b" t="t" l="l"/>
              <a:pathLst>
                <a:path h="1781048" w="3207512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059049" y="0"/>
                  </a:lnTo>
                  <a:cubicBezTo>
                    <a:pt x="3140964" y="0"/>
                    <a:pt x="3207512" y="66421"/>
                    <a:pt x="3207512" y="148463"/>
                  </a:cubicBezTo>
                  <a:lnTo>
                    <a:pt x="3207512" y="1632585"/>
                  </a:lnTo>
                  <a:cubicBezTo>
                    <a:pt x="3207512" y="1714500"/>
                    <a:pt x="3141091" y="1781048"/>
                    <a:pt x="3059049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5036927" y="3666363"/>
            <a:ext cx="87630" cy="1335786"/>
            <a:chOff x="0" y="0"/>
            <a:chExt cx="116840" cy="17810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265908" y="3840480"/>
            <a:ext cx="2057400" cy="274320"/>
            <a:chOff x="0" y="0"/>
            <a:chExt cx="2743200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743200" cy="365760"/>
            </a:xfrm>
            <a:custGeom>
              <a:avLst/>
              <a:gdLst/>
              <a:ahLst/>
              <a:cxnLst/>
              <a:rect r="r" b="b" t="t" l="l"/>
              <a:pathLst>
                <a:path h="365760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74320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Needs Improvement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265908" y="4197096"/>
            <a:ext cx="2057400" cy="521208"/>
            <a:chOff x="0" y="0"/>
            <a:chExt cx="2743200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743200" cy="694944"/>
            </a:xfrm>
            <a:custGeom>
              <a:avLst/>
              <a:gdLst/>
              <a:ahLst/>
              <a:cxnLst/>
              <a:rect r="r" b="b" t="t" l="l"/>
              <a:pathLst>
                <a:path h="69494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914" r="0" b="-26914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743200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57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265908" y="4608576"/>
            <a:ext cx="2057400" cy="246888"/>
            <a:chOff x="0" y="0"/>
            <a:chExt cx="2743200" cy="329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743200" cy="329184"/>
            </a:xfrm>
            <a:custGeom>
              <a:avLst/>
              <a:gdLst/>
              <a:ahLst/>
              <a:cxnLst/>
              <a:rect r="r" b="b" t="t" l="l"/>
              <a:pathLst>
                <a:path h="329184" w="2743200">
                  <a:moveTo>
                    <a:pt x="0" y="0"/>
                  </a:moveTo>
                  <a:lnTo>
                    <a:pt x="2743200" y="0"/>
                  </a:lnTo>
                  <a:lnTo>
                    <a:pt x="274320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75" r="0" b="-11237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74320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Priority attention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44603" y="5312283"/>
            <a:ext cx="4997958" cy="4120134"/>
            <a:chOff x="0" y="0"/>
            <a:chExt cx="6663944" cy="5493512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6663944" cy="5493512"/>
            </a:xfrm>
            <a:custGeom>
              <a:avLst/>
              <a:gdLst/>
              <a:ahLst/>
              <a:cxnLst/>
              <a:rect r="r" b="b" t="t" l="l"/>
              <a:pathLst>
                <a:path h="5493512" w="6663944">
                  <a:moveTo>
                    <a:pt x="0" y="177294"/>
                  </a:moveTo>
                  <a:cubicBezTo>
                    <a:pt x="0" y="79392"/>
                    <a:pt x="65913" y="0"/>
                    <a:pt x="147193" y="0"/>
                  </a:cubicBezTo>
                  <a:lnTo>
                    <a:pt x="6516751" y="0"/>
                  </a:lnTo>
                  <a:cubicBezTo>
                    <a:pt x="6598031" y="0"/>
                    <a:pt x="6663944" y="79392"/>
                    <a:pt x="6663944" y="177294"/>
                  </a:cubicBezTo>
                  <a:lnTo>
                    <a:pt x="6663944" y="5316218"/>
                  </a:lnTo>
                  <a:cubicBezTo>
                    <a:pt x="6663944" y="5414120"/>
                    <a:pt x="6598031" y="5493512"/>
                    <a:pt x="6516751" y="5493512"/>
                  </a:cubicBezTo>
                  <a:lnTo>
                    <a:pt x="147193" y="5493512"/>
                  </a:lnTo>
                  <a:cubicBezTo>
                    <a:pt x="65913" y="5493512"/>
                    <a:pt x="0" y="5414120"/>
                    <a:pt x="0" y="531621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718923" y="5586603"/>
            <a:ext cx="1596390" cy="403098"/>
            <a:chOff x="0" y="0"/>
            <a:chExt cx="2128520" cy="537464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2128520" cy="537464"/>
            </a:xfrm>
            <a:custGeom>
              <a:avLst/>
              <a:gdLst/>
              <a:ahLst/>
              <a:cxnLst/>
              <a:rect r="r" b="b" t="t" l="l"/>
              <a:pathLst>
                <a:path h="537464" w="212852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013331" y="0"/>
                  </a:lnTo>
                  <a:cubicBezTo>
                    <a:pt x="2076958" y="0"/>
                    <a:pt x="2128520" y="51562"/>
                    <a:pt x="2128520" y="115189"/>
                  </a:cubicBezTo>
                  <a:lnTo>
                    <a:pt x="2128520" y="422275"/>
                  </a:lnTo>
                  <a:cubicBezTo>
                    <a:pt x="2128520" y="485902"/>
                    <a:pt x="2076958" y="537464"/>
                    <a:pt x="201333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893040" y="5671566"/>
            <a:ext cx="1234440" cy="192024"/>
            <a:chOff x="0" y="0"/>
            <a:chExt cx="1645920" cy="256032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1645920" cy="256032"/>
            </a:xfrm>
            <a:custGeom>
              <a:avLst/>
              <a:gdLst/>
              <a:ahLst/>
              <a:cxnLst/>
              <a:rect r="r" b="b" t="t" l="l"/>
              <a:pathLst>
                <a:path h="256032" w="1645920">
                  <a:moveTo>
                    <a:pt x="0" y="0"/>
                  </a:moveTo>
                  <a:lnTo>
                    <a:pt x="1645920" y="0"/>
                  </a:lnTo>
                  <a:lnTo>
                    <a:pt x="1645920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5260" r="0" b="-7526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0"/>
              <a:ext cx="1645920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b="true" sz="1125" spc="120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METHODOLOGY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691491" y="6313551"/>
            <a:ext cx="156210" cy="156210"/>
            <a:chOff x="0" y="0"/>
            <a:chExt cx="208280" cy="208280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2961620" y="6144768"/>
            <a:ext cx="4018788" cy="500634"/>
            <a:chOff x="0" y="0"/>
            <a:chExt cx="5358384" cy="667512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5358384" cy="667512"/>
            </a:xfrm>
            <a:custGeom>
              <a:avLst/>
              <a:gdLst/>
              <a:ahLst/>
              <a:cxnLst/>
              <a:rect r="r" b="b" t="t" l="l"/>
              <a:pathLst>
                <a:path h="667512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667512"/>
                  </a:lnTo>
                  <a:lnTo>
                    <a:pt x="0" y="667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414" r="0" b="-106414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5358384" cy="667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Formal ranking includes sellers with at least 50 delivered orders.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691491" y="6841617"/>
            <a:ext cx="156210" cy="156210"/>
            <a:chOff x="0" y="0"/>
            <a:chExt cx="208280" cy="208280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89" id="89"/>
          <p:cNvGrpSpPr/>
          <p:nvPr/>
        </p:nvGrpSpPr>
        <p:grpSpPr>
          <a:xfrm rot="0">
            <a:off x="12961620" y="6672834"/>
            <a:ext cx="4018788" cy="500634"/>
            <a:chOff x="0" y="0"/>
            <a:chExt cx="5358384" cy="66751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5358384" cy="667512"/>
            </a:xfrm>
            <a:custGeom>
              <a:avLst/>
              <a:gdLst/>
              <a:ahLst/>
              <a:cxnLst/>
              <a:rect r="r" b="b" t="t" l="l"/>
              <a:pathLst>
                <a:path h="667512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667512"/>
                  </a:lnTo>
                  <a:lnTo>
                    <a:pt x="0" y="667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414" r="0" b="-10641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0"/>
              <a:ext cx="5358384" cy="667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Four equally weighted dimensions: Delivery, Review, Freight, Speed.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2691491" y="7369683"/>
            <a:ext cx="156210" cy="156210"/>
            <a:chOff x="0" y="0"/>
            <a:chExt cx="208280" cy="20828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2961620" y="7200900"/>
            <a:ext cx="4018788" cy="500634"/>
            <a:chOff x="0" y="0"/>
            <a:chExt cx="5358384" cy="667512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5358384" cy="667512"/>
            </a:xfrm>
            <a:custGeom>
              <a:avLst/>
              <a:gdLst/>
              <a:ahLst/>
              <a:cxnLst/>
              <a:rect r="r" b="b" t="t" l="l"/>
              <a:pathLst>
                <a:path h="667512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667512"/>
                  </a:lnTo>
                  <a:lnTo>
                    <a:pt x="0" y="667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414" r="0" b="-106414"/>
              </a:stretch>
            </a:blipFill>
          </p:spPr>
        </p:sp>
        <p:sp>
          <p:nvSpPr>
            <p:cNvPr name="TextBox 96" id="96"/>
            <p:cNvSpPr txBox="true"/>
            <p:nvPr/>
          </p:nvSpPr>
          <p:spPr>
            <a:xfrm>
              <a:off x="0" y="0"/>
              <a:ext cx="5358384" cy="667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Review score is a customer-experience / quality proxy — not direct product quality.</a:t>
              </a:r>
            </a:p>
          </p:txBody>
        </p:sp>
      </p:grpSp>
      <p:grpSp>
        <p:nvGrpSpPr>
          <p:cNvPr name="Group 97" id="97"/>
          <p:cNvGrpSpPr/>
          <p:nvPr/>
        </p:nvGrpSpPr>
        <p:grpSpPr>
          <a:xfrm rot="0">
            <a:off x="12691491" y="7897749"/>
            <a:ext cx="156210" cy="156210"/>
            <a:chOff x="0" y="0"/>
            <a:chExt cx="208280" cy="208280"/>
          </a:xfrm>
        </p:grpSpPr>
        <p:sp>
          <p:nvSpPr>
            <p:cNvPr name="Freeform 98" id="98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99" id="99"/>
          <p:cNvGrpSpPr/>
          <p:nvPr/>
        </p:nvGrpSpPr>
        <p:grpSpPr>
          <a:xfrm rot="0">
            <a:off x="12961620" y="7728966"/>
            <a:ext cx="4018788" cy="500634"/>
            <a:chOff x="0" y="0"/>
            <a:chExt cx="5358384" cy="667512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5358384" cy="667512"/>
            </a:xfrm>
            <a:custGeom>
              <a:avLst/>
              <a:gdLst/>
              <a:ahLst/>
              <a:cxnLst/>
              <a:rect r="r" b="b" t="t" l="l"/>
              <a:pathLst>
                <a:path h="667512" w="5358384">
                  <a:moveTo>
                    <a:pt x="0" y="0"/>
                  </a:moveTo>
                  <a:lnTo>
                    <a:pt x="5358384" y="0"/>
                  </a:lnTo>
                  <a:lnTo>
                    <a:pt x="5358384" y="667512"/>
                  </a:lnTo>
                  <a:lnTo>
                    <a:pt x="0" y="6675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6414" r="0" b="-106414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5358384" cy="6675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Performance bands: Excellent • Good • Watchlist • Needs Improvement.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FINDINGS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80288"/>
            <a:ext cx="12207240" cy="1342644"/>
            <a:chOff x="0" y="0"/>
            <a:chExt cx="16276320" cy="179019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1790192"/>
            </a:xfrm>
            <a:custGeom>
              <a:avLst/>
              <a:gdLst/>
              <a:ahLst/>
              <a:cxnLst/>
              <a:rect r="r" b="b" t="t" l="l"/>
              <a:pathLst>
                <a:path h="1790192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790192"/>
                  </a:lnTo>
                  <a:lnTo>
                    <a:pt x="0" y="17901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639" r="0" b="-101674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17901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Supplier Performance — Findings, Scoring Logic &amp; Interpretation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2012442"/>
            <a:ext cx="9672875" cy="411480"/>
            <a:chOff x="0" y="0"/>
            <a:chExt cx="12897167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897167" cy="548640"/>
            </a:xfrm>
            <a:custGeom>
              <a:avLst/>
              <a:gdLst/>
              <a:ahLst/>
              <a:cxnLst/>
              <a:rect r="r" b="b" t="t" l="l"/>
              <a:pathLst>
                <a:path h="548640" w="12897167">
                  <a:moveTo>
                    <a:pt x="0" y="0"/>
                  </a:moveTo>
                  <a:lnTo>
                    <a:pt x="12897167" y="0"/>
                  </a:lnTo>
                  <a:lnTo>
                    <a:pt x="12897167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-51724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2897167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scorecard combines service, experience, cost and speed into one defensible seller-level performance view.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757297"/>
            <a:ext cx="5985510" cy="2830830"/>
            <a:chOff x="0" y="0"/>
            <a:chExt cx="7980680" cy="3774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980680" cy="3774440"/>
            </a:xfrm>
            <a:custGeom>
              <a:avLst/>
              <a:gdLst/>
              <a:ahLst/>
              <a:cxnLst/>
              <a:rect r="r" b="b" t="t" l="l"/>
              <a:pathLst>
                <a:path h="3774440" w="7980680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7833360" y="0"/>
                  </a:lnTo>
                  <a:cubicBezTo>
                    <a:pt x="7914640" y="0"/>
                    <a:pt x="7980680" y="65913"/>
                    <a:pt x="7980680" y="147320"/>
                  </a:cubicBezTo>
                  <a:lnTo>
                    <a:pt x="7980680" y="3627120"/>
                  </a:lnTo>
                  <a:cubicBezTo>
                    <a:pt x="7980680" y="3708400"/>
                    <a:pt x="7914767" y="3774440"/>
                    <a:pt x="7833360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3096006"/>
            <a:ext cx="5349240" cy="301752"/>
            <a:chOff x="0" y="0"/>
            <a:chExt cx="7132320" cy="402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132320" cy="402336"/>
            </a:xfrm>
            <a:custGeom>
              <a:avLst/>
              <a:gdLst/>
              <a:ahLst/>
              <a:cxnLst/>
              <a:rect r="r" b="b" t="t" l="l"/>
              <a:pathLst>
                <a:path h="402336" w="7132320">
                  <a:moveTo>
                    <a:pt x="0" y="0"/>
                  </a:moveTo>
                  <a:lnTo>
                    <a:pt x="7132320" y="0"/>
                  </a:lnTo>
                  <a:lnTo>
                    <a:pt x="71323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71323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Performance distribution — 235 eligible sellers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5187" y="3717417"/>
            <a:ext cx="1789871" cy="540258"/>
            <a:chOff x="0" y="0"/>
            <a:chExt cx="2386495" cy="7203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386457" cy="720344"/>
            </a:xfrm>
            <a:custGeom>
              <a:avLst/>
              <a:gdLst/>
              <a:ahLst/>
              <a:cxnLst/>
              <a:rect r="r" b="b" t="t" l="l"/>
              <a:pathLst>
                <a:path h="720344" w="2386457">
                  <a:moveTo>
                    <a:pt x="0" y="0"/>
                  </a:moveTo>
                  <a:lnTo>
                    <a:pt x="2386457" y="0"/>
                  </a:lnTo>
                  <a:lnTo>
                    <a:pt x="2386457" y="720344"/>
                  </a:lnTo>
                  <a:lnTo>
                    <a:pt x="0" y="720344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26" id="26"/>
          <p:cNvGrpSpPr/>
          <p:nvPr/>
        </p:nvGrpSpPr>
        <p:grpSpPr>
          <a:xfrm rot="0">
            <a:off x="2886008" y="3717417"/>
            <a:ext cx="969245" cy="540258"/>
            <a:chOff x="0" y="0"/>
            <a:chExt cx="1292327" cy="72034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292352" cy="720344"/>
            </a:xfrm>
            <a:custGeom>
              <a:avLst/>
              <a:gdLst/>
              <a:ahLst/>
              <a:cxnLst/>
              <a:rect r="r" b="b" t="t" l="l"/>
              <a:pathLst>
                <a:path h="720344" w="1292352">
                  <a:moveTo>
                    <a:pt x="0" y="0"/>
                  </a:moveTo>
                  <a:lnTo>
                    <a:pt x="1292352" y="0"/>
                  </a:lnTo>
                  <a:lnTo>
                    <a:pt x="1292352" y="720344"/>
                  </a:lnTo>
                  <a:lnTo>
                    <a:pt x="0" y="720344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3836203" y="3717417"/>
            <a:ext cx="1142009" cy="540258"/>
            <a:chOff x="0" y="0"/>
            <a:chExt cx="1522679" cy="72034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522730" cy="720344"/>
            </a:xfrm>
            <a:custGeom>
              <a:avLst/>
              <a:gdLst/>
              <a:ahLst/>
              <a:cxnLst/>
              <a:rect r="r" b="b" t="t" l="l"/>
              <a:pathLst>
                <a:path h="720344" w="1522730">
                  <a:moveTo>
                    <a:pt x="0" y="0"/>
                  </a:moveTo>
                  <a:lnTo>
                    <a:pt x="1522730" y="0"/>
                  </a:lnTo>
                  <a:lnTo>
                    <a:pt x="1522730" y="720344"/>
                  </a:lnTo>
                  <a:lnTo>
                    <a:pt x="0" y="720344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4959172" y="3717417"/>
            <a:ext cx="1249985" cy="540258"/>
            <a:chOff x="0" y="0"/>
            <a:chExt cx="1666646" cy="7203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666621" cy="720344"/>
            </a:xfrm>
            <a:custGeom>
              <a:avLst/>
              <a:gdLst/>
              <a:ahLst/>
              <a:cxnLst/>
              <a:rect r="r" b="b" t="t" l="l"/>
              <a:pathLst>
                <a:path h="720344" w="1666621">
                  <a:moveTo>
                    <a:pt x="0" y="0"/>
                  </a:moveTo>
                  <a:lnTo>
                    <a:pt x="1666621" y="0"/>
                  </a:lnTo>
                  <a:lnTo>
                    <a:pt x="1666621" y="720344"/>
                  </a:lnTo>
                  <a:lnTo>
                    <a:pt x="0" y="720344"/>
                  </a:ln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115187" y="4581525"/>
            <a:ext cx="142494" cy="142494"/>
            <a:chOff x="0" y="0"/>
            <a:chExt cx="189992" cy="1899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316736" y="4549902"/>
            <a:ext cx="2125980" cy="219456"/>
            <a:chOff x="0" y="0"/>
            <a:chExt cx="2834640" cy="29260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834640" cy="292608"/>
            </a:xfrm>
            <a:custGeom>
              <a:avLst/>
              <a:gdLst/>
              <a:ahLst/>
              <a:cxnLst/>
              <a:rect r="r" b="b" t="t" l="l"/>
              <a:pathLst>
                <a:path h="29260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761" r="0" b="-138761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283464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7"/>
                </a:lnSpc>
              </a:pPr>
              <a:r>
                <a:rPr lang="en-US" sz="1289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Excellent  82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3748659" y="4581525"/>
            <a:ext cx="142494" cy="142494"/>
            <a:chOff x="0" y="0"/>
            <a:chExt cx="189992" cy="18999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3950208" y="4549902"/>
            <a:ext cx="2125980" cy="219456"/>
            <a:chOff x="0" y="0"/>
            <a:chExt cx="2834640" cy="292608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834640" cy="292608"/>
            </a:xfrm>
            <a:custGeom>
              <a:avLst/>
              <a:gdLst/>
              <a:ahLst/>
              <a:cxnLst/>
              <a:rect r="r" b="b" t="t" l="l"/>
              <a:pathLst>
                <a:path h="29260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761" r="0" b="-138761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0"/>
              <a:ext cx="283464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7"/>
                </a:lnSpc>
              </a:pPr>
              <a:r>
                <a:rPr lang="en-US" sz="1289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Good  44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115187" y="5047869"/>
            <a:ext cx="142494" cy="142494"/>
            <a:chOff x="0" y="0"/>
            <a:chExt cx="189992" cy="18999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4" id="44"/>
          <p:cNvGrpSpPr/>
          <p:nvPr/>
        </p:nvGrpSpPr>
        <p:grpSpPr>
          <a:xfrm rot="0">
            <a:off x="1316736" y="5016246"/>
            <a:ext cx="2125980" cy="219456"/>
            <a:chOff x="0" y="0"/>
            <a:chExt cx="2834640" cy="29260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834640" cy="292608"/>
            </a:xfrm>
            <a:custGeom>
              <a:avLst/>
              <a:gdLst/>
              <a:ahLst/>
              <a:cxnLst/>
              <a:rect r="r" b="b" t="t" l="l"/>
              <a:pathLst>
                <a:path h="29260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761" r="0" b="-138761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283464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7"/>
                </a:lnSpc>
              </a:pPr>
              <a:r>
                <a:rPr lang="en-US" sz="1289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Watchlist  52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3748659" y="5047869"/>
            <a:ext cx="142494" cy="142494"/>
            <a:chOff x="0" y="0"/>
            <a:chExt cx="189992" cy="18999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89992" cy="189992"/>
            </a:xfrm>
            <a:custGeom>
              <a:avLst/>
              <a:gdLst/>
              <a:ahLst/>
              <a:cxnLst/>
              <a:rect r="r" b="b" t="t" l="l"/>
              <a:pathLst>
                <a:path h="189992" w="189992">
                  <a:moveTo>
                    <a:pt x="0" y="94996"/>
                  </a:moveTo>
                  <a:cubicBezTo>
                    <a:pt x="0" y="42545"/>
                    <a:pt x="42545" y="0"/>
                    <a:pt x="94996" y="0"/>
                  </a:cubicBezTo>
                  <a:cubicBezTo>
                    <a:pt x="147447" y="0"/>
                    <a:pt x="189992" y="42545"/>
                    <a:pt x="189992" y="94996"/>
                  </a:cubicBezTo>
                  <a:cubicBezTo>
                    <a:pt x="189992" y="147447"/>
                    <a:pt x="147447" y="189992"/>
                    <a:pt x="94996" y="189992"/>
                  </a:cubicBezTo>
                  <a:cubicBezTo>
                    <a:pt x="42545" y="189992"/>
                    <a:pt x="0" y="147447"/>
                    <a:pt x="0" y="94996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950208" y="5016246"/>
            <a:ext cx="2125980" cy="219456"/>
            <a:chOff x="0" y="0"/>
            <a:chExt cx="2834640" cy="29260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834640" cy="292608"/>
            </a:xfrm>
            <a:custGeom>
              <a:avLst/>
              <a:gdLst/>
              <a:ahLst/>
              <a:cxnLst/>
              <a:rect r="r" b="b" t="t" l="l"/>
              <a:pathLst>
                <a:path h="292608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8761" r="0" b="-138761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0"/>
              <a:ext cx="283464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47"/>
                </a:lnSpc>
              </a:pPr>
              <a:r>
                <a:rPr lang="en-US" sz="1289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Needs Improvement  57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095363" y="2757297"/>
            <a:ext cx="10374630" cy="2830830"/>
            <a:chOff x="0" y="0"/>
            <a:chExt cx="13832840" cy="37744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3832839" cy="3774440"/>
            </a:xfrm>
            <a:custGeom>
              <a:avLst/>
              <a:gdLst/>
              <a:ahLst/>
              <a:cxnLst/>
              <a:rect r="r" b="b" t="t" l="l"/>
              <a:pathLst>
                <a:path h="3774440" w="13832839">
                  <a:moveTo>
                    <a:pt x="0" y="147320"/>
                  </a:moveTo>
                  <a:cubicBezTo>
                    <a:pt x="0" y="65913"/>
                    <a:pt x="65913" y="0"/>
                    <a:pt x="147320" y="0"/>
                  </a:cubicBezTo>
                  <a:lnTo>
                    <a:pt x="13685520" y="0"/>
                  </a:lnTo>
                  <a:cubicBezTo>
                    <a:pt x="13766800" y="0"/>
                    <a:pt x="13832839" y="65913"/>
                    <a:pt x="13832839" y="147320"/>
                  </a:cubicBezTo>
                  <a:lnTo>
                    <a:pt x="13832839" y="3627120"/>
                  </a:lnTo>
                  <a:cubicBezTo>
                    <a:pt x="13832839" y="3708400"/>
                    <a:pt x="13766927" y="3774440"/>
                    <a:pt x="13685520" y="3774440"/>
                  </a:cubicBezTo>
                  <a:lnTo>
                    <a:pt x="147320" y="3774440"/>
                  </a:lnTo>
                  <a:cubicBezTo>
                    <a:pt x="66040" y="3774440"/>
                    <a:pt x="0" y="3708527"/>
                    <a:pt x="0" y="3627120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7324344" y="2931414"/>
            <a:ext cx="9916668" cy="246888"/>
            <a:chOff x="0" y="0"/>
            <a:chExt cx="13222224" cy="32918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13222224" cy="329184"/>
            </a:xfrm>
            <a:custGeom>
              <a:avLst/>
              <a:gdLst/>
              <a:ahLst/>
              <a:cxnLst/>
              <a:rect r="r" b="b" t="t" l="l"/>
              <a:pathLst>
                <a:path h="329184" w="13222224">
                  <a:moveTo>
                    <a:pt x="0" y="0"/>
                  </a:moveTo>
                  <a:lnTo>
                    <a:pt x="13222224" y="0"/>
                  </a:lnTo>
                  <a:lnTo>
                    <a:pt x="1322222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2649" r="0" b="-732649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13222224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DAX — OVERALL SELLER PERFORMANCE SCORE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7324344" y="3268980"/>
            <a:ext cx="9916668" cy="21724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Seller Performance Score =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DIVIDE(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[Seller Delivery Score] + [Seller Review Score] +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[Seller Freight Score] + [Seller Speed Score],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4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Eligibility: [Seller Delivered Orders] &gt;= 50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86003" y="5756148"/>
            <a:ext cx="5258562" cy="2727958"/>
            <a:chOff x="0" y="0"/>
            <a:chExt cx="7011416" cy="3637277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011416" cy="3637277"/>
            </a:xfrm>
            <a:custGeom>
              <a:avLst/>
              <a:gdLst/>
              <a:ahLst/>
              <a:cxnLst/>
              <a:rect r="r" b="b" t="t" l="l"/>
              <a:pathLst>
                <a:path h="3637277" w="7011416">
                  <a:moveTo>
                    <a:pt x="0" y="123843"/>
                  </a:moveTo>
                  <a:cubicBezTo>
                    <a:pt x="0" y="55457"/>
                    <a:pt x="65913" y="0"/>
                    <a:pt x="147193" y="0"/>
                  </a:cubicBezTo>
                  <a:lnTo>
                    <a:pt x="6864223" y="0"/>
                  </a:lnTo>
                  <a:cubicBezTo>
                    <a:pt x="6945503" y="0"/>
                    <a:pt x="7011416" y="55457"/>
                    <a:pt x="7011416" y="123843"/>
                  </a:cubicBezTo>
                  <a:lnTo>
                    <a:pt x="7011416" y="3513434"/>
                  </a:lnTo>
                  <a:cubicBezTo>
                    <a:pt x="7011416" y="3581820"/>
                    <a:pt x="6945503" y="3637277"/>
                    <a:pt x="6864223" y="3637277"/>
                  </a:cubicBezTo>
                  <a:lnTo>
                    <a:pt x="147193" y="3637277"/>
                  </a:lnTo>
                  <a:cubicBezTo>
                    <a:pt x="65913" y="3637277"/>
                    <a:pt x="0" y="3581820"/>
                    <a:pt x="0" y="3513434"/>
                  </a:cubicBezTo>
                  <a:close/>
                </a:path>
              </a:pathLst>
            </a:custGeom>
            <a:solidFill>
              <a:srgbClr val="FEF2F2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32891" y="6061329"/>
            <a:ext cx="540258" cy="540258"/>
            <a:chOff x="0" y="0"/>
            <a:chExt cx="720344" cy="7203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42416" y="6180582"/>
            <a:ext cx="521208" cy="301752"/>
            <a:chOff x="0" y="0"/>
            <a:chExt cx="694944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4944" cy="402336"/>
            </a:xfrm>
            <a:custGeom>
              <a:avLst/>
              <a:gdLst/>
              <a:ahLst/>
              <a:cxnLst/>
              <a:rect r="r" b="b" t="t" l="l"/>
              <a:pathLst>
                <a:path h="4023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" r="0" b="3452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6949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28216" y="6180582"/>
            <a:ext cx="4087368" cy="301752"/>
            <a:chOff x="0" y="0"/>
            <a:chExt cx="5449824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449824" cy="402336"/>
            </a:xfrm>
            <a:custGeom>
              <a:avLst/>
              <a:gdLst/>
              <a:ahLst/>
              <a:cxnLst/>
              <a:rect r="r" b="b" t="t" l="l"/>
              <a:pathLst>
                <a:path h="402336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33" r="0" b="-213933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44982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 sizeable improvement pool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709166" y="6877812"/>
            <a:ext cx="3702939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109 sellers are either Watchlist or Needs Improvement — 46.4% of the eligible base. Performance governance should focus here first.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6231255" y="5756148"/>
            <a:ext cx="5258562" cy="2727958"/>
            <a:chOff x="0" y="0"/>
            <a:chExt cx="7011416" cy="3637277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011416" cy="3637277"/>
            </a:xfrm>
            <a:custGeom>
              <a:avLst/>
              <a:gdLst/>
              <a:ahLst/>
              <a:cxnLst/>
              <a:rect r="r" b="b" t="t" l="l"/>
              <a:pathLst>
                <a:path h="3637277" w="7011416">
                  <a:moveTo>
                    <a:pt x="0" y="123843"/>
                  </a:moveTo>
                  <a:cubicBezTo>
                    <a:pt x="0" y="55457"/>
                    <a:pt x="65913" y="0"/>
                    <a:pt x="147193" y="0"/>
                  </a:cubicBezTo>
                  <a:lnTo>
                    <a:pt x="6864223" y="0"/>
                  </a:lnTo>
                  <a:cubicBezTo>
                    <a:pt x="6945503" y="0"/>
                    <a:pt x="7011416" y="55457"/>
                    <a:pt x="7011416" y="123843"/>
                  </a:cubicBezTo>
                  <a:lnTo>
                    <a:pt x="7011416" y="3513434"/>
                  </a:lnTo>
                  <a:cubicBezTo>
                    <a:pt x="7011416" y="3581820"/>
                    <a:pt x="6945503" y="3637277"/>
                    <a:pt x="6864223" y="3637277"/>
                  </a:cubicBezTo>
                  <a:lnTo>
                    <a:pt x="147193" y="3637277"/>
                  </a:lnTo>
                  <a:cubicBezTo>
                    <a:pt x="65913" y="3637277"/>
                    <a:pt x="0" y="3581820"/>
                    <a:pt x="0" y="3513434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6478143" y="6061329"/>
            <a:ext cx="540258" cy="540258"/>
            <a:chOff x="0" y="0"/>
            <a:chExt cx="720344" cy="72034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3" id="73"/>
          <p:cNvGrpSpPr/>
          <p:nvPr/>
        </p:nvGrpSpPr>
        <p:grpSpPr>
          <a:xfrm rot="0">
            <a:off x="6487668" y="6180582"/>
            <a:ext cx="521208" cy="301752"/>
            <a:chOff x="0" y="0"/>
            <a:chExt cx="694944" cy="402336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694944" cy="402336"/>
            </a:xfrm>
            <a:custGeom>
              <a:avLst/>
              <a:gdLst/>
              <a:ahLst/>
              <a:cxnLst/>
              <a:rect r="r" b="b" t="t" l="l"/>
              <a:pathLst>
                <a:path h="4023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" r="0" b="34525"/>
              </a:stretch>
            </a:blipFill>
          </p:spPr>
        </p:sp>
        <p:sp>
          <p:nvSpPr>
            <p:cNvPr name="TextBox 75" id="75"/>
            <p:cNvSpPr txBox="true"/>
            <p:nvPr/>
          </p:nvSpPr>
          <p:spPr>
            <a:xfrm>
              <a:off x="0" y="0"/>
              <a:ext cx="6949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76" id="76"/>
          <p:cNvGrpSpPr/>
          <p:nvPr/>
        </p:nvGrpSpPr>
        <p:grpSpPr>
          <a:xfrm rot="0">
            <a:off x="7173468" y="6180582"/>
            <a:ext cx="4087368" cy="301752"/>
            <a:chOff x="0" y="0"/>
            <a:chExt cx="5449824" cy="402336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5449824" cy="402336"/>
            </a:xfrm>
            <a:custGeom>
              <a:avLst/>
              <a:gdLst/>
              <a:ahLst/>
              <a:cxnLst/>
              <a:rect r="r" b="b" t="t" l="l"/>
              <a:pathLst>
                <a:path h="402336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33" r="0" b="-213933"/>
              </a:stretch>
            </a:blipFill>
          </p:spPr>
        </p:sp>
        <p:sp>
          <p:nvSpPr>
            <p:cNvPr name="TextBox 78" id="78"/>
            <p:cNvSpPr txBox="true"/>
            <p:nvPr/>
          </p:nvSpPr>
          <p:spPr>
            <a:xfrm>
              <a:off x="0" y="0"/>
              <a:ext cx="544982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 review alone is not enough</a:t>
              </a:r>
            </a:p>
          </p:txBody>
        </p:sp>
      </p:grpSp>
      <p:sp>
        <p:nvSpPr>
          <p:cNvPr name="TextBox 79" id="79"/>
          <p:cNvSpPr txBox="true"/>
          <p:nvPr/>
        </p:nvSpPr>
        <p:spPr>
          <a:xfrm rot="0">
            <a:off x="7154418" y="6877812"/>
            <a:ext cx="3701448" cy="876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The scorecard prevents one strong metric from masking weak freight efficiency or slow delivery by balancing all four dimensions equally.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11676507" y="5756148"/>
            <a:ext cx="5793486" cy="2727958"/>
            <a:chOff x="0" y="0"/>
            <a:chExt cx="7724648" cy="3637277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7724649" cy="3637277"/>
            </a:xfrm>
            <a:custGeom>
              <a:avLst/>
              <a:gdLst/>
              <a:ahLst/>
              <a:cxnLst/>
              <a:rect r="r" b="b" t="t" l="l"/>
              <a:pathLst>
                <a:path h="3637277" w="7724649">
                  <a:moveTo>
                    <a:pt x="0" y="123843"/>
                  </a:moveTo>
                  <a:cubicBezTo>
                    <a:pt x="0" y="55457"/>
                    <a:pt x="65913" y="0"/>
                    <a:pt x="147193" y="0"/>
                  </a:cubicBezTo>
                  <a:lnTo>
                    <a:pt x="7577455" y="0"/>
                  </a:lnTo>
                  <a:cubicBezTo>
                    <a:pt x="7658736" y="0"/>
                    <a:pt x="7724649" y="55457"/>
                    <a:pt x="7724649" y="123843"/>
                  </a:cubicBezTo>
                  <a:lnTo>
                    <a:pt x="7724649" y="3513434"/>
                  </a:lnTo>
                  <a:cubicBezTo>
                    <a:pt x="7724649" y="3581820"/>
                    <a:pt x="7658736" y="3637277"/>
                    <a:pt x="7577455" y="3637277"/>
                  </a:cubicBezTo>
                  <a:lnTo>
                    <a:pt x="147193" y="3637277"/>
                  </a:lnTo>
                  <a:cubicBezTo>
                    <a:pt x="65913" y="3637277"/>
                    <a:pt x="0" y="3581820"/>
                    <a:pt x="0" y="3513434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82" id="82"/>
          <p:cNvGrpSpPr/>
          <p:nvPr/>
        </p:nvGrpSpPr>
        <p:grpSpPr>
          <a:xfrm rot="0">
            <a:off x="11923395" y="6061329"/>
            <a:ext cx="540258" cy="540258"/>
            <a:chOff x="0" y="0"/>
            <a:chExt cx="720344" cy="7203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84" id="84"/>
          <p:cNvGrpSpPr/>
          <p:nvPr/>
        </p:nvGrpSpPr>
        <p:grpSpPr>
          <a:xfrm rot="0">
            <a:off x="11932920" y="6180582"/>
            <a:ext cx="521208" cy="301752"/>
            <a:chOff x="0" y="0"/>
            <a:chExt cx="694944" cy="402336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694944" cy="402336"/>
            </a:xfrm>
            <a:custGeom>
              <a:avLst/>
              <a:gdLst/>
              <a:ahLst/>
              <a:cxnLst/>
              <a:rect r="r" b="b" t="t" l="l"/>
              <a:pathLst>
                <a:path h="4023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" r="0" b="34525"/>
              </a:stretch>
            </a:blipFill>
          </p:spPr>
        </p:sp>
        <p:sp>
          <p:nvSpPr>
            <p:cNvPr name="TextBox 86" id="86"/>
            <p:cNvSpPr txBox="true"/>
            <p:nvPr/>
          </p:nvSpPr>
          <p:spPr>
            <a:xfrm>
              <a:off x="0" y="0"/>
              <a:ext cx="6949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87" id="87"/>
          <p:cNvGrpSpPr/>
          <p:nvPr/>
        </p:nvGrpSpPr>
        <p:grpSpPr>
          <a:xfrm rot="0">
            <a:off x="12618720" y="6180582"/>
            <a:ext cx="4622292" cy="301752"/>
            <a:chOff x="0" y="0"/>
            <a:chExt cx="6163056" cy="402336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6163056" cy="402336"/>
            </a:xfrm>
            <a:custGeom>
              <a:avLst/>
              <a:gdLst/>
              <a:ahLst/>
              <a:cxnLst/>
              <a:rect r="r" b="b" t="t" l="l"/>
              <a:pathLst>
                <a:path h="402336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475" r="0" b="-248475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0"/>
              <a:ext cx="6163056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Quartiles make the method explainable</a:t>
              </a:r>
            </a:p>
          </p:txBody>
        </p:sp>
      </p:grpSp>
      <p:sp>
        <p:nvSpPr>
          <p:cNvPr name="TextBox 90" id="90"/>
          <p:cNvSpPr txBox="true"/>
          <p:nvPr/>
        </p:nvSpPr>
        <p:spPr>
          <a:xfrm rot="0">
            <a:off x="12599670" y="6877812"/>
            <a:ext cx="4329891" cy="65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75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Scores from 1–4 are based on the eligible-seller distribution, making the ranking relative, transparent and easy to defend in review.</a:t>
            </a:r>
          </a:p>
        </p:txBody>
      </p:sp>
      <p:grpSp>
        <p:nvGrpSpPr>
          <p:cNvPr name="Group 91" id="91"/>
          <p:cNvGrpSpPr/>
          <p:nvPr/>
        </p:nvGrpSpPr>
        <p:grpSpPr>
          <a:xfrm rot="0">
            <a:off x="1805940" y="8915400"/>
            <a:ext cx="14676120" cy="329184"/>
            <a:chOff x="0" y="0"/>
            <a:chExt cx="19568160" cy="438912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19568161" cy="438912"/>
            </a:xfrm>
            <a:custGeom>
              <a:avLst/>
              <a:gdLst/>
              <a:ahLst/>
              <a:cxnLst/>
              <a:rect r="r" b="b" t="t" l="l"/>
              <a:pathLst>
                <a:path h="438912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18707" r="0" b="-818707"/>
              </a:stretch>
            </a:blipFill>
          </p:spPr>
        </p:sp>
        <p:sp>
          <p:nvSpPr>
            <p:cNvPr name="TextBox 93" id="93"/>
            <p:cNvSpPr txBox="true"/>
            <p:nvPr/>
          </p:nvSpPr>
          <p:spPr>
            <a:xfrm>
              <a:off x="0" y="0"/>
              <a:ext cx="1956816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83"/>
                </a:lnSpc>
              </a:pPr>
              <a:r>
                <a:rPr lang="en-US" sz="156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Overall score bands:  Excellent ≥ 3.00  •  Good ≥ 2.50  •  Watchlist ≥ 2.00  •  Needs Improvement &lt; 2.00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3097"/>
            <a:ext cx="12207240" cy="1281829"/>
            <a:chOff x="0" y="0"/>
            <a:chExt cx="16276320" cy="17091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1709105"/>
            </a:xfrm>
            <a:custGeom>
              <a:avLst/>
              <a:gdLst/>
              <a:ahLst/>
              <a:cxnLst/>
              <a:rect r="r" b="b" t="t" l="l"/>
              <a:pathLst>
                <a:path h="1709105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709105"/>
                  </a:lnTo>
                  <a:lnTo>
                    <a:pt x="0" y="17091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9881" r="0" b="-11124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17091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Transportation Cost Analysis — Where Are We Spending?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2053971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Freight expenditure is examined by geography, origin–destination movement, product category and delivery outcome.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75907" y="2528697"/>
            <a:ext cx="10607802" cy="7081647"/>
            <a:chOff x="0" y="0"/>
            <a:chExt cx="14143736" cy="94421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143737" cy="9442196"/>
            </a:xfrm>
            <a:custGeom>
              <a:avLst/>
              <a:gdLst/>
              <a:ahLst/>
              <a:cxnLst/>
              <a:rect r="r" b="b" t="t" l="l"/>
              <a:pathLst>
                <a:path h="9442196" w="14143737">
                  <a:moveTo>
                    <a:pt x="0" y="138609"/>
                  </a:moveTo>
                  <a:cubicBezTo>
                    <a:pt x="0" y="62044"/>
                    <a:pt x="65659" y="0"/>
                    <a:pt x="146685" y="0"/>
                  </a:cubicBezTo>
                  <a:lnTo>
                    <a:pt x="13997051" y="0"/>
                  </a:lnTo>
                  <a:cubicBezTo>
                    <a:pt x="14078077" y="0"/>
                    <a:pt x="14143737" y="62044"/>
                    <a:pt x="14143737" y="138609"/>
                  </a:cubicBezTo>
                  <a:lnTo>
                    <a:pt x="14143737" y="9303587"/>
                  </a:lnTo>
                  <a:cubicBezTo>
                    <a:pt x="14143737" y="9380152"/>
                    <a:pt x="14078077" y="9442196"/>
                    <a:pt x="13997051" y="9442196"/>
                  </a:cubicBezTo>
                  <a:lnTo>
                    <a:pt x="146685" y="9442196"/>
                  </a:lnTo>
                  <a:cubicBezTo>
                    <a:pt x="65659" y="9442196"/>
                    <a:pt x="0" y="9380152"/>
                    <a:pt x="0" y="930358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7022592" y="2702814"/>
            <a:ext cx="10314432" cy="6719697"/>
            <a:chOff x="0" y="0"/>
            <a:chExt cx="13752576" cy="8959596"/>
          </a:xfrm>
        </p:grpSpPr>
        <p:sp>
          <p:nvSpPr>
            <p:cNvPr name="Freeform 22" id="22" descr="/mnt/data/ppt_assets/transport-1.png"/>
            <p:cNvSpPr/>
            <p:nvPr/>
          </p:nvSpPr>
          <p:spPr>
            <a:xfrm flipH="false" flipV="false" rot="0">
              <a:off x="0" y="0"/>
              <a:ext cx="13752576" cy="8959622"/>
            </a:xfrm>
            <a:custGeom>
              <a:avLst/>
              <a:gdLst/>
              <a:ahLst/>
              <a:cxnLst/>
              <a:rect r="r" b="b" t="t" l="l"/>
              <a:pathLst>
                <a:path h="8959622" w="13752576">
                  <a:moveTo>
                    <a:pt x="0" y="0"/>
                  </a:moveTo>
                  <a:lnTo>
                    <a:pt x="13752576" y="0"/>
                  </a:lnTo>
                  <a:lnTo>
                    <a:pt x="13752576" y="8959622"/>
                  </a:lnTo>
                  <a:lnTo>
                    <a:pt x="0" y="89596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08" t="0" r="-120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95528" y="2528697"/>
            <a:ext cx="5427345" cy="1390650"/>
            <a:chOff x="0" y="0"/>
            <a:chExt cx="7236460" cy="18542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236460" cy="1854200"/>
            </a:xfrm>
            <a:custGeom>
              <a:avLst/>
              <a:gdLst/>
              <a:ahLst/>
              <a:cxnLst/>
              <a:rect r="r" b="b" t="t" l="l"/>
              <a:pathLst>
                <a:path h="1854200" w="7236460">
                  <a:moveTo>
                    <a:pt x="0" y="148336"/>
                  </a:moveTo>
                  <a:cubicBezTo>
                    <a:pt x="0" y="66421"/>
                    <a:pt x="66305" y="0"/>
                    <a:pt x="148076" y="0"/>
                  </a:cubicBezTo>
                  <a:lnTo>
                    <a:pt x="7088384" y="0"/>
                  </a:lnTo>
                  <a:cubicBezTo>
                    <a:pt x="7170155" y="0"/>
                    <a:pt x="7236460" y="66421"/>
                    <a:pt x="7236460" y="148336"/>
                  </a:cubicBezTo>
                  <a:lnTo>
                    <a:pt x="7236460" y="1705864"/>
                  </a:lnTo>
                  <a:cubicBezTo>
                    <a:pt x="7236460" y="1787779"/>
                    <a:pt x="7170155" y="1854200"/>
                    <a:pt x="7088384" y="1854200"/>
                  </a:cubicBezTo>
                  <a:lnTo>
                    <a:pt x="148076" y="1854200"/>
                  </a:lnTo>
                  <a:cubicBezTo>
                    <a:pt x="66305" y="1854200"/>
                    <a:pt x="0" y="1787779"/>
                    <a:pt x="0" y="170586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795528" y="2528697"/>
            <a:ext cx="87630" cy="1390650"/>
            <a:chOff x="0" y="0"/>
            <a:chExt cx="116840" cy="1854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" cy="1854200"/>
            </a:xfrm>
            <a:custGeom>
              <a:avLst/>
              <a:gdLst/>
              <a:ahLst/>
              <a:cxnLst/>
              <a:rect r="r" b="b" t="t" l="l"/>
              <a:pathLst>
                <a:path h="1854200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854200"/>
                  </a:lnTo>
                  <a:lnTo>
                    <a:pt x="0" y="1854200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014984" y="2702814"/>
            <a:ext cx="5088636" cy="274320"/>
            <a:chOff x="0" y="0"/>
            <a:chExt cx="6784848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784848" cy="365760"/>
            </a:xfrm>
            <a:custGeom>
              <a:avLst/>
              <a:gdLst/>
              <a:ahLst/>
              <a:cxnLst/>
              <a:rect r="r" b="b" t="t" l="l"/>
              <a:pathLst>
                <a:path h="365760" w="6784848">
                  <a:moveTo>
                    <a:pt x="0" y="0"/>
                  </a:moveTo>
                  <a:lnTo>
                    <a:pt x="6784848" y="0"/>
                  </a:lnTo>
                  <a:lnTo>
                    <a:pt x="67848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447" r="0" b="-311447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67848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Total Transportation Cost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14984" y="3059430"/>
            <a:ext cx="5088636" cy="521208"/>
            <a:chOff x="0" y="0"/>
            <a:chExt cx="6784848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784848" cy="694944"/>
            </a:xfrm>
            <a:custGeom>
              <a:avLst/>
              <a:gdLst/>
              <a:ahLst/>
              <a:cxnLst/>
              <a:rect r="r" b="b" t="t" l="l"/>
              <a:pathLst>
                <a:path h="694944" w="6784848">
                  <a:moveTo>
                    <a:pt x="0" y="0"/>
                  </a:moveTo>
                  <a:lnTo>
                    <a:pt x="6784848" y="0"/>
                  </a:lnTo>
                  <a:lnTo>
                    <a:pt x="67848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235" r="0" b="-140235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67848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969.23K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14984" y="3525774"/>
            <a:ext cx="5088636" cy="246888"/>
            <a:chOff x="0" y="0"/>
            <a:chExt cx="6784848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784848" cy="329184"/>
            </a:xfrm>
            <a:custGeom>
              <a:avLst/>
              <a:gdLst/>
              <a:ahLst/>
              <a:cxnLst/>
              <a:rect r="r" b="b" t="t" l="l"/>
              <a:pathLst>
                <a:path h="329184" w="6784848">
                  <a:moveTo>
                    <a:pt x="0" y="0"/>
                  </a:moveTo>
                  <a:lnTo>
                    <a:pt x="6784848" y="0"/>
                  </a:lnTo>
                  <a:lnTo>
                    <a:pt x="6784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1608" r="0" b="-351608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67848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Dashboard total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786003" y="4052697"/>
            <a:ext cx="5436870" cy="1555242"/>
            <a:chOff x="0" y="0"/>
            <a:chExt cx="7249160" cy="20736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249160" cy="2073656"/>
            </a:xfrm>
            <a:custGeom>
              <a:avLst/>
              <a:gdLst/>
              <a:ahLst/>
              <a:cxnLst/>
              <a:rect r="r" b="b" t="t" l="l"/>
              <a:pathLst>
                <a:path h="2073656" w="7249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7101078" y="0"/>
                  </a:lnTo>
                  <a:cubicBezTo>
                    <a:pt x="7182866" y="0"/>
                    <a:pt x="7249160" y="66294"/>
                    <a:pt x="7249160" y="148082"/>
                  </a:cubicBezTo>
                  <a:lnTo>
                    <a:pt x="7249160" y="1925574"/>
                  </a:lnTo>
                  <a:cubicBezTo>
                    <a:pt x="7249160" y="2007362"/>
                    <a:pt x="7182866" y="2073656"/>
                    <a:pt x="7101078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032891" y="4202049"/>
            <a:ext cx="540258" cy="540258"/>
            <a:chOff x="0" y="0"/>
            <a:chExt cx="720344" cy="72034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042416" y="4306633"/>
            <a:ext cx="521208" cy="331089"/>
            <a:chOff x="0" y="0"/>
            <a:chExt cx="694944" cy="44145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944" cy="441452"/>
            </a:xfrm>
            <a:custGeom>
              <a:avLst/>
              <a:gdLst/>
              <a:ahLst/>
              <a:cxnLst/>
              <a:rect r="r" b="b" t="t" l="l"/>
              <a:pathLst>
                <a:path h="441452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41452"/>
                  </a:lnTo>
                  <a:lnTo>
                    <a:pt x="0" y="4414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74" r="0" b="40327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694944" cy="4414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28216" y="4321302"/>
            <a:ext cx="4265676" cy="301752"/>
            <a:chOff x="0" y="0"/>
            <a:chExt cx="5687568" cy="402336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687568" cy="402336"/>
            </a:xfrm>
            <a:custGeom>
              <a:avLst/>
              <a:gdLst/>
              <a:ahLst/>
              <a:cxnLst/>
              <a:rect r="r" b="b" t="t" l="l"/>
              <a:pathLst>
                <a:path h="40233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7" r="0" b="-225447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568756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Geographic concentration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728216" y="4875657"/>
            <a:ext cx="40714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RJ and MG appear among the largest cost contributors in the state-level view.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786003" y="5713095"/>
            <a:ext cx="5436870" cy="1555242"/>
            <a:chOff x="0" y="0"/>
            <a:chExt cx="7249160" cy="207365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249160" cy="2073656"/>
            </a:xfrm>
            <a:custGeom>
              <a:avLst/>
              <a:gdLst/>
              <a:ahLst/>
              <a:cxnLst/>
              <a:rect r="r" b="b" t="t" l="l"/>
              <a:pathLst>
                <a:path h="2073656" w="7249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7101078" y="0"/>
                  </a:lnTo>
                  <a:cubicBezTo>
                    <a:pt x="7182866" y="0"/>
                    <a:pt x="7249160" y="66294"/>
                    <a:pt x="7249160" y="148082"/>
                  </a:cubicBezTo>
                  <a:lnTo>
                    <a:pt x="7249160" y="1925574"/>
                  </a:lnTo>
                  <a:cubicBezTo>
                    <a:pt x="7249160" y="2007362"/>
                    <a:pt x="7182866" y="2073656"/>
                    <a:pt x="7101078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1032891" y="5862447"/>
            <a:ext cx="540258" cy="540258"/>
            <a:chOff x="0" y="0"/>
            <a:chExt cx="720344" cy="72034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042416" y="5959792"/>
            <a:ext cx="521208" cy="345567"/>
            <a:chOff x="0" y="0"/>
            <a:chExt cx="694944" cy="4607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94944" cy="460756"/>
            </a:xfrm>
            <a:custGeom>
              <a:avLst/>
              <a:gdLst/>
              <a:ahLst/>
              <a:cxnLst/>
              <a:rect r="r" b="b" t="t" l="l"/>
              <a:pathLst>
                <a:path h="46075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60756"/>
                  </a:lnTo>
                  <a:lnTo>
                    <a:pt x="0" y="4607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4" r="0" b="42827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94944" cy="4607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728216" y="5981700"/>
            <a:ext cx="4265676" cy="301752"/>
            <a:chOff x="0" y="0"/>
            <a:chExt cx="5687568" cy="402336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687568" cy="402336"/>
            </a:xfrm>
            <a:custGeom>
              <a:avLst/>
              <a:gdLst/>
              <a:ahLst/>
              <a:cxnLst/>
              <a:rect r="r" b="b" t="t" l="l"/>
              <a:pathLst>
                <a:path h="40233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7" r="0" b="-225447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68756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Category concentration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728216" y="6536055"/>
            <a:ext cx="4071425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Health &amp; beauty and computer accessories lead transportation cost by product category.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786003" y="7366825"/>
            <a:ext cx="5436870" cy="1555242"/>
            <a:chOff x="0" y="0"/>
            <a:chExt cx="7249160" cy="207365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249160" cy="2073656"/>
            </a:xfrm>
            <a:custGeom>
              <a:avLst/>
              <a:gdLst/>
              <a:ahLst/>
              <a:cxnLst/>
              <a:rect r="r" b="b" t="t" l="l"/>
              <a:pathLst>
                <a:path h="2073656" w="7249160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7101078" y="0"/>
                  </a:lnTo>
                  <a:cubicBezTo>
                    <a:pt x="7182866" y="0"/>
                    <a:pt x="7249160" y="66294"/>
                    <a:pt x="7249160" y="148082"/>
                  </a:cubicBezTo>
                  <a:lnTo>
                    <a:pt x="7249160" y="1925574"/>
                  </a:lnTo>
                  <a:cubicBezTo>
                    <a:pt x="7249160" y="2007362"/>
                    <a:pt x="7182866" y="2073656"/>
                    <a:pt x="7101078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FFFBEB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0" id="60"/>
          <p:cNvGrpSpPr/>
          <p:nvPr/>
        </p:nvGrpSpPr>
        <p:grpSpPr>
          <a:xfrm rot="0">
            <a:off x="1032891" y="7519606"/>
            <a:ext cx="540258" cy="540258"/>
            <a:chOff x="0" y="0"/>
            <a:chExt cx="720344" cy="720344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042416" y="7612189"/>
            <a:ext cx="521208" cy="355092"/>
            <a:chOff x="0" y="0"/>
            <a:chExt cx="694944" cy="47345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94944" cy="473456"/>
            </a:xfrm>
            <a:custGeom>
              <a:avLst/>
              <a:gdLst/>
              <a:ahLst/>
              <a:cxnLst/>
              <a:rect r="r" b="b" t="t" l="l"/>
              <a:pathLst>
                <a:path h="47345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73456"/>
                  </a:lnTo>
                  <a:lnTo>
                    <a:pt x="0" y="4734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61" r="0" b="4436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694944" cy="4734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728216" y="7638859"/>
            <a:ext cx="4265676" cy="301752"/>
            <a:chOff x="0" y="0"/>
            <a:chExt cx="5687568" cy="40233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687568" cy="402336"/>
            </a:xfrm>
            <a:custGeom>
              <a:avLst/>
              <a:gdLst/>
              <a:ahLst/>
              <a:cxnLst/>
              <a:rect r="r" b="b" t="t" l="l"/>
              <a:pathLst>
                <a:path h="402336" w="5687568">
                  <a:moveTo>
                    <a:pt x="0" y="0"/>
                  </a:moveTo>
                  <a:lnTo>
                    <a:pt x="5687568" y="0"/>
                  </a:lnTo>
                  <a:lnTo>
                    <a:pt x="568756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447" r="0" b="-225447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0"/>
              <a:ext cx="568756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 ≠ inefficiency by itself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728216" y="8117014"/>
            <a:ext cx="4071425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The scatter compares transportation cost with delivery delay so expensive movements can be judged alongside service outcomes.</a:t>
            </a:r>
          </a:p>
        </p:txBody>
      </p:sp>
      <p:grpSp>
        <p:nvGrpSpPr>
          <p:cNvPr name="Group 69" id="69"/>
          <p:cNvGrpSpPr/>
          <p:nvPr/>
        </p:nvGrpSpPr>
        <p:grpSpPr>
          <a:xfrm rot="0">
            <a:off x="786003" y="9001506"/>
            <a:ext cx="5436870" cy="608838"/>
            <a:chOff x="0" y="0"/>
            <a:chExt cx="7249160" cy="81178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7249160" cy="811784"/>
            </a:xfrm>
            <a:custGeom>
              <a:avLst/>
              <a:gdLst/>
              <a:ahLst/>
              <a:cxnLst/>
              <a:rect r="r" b="b" t="t" l="l"/>
              <a:pathLst>
                <a:path h="811784" w="7249160">
                  <a:moveTo>
                    <a:pt x="0" y="151003"/>
                  </a:moveTo>
                  <a:cubicBezTo>
                    <a:pt x="0" y="67564"/>
                    <a:pt x="67564" y="0"/>
                    <a:pt x="151003" y="0"/>
                  </a:cubicBezTo>
                  <a:lnTo>
                    <a:pt x="7098157" y="0"/>
                  </a:lnTo>
                  <a:cubicBezTo>
                    <a:pt x="7181596" y="0"/>
                    <a:pt x="7249160" y="67564"/>
                    <a:pt x="7249160" y="151003"/>
                  </a:cubicBezTo>
                  <a:lnTo>
                    <a:pt x="7249160" y="660781"/>
                  </a:lnTo>
                  <a:cubicBezTo>
                    <a:pt x="7249160" y="744220"/>
                    <a:pt x="7181596" y="811784"/>
                    <a:pt x="7098157" y="811784"/>
                  </a:cubicBezTo>
                  <a:lnTo>
                    <a:pt x="151003" y="811784"/>
                  </a:lnTo>
                  <a:cubicBezTo>
                    <a:pt x="67564" y="811784"/>
                    <a:pt x="0" y="744220"/>
                    <a:pt x="0" y="660781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71" id="71"/>
          <p:cNvGrpSpPr/>
          <p:nvPr/>
        </p:nvGrpSpPr>
        <p:grpSpPr>
          <a:xfrm rot="0">
            <a:off x="1014984" y="9175623"/>
            <a:ext cx="4978908" cy="246888"/>
            <a:chOff x="0" y="0"/>
            <a:chExt cx="6638544" cy="329184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6638544" cy="329184"/>
            </a:xfrm>
            <a:custGeom>
              <a:avLst/>
              <a:gdLst/>
              <a:ahLst/>
              <a:cxnLst/>
              <a:rect r="r" b="b" t="t" l="l"/>
              <a:pathLst>
                <a:path h="329184" w="6638544">
                  <a:moveTo>
                    <a:pt x="0" y="0"/>
                  </a:moveTo>
                  <a:lnTo>
                    <a:pt x="6638544" y="0"/>
                  </a:lnTo>
                  <a:lnTo>
                    <a:pt x="663854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2948" r="0" b="-342948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9525"/>
              <a:ext cx="6638544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CALCULATION LOGIC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2 — DETAIL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1289685"/>
            <a:chOff x="0" y="0"/>
            <a:chExt cx="16276320" cy="17195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1719580"/>
            </a:xfrm>
            <a:custGeom>
              <a:avLst/>
              <a:gdLst/>
              <a:ahLst/>
              <a:cxnLst/>
              <a:rect r="r" b="b" t="t" l="l"/>
              <a:pathLst>
                <a:path h="1719580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719580"/>
                  </a:lnTo>
                  <a:lnTo>
                    <a:pt x="0" y="17195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907" r="0" b="-10995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17195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 &amp; Transportation Performance — Trends &amp; Drilldown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944807"/>
            <a:ext cx="10365105" cy="781629"/>
            <a:chOff x="0" y="0"/>
            <a:chExt cx="13820140" cy="104217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820141" cy="1042172"/>
            </a:xfrm>
            <a:custGeom>
              <a:avLst/>
              <a:gdLst/>
              <a:ahLst/>
              <a:cxnLst/>
              <a:rect r="r" b="b" t="t" l="l"/>
              <a:pathLst>
                <a:path h="1042172" w="13820141">
                  <a:moveTo>
                    <a:pt x="0" y="0"/>
                  </a:moveTo>
                  <a:lnTo>
                    <a:pt x="13820141" y="0"/>
                  </a:lnTo>
                  <a:lnTo>
                    <a:pt x="13820141" y="1042172"/>
                  </a:lnTo>
                  <a:lnTo>
                    <a:pt x="0" y="10421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535" r="-41591" b="-29217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3820140" cy="10421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second transportation view adds monthly trend analysis, hierarchical drilldown and Power BI-generated narrative insights.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697861"/>
            <a:ext cx="10374630" cy="6775704"/>
            <a:chOff x="0" y="0"/>
            <a:chExt cx="13832840" cy="903427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832839" cy="9034272"/>
            </a:xfrm>
            <a:custGeom>
              <a:avLst/>
              <a:gdLst/>
              <a:ahLst/>
              <a:cxnLst/>
              <a:rect r="r" b="b" t="t" l="l"/>
              <a:pathLst>
                <a:path h="9034272" w="13832839">
                  <a:moveTo>
                    <a:pt x="0" y="131896"/>
                  </a:moveTo>
                  <a:cubicBezTo>
                    <a:pt x="0" y="59039"/>
                    <a:pt x="65659" y="0"/>
                    <a:pt x="146685" y="0"/>
                  </a:cubicBezTo>
                  <a:lnTo>
                    <a:pt x="13686155" y="0"/>
                  </a:lnTo>
                  <a:cubicBezTo>
                    <a:pt x="13767181" y="0"/>
                    <a:pt x="13832839" y="59039"/>
                    <a:pt x="13832839" y="131896"/>
                  </a:cubicBezTo>
                  <a:lnTo>
                    <a:pt x="13832839" y="8902376"/>
                  </a:lnTo>
                  <a:cubicBezTo>
                    <a:pt x="13832839" y="8975233"/>
                    <a:pt x="13767181" y="9034272"/>
                    <a:pt x="13686155" y="9034272"/>
                  </a:cubicBezTo>
                  <a:lnTo>
                    <a:pt x="146685" y="9034272"/>
                  </a:lnTo>
                  <a:cubicBezTo>
                    <a:pt x="65659" y="9034272"/>
                    <a:pt x="0" y="8975233"/>
                    <a:pt x="0" y="890237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" y="2870902"/>
            <a:ext cx="10081260" cy="6412859"/>
            <a:chOff x="0" y="0"/>
            <a:chExt cx="13441680" cy="8550478"/>
          </a:xfrm>
        </p:grpSpPr>
        <p:sp>
          <p:nvSpPr>
            <p:cNvPr name="Freeform 22" id="22" descr="/mnt/data/ppt_assets/transport-2.png"/>
            <p:cNvSpPr/>
            <p:nvPr/>
          </p:nvSpPr>
          <p:spPr>
            <a:xfrm flipH="false" flipV="false" rot="0">
              <a:off x="0" y="0"/>
              <a:ext cx="13441680" cy="8550529"/>
            </a:xfrm>
            <a:custGeom>
              <a:avLst/>
              <a:gdLst/>
              <a:ahLst/>
              <a:cxnLst/>
              <a:rect r="r" b="b" t="t" l="l"/>
              <a:pathLst>
                <a:path h="8550529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8550529"/>
                  </a:lnTo>
                  <a:lnTo>
                    <a:pt x="0" y="85505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580495" y="1938147"/>
            <a:ext cx="5903214" cy="7535418"/>
            <a:chOff x="0" y="0"/>
            <a:chExt cx="7870952" cy="100472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70952" cy="10047224"/>
            </a:xfrm>
            <a:custGeom>
              <a:avLst/>
              <a:gdLst/>
              <a:ahLst/>
              <a:cxnLst/>
              <a:rect r="r" b="b" t="t" l="l"/>
              <a:pathLst>
                <a:path h="10047224" w="7870952">
                  <a:moveTo>
                    <a:pt x="0" y="146812"/>
                  </a:moveTo>
                  <a:cubicBezTo>
                    <a:pt x="0" y="65659"/>
                    <a:pt x="65659" y="0"/>
                    <a:pt x="146812" y="0"/>
                  </a:cubicBezTo>
                  <a:lnTo>
                    <a:pt x="7724140" y="0"/>
                  </a:lnTo>
                  <a:cubicBezTo>
                    <a:pt x="7805166" y="0"/>
                    <a:pt x="7870952" y="65659"/>
                    <a:pt x="7870952" y="146812"/>
                  </a:cubicBezTo>
                  <a:lnTo>
                    <a:pt x="7870952" y="9900412"/>
                  </a:lnTo>
                  <a:cubicBezTo>
                    <a:pt x="7870952" y="9981438"/>
                    <a:pt x="7805293" y="10047224"/>
                    <a:pt x="7724140" y="10047224"/>
                  </a:cubicBezTo>
                  <a:lnTo>
                    <a:pt x="146812" y="10047224"/>
                  </a:lnTo>
                  <a:cubicBezTo>
                    <a:pt x="65659" y="10047224"/>
                    <a:pt x="0" y="9981565"/>
                    <a:pt x="0" y="9900412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1950827" y="2294763"/>
            <a:ext cx="2076450" cy="403098"/>
            <a:chOff x="0" y="0"/>
            <a:chExt cx="2768600" cy="537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68600" cy="537464"/>
            </a:xfrm>
            <a:custGeom>
              <a:avLst/>
              <a:gdLst/>
              <a:ahLst/>
              <a:cxnLst/>
              <a:rect r="r" b="b" t="t" l="l"/>
              <a:pathLst>
                <a:path h="537464" w="276860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653411" y="0"/>
                  </a:lnTo>
                  <a:cubicBezTo>
                    <a:pt x="2717038" y="0"/>
                    <a:pt x="2768600" y="51562"/>
                    <a:pt x="2768600" y="115189"/>
                  </a:cubicBezTo>
                  <a:lnTo>
                    <a:pt x="2768600" y="422275"/>
                  </a:lnTo>
                  <a:cubicBezTo>
                    <a:pt x="2768600" y="485902"/>
                    <a:pt x="2717038" y="537464"/>
                    <a:pt x="265341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226709" y="2399288"/>
            <a:ext cx="1524687" cy="213099"/>
            <a:chOff x="0" y="0"/>
            <a:chExt cx="2032915" cy="2841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32915" cy="284131"/>
            </a:xfrm>
            <a:custGeom>
              <a:avLst/>
              <a:gdLst/>
              <a:ahLst/>
              <a:cxnLst/>
              <a:rect r="r" b="b" t="t" l="l"/>
              <a:pathLst>
                <a:path h="284131" w="2032915">
                  <a:moveTo>
                    <a:pt x="0" y="0"/>
                  </a:moveTo>
                  <a:lnTo>
                    <a:pt x="2032915" y="0"/>
                  </a:lnTo>
                  <a:lnTo>
                    <a:pt x="2032915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442" r="-7951" b="-95552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032915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POWER BI INSIGHT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1960352" y="2907792"/>
            <a:ext cx="5102352" cy="1261872"/>
            <a:chOff x="0" y="0"/>
            <a:chExt cx="6803136" cy="16824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803136" cy="1682496"/>
            </a:xfrm>
            <a:custGeom>
              <a:avLst/>
              <a:gdLst/>
              <a:ahLst/>
              <a:cxnLst/>
              <a:rect r="r" b="b" t="t" l="l"/>
              <a:pathLst>
                <a:path h="1682496" w="6803136">
                  <a:moveTo>
                    <a:pt x="0" y="0"/>
                  </a:moveTo>
                  <a:lnTo>
                    <a:pt x="6803136" y="0"/>
                  </a:lnTo>
                  <a:lnTo>
                    <a:pt x="6803136" y="1682496"/>
                  </a:lnTo>
                  <a:lnTo>
                    <a:pt x="0" y="16824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8787" r="0" b="-28787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9525"/>
              <a:ext cx="6803136" cy="16920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Transportation cost trended upward across the dataset period, with the dashboard insight reporting a 694.99% increase from Sep 2016 to Aug 2018.</a:t>
              </a:r>
            </a:p>
          </p:txBody>
        </p:sp>
      </p:grpSp>
      <p:sp>
        <p:nvSpPr>
          <p:cNvPr name="AutoShape 33" id="33"/>
          <p:cNvSpPr/>
          <p:nvPr/>
        </p:nvSpPr>
        <p:spPr>
          <a:xfrm rot="13980">
            <a:off x="11950808" y="4384358"/>
            <a:ext cx="4682528" cy="0"/>
          </a:xfrm>
          <a:prstGeom prst="line">
            <a:avLst/>
          </a:prstGeom>
          <a:ln cap="rnd" w="9525">
            <a:solidFill>
              <a:srgbClr val="D7E2EC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1950827" y="4887087"/>
            <a:ext cx="156210" cy="156210"/>
            <a:chOff x="0" y="0"/>
            <a:chExt cx="208280" cy="2082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2376820" y="4539996"/>
            <a:ext cx="4551219" cy="850392"/>
            <a:chOff x="0" y="0"/>
            <a:chExt cx="6068291" cy="113385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068292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68292">
                  <a:moveTo>
                    <a:pt x="0" y="0"/>
                  </a:moveTo>
                  <a:lnTo>
                    <a:pt x="6068292" y="0"/>
                  </a:lnTo>
                  <a:lnTo>
                    <a:pt x="606829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" r="2054" b="-52139"/>
              </a:stretch>
            </a:blip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6068291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The steepest incline occurred during Nov 2017 in the automatically generated trend insight.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1950827" y="5764911"/>
            <a:ext cx="156210" cy="156210"/>
            <a:chOff x="0" y="0"/>
            <a:chExt cx="208280" cy="20828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376820" y="5429250"/>
            <a:ext cx="4551219" cy="850392"/>
            <a:chOff x="0" y="0"/>
            <a:chExt cx="6068291" cy="11338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068292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68292">
                  <a:moveTo>
                    <a:pt x="0" y="0"/>
                  </a:moveTo>
                  <a:lnTo>
                    <a:pt x="6068292" y="0"/>
                  </a:lnTo>
                  <a:lnTo>
                    <a:pt x="606829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" r="2054" b="-52139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6068291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Cost varies materially across regions, cities and origin–destination combinations.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950827" y="6642735"/>
            <a:ext cx="156210" cy="156210"/>
            <a:chOff x="0" y="0"/>
            <a:chExt cx="208280" cy="20828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6" id="46"/>
          <p:cNvGrpSpPr/>
          <p:nvPr/>
        </p:nvGrpSpPr>
        <p:grpSpPr>
          <a:xfrm rot="0">
            <a:off x="12376820" y="6295644"/>
            <a:ext cx="4551219" cy="850392"/>
            <a:chOff x="0" y="0"/>
            <a:chExt cx="6068291" cy="113385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068292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68292">
                  <a:moveTo>
                    <a:pt x="0" y="0"/>
                  </a:moveTo>
                  <a:lnTo>
                    <a:pt x="6068292" y="0"/>
                  </a:lnTo>
                  <a:lnTo>
                    <a:pt x="606829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" r="2054" b="-52139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6068291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Filters allow the analyst to isolate specific seller/customer geography and categories.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950827" y="7520559"/>
            <a:ext cx="156210" cy="156210"/>
            <a:chOff x="0" y="0"/>
            <a:chExt cx="208280" cy="20828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376820" y="7165086"/>
            <a:ext cx="4551219" cy="850392"/>
            <a:chOff x="0" y="0"/>
            <a:chExt cx="6068291" cy="1133856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068292" cy="1133856"/>
            </a:xfrm>
            <a:custGeom>
              <a:avLst/>
              <a:gdLst/>
              <a:ahLst/>
              <a:cxnLst/>
              <a:rect r="r" b="b" t="t" l="l"/>
              <a:pathLst>
                <a:path h="1133856" w="6068292">
                  <a:moveTo>
                    <a:pt x="0" y="0"/>
                  </a:moveTo>
                  <a:lnTo>
                    <a:pt x="6068292" y="0"/>
                  </a:lnTo>
                  <a:lnTo>
                    <a:pt x="6068292" y="1133856"/>
                  </a:lnTo>
                  <a:lnTo>
                    <a:pt x="0" y="11338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2139" r="2054" b="-52139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0"/>
              <a:ext cx="6068291" cy="11338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09"/>
                </a:lnSpc>
              </a:pPr>
              <a:r>
                <a:rPr lang="en-US" sz="142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The monthly trend reveals spikes that deserve root-cause analysis instead of relying on the grand total.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1960352" y="8503920"/>
            <a:ext cx="2263140" cy="274320"/>
            <a:chOff x="0" y="0"/>
            <a:chExt cx="3017520" cy="36576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17520" cy="365760"/>
            </a:xfrm>
            <a:custGeom>
              <a:avLst/>
              <a:gdLst/>
              <a:ahLst/>
              <a:cxnLst/>
              <a:rect r="r" b="b" t="t" l="l"/>
              <a:pathLst>
                <a:path h="365760" w="3017520">
                  <a:moveTo>
                    <a:pt x="0" y="0"/>
                  </a:moveTo>
                  <a:lnTo>
                    <a:pt x="3017520" y="0"/>
                  </a:lnTo>
                  <a:lnTo>
                    <a:pt x="3017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0751" r="0" b="-11075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9525"/>
              <a:ext cx="3017520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interpretation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14154912" y="8230743"/>
            <a:ext cx="2880360" cy="712089"/>
            <a:chOff x="0" y="0"/>
            <a:chExt cx="3840480" cy="949452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840480" cy="949452"/>
            </a:xfrm>
            <a:custGeom>
              <a:avLst/>
              <a:gdLst/>
              <a:ahLst/>
              <a:cxnLst/>
              <a:rect r="r" b="b" t="t" l="l"/>
              <a:pathLst>
                <a:path h="949452" w="3840480">
                  <a:moveTo>
                    <a:pt x="0" y="0"/>
                  </a:moveTo>
                  <a:lnTo>
                    <a:pt x="3840480" y="0"/>
                  </a:lnTo>
                  <a:lnTo>
                    <a:pt x="3840480" y="949452"/>
                  </a:lnTo>
                  <a:lnTo>
                    <a:pt x="0" y="9494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071" r="0" b="-1156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3840480" cy="9494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Prioritise high-cost lanes where service does not improve proportionally with spend.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3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 &amp; Carrier-Stage Performance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 consolidated page compares route volume, approximate distance, transit time, freight efficiency, reliability and extreme exceptions.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1938147"/>
            <a:ext cx="11375898" cy="7507986"/>
            <a:chOff x="0" y="0"/>
            <a:chExt cx="15167864" cy="1001064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167865" cy="10010648"/>
            </a:xfrm>
            <a:custGeom>
              <a:avLst/>
              <a:gdLst/>
              <a:ahLst/>
              <a:cxnLst/>
              <a:rect r="r" b="b" t="t" l="l"/>
              <a:pathLst>
                <a:path h="10010648" w="15167865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5021179" y="0"/>
                  </a:lnTo>
                  <a:cubicBezTo>
                    <a:pt x="15102205" y="0"/>
                    <a:pt x="15167865" y="65659"/>
                    <a:pt x="15167865" y="146685"/>
                  </a:cubicBezTo>
                  <a:lnTo>
                    <a:pt x="15167865" y="9863963"/>
                  </a:lnTo>
                  <a:cubicBezTo>
                    <a:pt x="15167865" y="9944989"/>
                    <a:pt x="15102205" y="10010648"/>
                    <a:pt x="15021179" y="10010648"/>
                  </a:cubicBezTo>
                  <a:lnTo>
                    <a:pt x="146685" y="10010648"/>
                  </a:lnTo>
                  <a:cubicBezTo>
                    <a:pt x="65659" y="10010648"/>
                    <a:pt x="0" y="9944989"/>
                    <a:pt x="0" y="9863963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" y="2347917"/>
            <a:ext cx="11082528" cy="6688445"/>
            <a:chOff x="0" y="0"/>
            <a:chExt cx="14776704" cy="8917927"/>
          </a:xfrm>
        </p:grpSpPr>
        <p:sp>
          <p:nvSpPr>
            <p:cNvPr name="Freeform 22" id="22" descr="/mnt/data/ppt_assets/m2m3-7.png"/>
            <p:cNvSpPr/>
            <p:nvPr/>
          </p:nvSpPr>
          <p:spPr>
            <a:xfrm flipH="false" flipV="false" rot="0">
              <a:off x="0" y="0"/>
              <a:ext cx="14776704" cy="8917940"/>
            </a:xfrm>
            <a:custGeom>
              <a:avLst/>
              <a:gdLst/>
              <a:ahLst/>
              <a:cxnLst/>
              <a:rect r="r" b="b" t="t" l="l"/>
              <a:pathLst>
                <a:path h="8917940" w="14776704">
                  <a:moveTo>
                    <a:pt x="0" y="0"/>
                  </a:moveTo>
                  <a:lnTo>
                    <a:pt x="14776704" y="0"/>
                  </a:lnTo>
                  <a:lnTo>
                    <a:pt x="14776704" y="8917940"/>
                  </a:lnTo>
                  <a:lnTo>
                    <a:pt x="0" y="89179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178" t="0" r="-2178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72035" y="2075307"/>
            <a:ext cx="2350770" cy="1335786"/>
            <a:chOff x="0" y="0"/>
            <a:chExt cx="3134360" cy="17810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72035" y="2075307"/>
            <a:ext cx="87630" cy="1335786"/>
            <a:chOff x="0" y="0"/>
            <a:chExt cx="116840" cy="1781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701016" y="2249424"/>
            <a:ext cx="2002536" cy="274320"/>
            <a:chOff x="0" y="0"/>
            <a:chExt cx="2670048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Unique Routes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01016" y="2569464"/>
            <a:ext cx="2002536" cy="521208"/>
            <a:chOff x="0" y="0"/>
            <a:chExt cx="2670048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304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01016" y="3017520"/>
            <a:ext cx="2002536" cy="246888"/>
            <a:chOff x="0" y="0"/>
            <a:chExt cx="2670048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Seller → customer state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50643" y="2075307"/>
            <a:ext cx="2350770" cy="1335786"/>
            <a:chOff x="0" y="0"/>
            <a:chExt cx="3134360" cy="17810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050643" y="2075307"/>
            <a:ext cx="87630" cy="1335786"/>
            <a:chOff x="0" y="0"/>
            <a:chExt cx="116840" cy="17810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279624" y="2249424"/>
            <a:ext cx="2002536" cy="274320"/>
            <a:chOff x="0" y="0"/>
            <a:chExt cx="2670048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Avg Distance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279624" y="2569464"/>
            <a:ext cx="2002536" cy="521208"/>
            <a:chOff x="0" y="0"/>
            <a:chExt cx="2670048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520.11 km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279624" y="3017520"/>
            <a:ext cx="2002536" cy="246888"/>
            <a:chOff x="0" y="0"/>
            <a:chExt cx="2670048" cy="3291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Approx. geography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72035" y="3652647"/>
            <a:ext cx="2350770" cy="1335786"/>
            <a:chOff x="0" y="0"/>
            <a:chExt cx="3134360" cy="17810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472035" y="3652647"/>
            <a:ext cx="87630" cy="1335786"/>
            <a:chOff x="0" y="0"/>
            <a:chExt cx="116840" cy="17810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701016" y="3826764"/>
            <a:ext cx="2002536" cy="274320"/>
            <a:chOff x="0" y="0"/>
            <a:chExt cx="2670048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Avg Transit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01016" y="4146994"/>
            <a:ext cx="2002536" cy="521208"/>
            <a:chOff x="0" y="0"/>
            <a:chExt cx="2670048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8.63 Days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701016" y="4648200"/>
            <a:ext cx="2002536" cy="246888"/>
            <a:chOff x="0" y="0"/>
            <a:chExt cx="2670048" cy="32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Carrier-stage duration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50643" y="3652647"/>
            <a:ext cx="2350770" cy="1335786"/>
            <a:chOff x="0" y="0"/>
            <a:chExt cx="3134360" cy="17810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5050643" y="3652647"/>
            <a:ext cx="87630" cy="1335786"/>
            <a:chOff x="0" y="0"/>
            <a:chExt cx="116840" cy="17810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279624" y="3826764"/>
            <a:ext cx="2002536" cy="274320"/>
            <a:chOff x="0" y="0"/>
            <a:chExt cx="2670048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On-Time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279624" y="4146994"/>
            <a:ext cx="2002536" cy="521208"/>
            <a:chOff x="0" y="0"/>
            <a:chExt cx="2670048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93.91%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279624" y="4648200"/>
            <a:ext cx="2002536" cy="246888"/>
            <a:chOff x="0" y="0"/>
            <a:chExt cx="2670048" cy="329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Delivery reliability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72035" y="5229987"/>
            <a:ext cx="2350770" cy="1713357"/>
            <a:chOff x="0" y="0"/>
            <a:chExt cx="3134360" cy="228447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34360" cy="2284476"/>
            </a:xfrm>
            <a:custGeom>
              <a:avLst/>
              <a:gdLst/>
              <a:ahLst/>
              <a:cxnLst/>
              <a:rect r="r" b="b" t="t" l="l"/>
              <a:pathLst>
                <a:path h="2284476" w="3134360">
                  <a:moveTo>
                    <a:pt x="0" y="190427"/>
                  </a:moveTo>
                  <a:cubicBezTo>
                    <a:pt x="0" y="85195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85195"/>
                    <a:pt x="3134360" y="190427"/>
                  </a:cubicBezTo>
                  <a:lnTo>
                    <a:pt x="3134360" y="2094049"/>
                  </a:lnTo>
                  <a:cubicBezTo>
                    <a:pt x="3134360" y="2199118"/>
                    <a:pt x="3067939" y="2284476"/>
                    <a:pt x="2985897" y="2284476"/>
                  </a:cubicBezTo>
                  <a:lnTo>
                    <a:pt x="148463" y="2284476"/>
                  </a:lnTo>
                  <a:cubicBezTo>
                    <a:pt x="66421" y="2284476"/>
                    <a:pt x="0" y="2199280"/>
                    <a:pt x="0" y="20940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472035" y="5229987"/>
            <a:ext cx="87630" cy="1713357"/>
            <a:chOff x="0" y="0"/>
            <a:chExt cx="91092" cy="17810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1092" cy="1781048"/>
            </a:xfrm>
            <a:custGeom>
              <a:avLst/>
              <a:gdLst/>
              <a:ahLst/>
              <a:cxnLst/>
              <a:rect r="r" b="b" t="t" l="l"/>
              <a:pathLst>
                <a:path h="1781048" w="91092">
                  <a:moveTo>
                    <a:pt x="0" y="0"/>
                  </a:moveTo>
                  <a:lnTo>
                    <a:pt x="91092" y="0"/>
                  </a:lnTo>
                  <a:lnTo>
                    <a:pt x="91092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701016" y="5404104"/>
            <a:ext cx="2002536" cy="274320"/>
            <a:chOff x="0" y="0"/>
            <a:chExt cx="2670048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Transit &gt; 60 Days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01016" y="5882068"/>
            <a:ext cx="2002536" cy="521208"/>
            <a:chOff x="0" y="0"/>
            <a:chExt cx="2670048" cy="6949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98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701016" y="6583314"/>
            <a:ext cx="2002536" cy="246888"/>
            <a:chOff x="0" y="0"/>
            <a:chExt cx="2670048" cy="3291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Extreme exceptions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050643" y="5229987"/>
            <a:ext cx="2350770" cy="1713357"/>
            <a:chOff x="0" y="0"/>
            <a:chExt cx="3134360" cy="228447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34360" cy="2284476"/>
            </a:xfrm>
            <a:custGeom>
              <a:avLst/>
              <a:gdLst/>
              <a:ahLst/>
              <a:cxnLst/>
              <a:rect r="r" b="b" t="t" l="l"/>
              <a:pathLst>
                <a:path h="2284476" w="3134360">
                  <a:moveTo>
                    <a:pt x="0" y="190427"/>
                  </a:moveTo>
                  <a:cubicBezTo>
                    <a:pt x="0" y="85195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85195"/>
                    <a:pt x="3134360" y="190427"/>
                  </a:cubicBezTo>
                  <a:lnTo>
                    <a:pt x="3134360" y="2094049"/>
                  </a:lnTo>
                  <a:cubicBezTo>
                    <a:pt x="3134360" y="2199118"/>
                    <a:pt x="3067939" y="2284476"/>
                    <a:pt x="2985897" y="2284476"/>
                  </a:cubicBezTo>
                  <a:lnTo>
                    <a:pt x="148463" y="2284476"/>
                  </a:lnTo>
                  <a:cubicBezTo>
                    <a:pt x="66421" y="2284476"/>
                    <a:pt x="0" y="2199280"/>
                    <a:pt x="0" y="209404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5050643" y="5229987"/>
            <a:ext cx="87630" cy="1713357"/>
            <a:chOff x="0" y="0"/>
            <a:chExt cx="91092" cy="1781048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91092" cy="1781048"/>
            </a:xfrm>
            <a:custGeom>
              <a:avLst/>
              <a:gdLst/>
              <a:ahLst/>
              <a:cxnLst/>
              <a:rect r="r" b="b" t="t" l="l"/>
              <a:pathLst>
                <a:path h="1781048" w="91092">
                  <a:moveTo>
                    <a:pt x="0" y="0"/>
                  </a:moveTo>
                  <a:lnTo>
                    <a:pt x="91092" y="0"/>
                  </a:lnTo>
                  <a:lnTo>
                    <a:pt x="91092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92" id="92"/>
          <p:cNvGrpSpPr/>
          <p:nvPr/>
        </p:nvGrpSpPr>
        <p:grpSpPr>
          <a:xfrm rot="0">
            <a:off x="15279624" y="5404104"/>
            <a:ext cx="2002536" cy="274320"/>
            <a:chOff x="0" y="0"/>
            <a:chExt cx="2670048" cy="36576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Max Transit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5279624" y="5637642"/>
            <a:ext cx="1374326" cy="1069116"/>
            <a:chOff x="0" y="0"/>
            <a:chExt cx="1832435" cy="142548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1832435" cy="1425488"/>
            </a:xfrm>
            <a:custGeom>
              <a:avLst/>
              <a:gdLst/>
              <a:ahLst/>
              <a:cxnLst/>
              <a:rect r="r" b="b" t="t" l="l"/>
              <a:pathLst>
                <a:path h="1425488" w="1832435">
                  <a:moveTo>
                    <a:pt x="0" y="0"/>
                  </a:moveTo>
                  <a:lnTo>
                    <a:pt x="1832435" y="0"/>
                  </a:lnTo>
                  <a:lnTo>
                    <a:pt x="1832435" y="1425488"/>
                  </a:lnTo>
                  <a:lnTo>
                    <a:pt x="0" y="142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21" r="-45710" b="39127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1832435" cy="14254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205.19 Days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5305917" y="6621399"/>
            <a:ext cx="2002536" cy="246888"/>
            <a:chOff x="0" y="0"/>
            <a:chExt cx="2670048" cy="3291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Worst-case outlier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2472035" y="7369683"/>
            <a:ext cx="4929378" cy="2076450"/>
            <a:chOff x="0" y="0"/>
            <a:chExt cx="6572504" cy="2768600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6572504" cy="2768600"/>
            </a:xfrm>
            <a:custGeom>
              <a:avLst/>
              <a:gdLst/>
              <a:ahLst/>
              <a:cxnLst/>
              <a:rect r="r" b="b" t="t" l="l"/>
              <a:pathLst>
                <a:path h="2768600" w="6572504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6424803" y="0"/>
                  </a:lnTo>
                  <a:cubicBezTo>
                    <a:pt x="6506337" y="0"/>
                    <a:pt x="6572504" y="66167"/>
                    <a:pt x="6572504" y="147701"/>
                  </a:cubicBezTo>
                  <a:lnTo>
                    <a:pt x="6572504" y="2620899"/>
                  </a:lnTo>
                  <a:cubicBezTo>
                    <a:pt x="6572504" y="2702433"/>
                    <a:pt x="6506337" y="2768600"/>
                    <a:pt x="6424803" y="2768600"/>
                  </a:cubicBezTo>
                  <a:lnTo>
                    <a:pt x="147701" y="2768600"/>
                  </a:lnTo>
                  <a:cubicBezTo>
                    <a:pt x="66167" y="2768600"/>
                    <a:pt x="0" y="2702433"/>
                    <a:pt x="0" y="2620899"/>
                  </a:cubicBezTo>
                  <a:close/>
                </a:path>
              </a:pathLst>
            </a:custGeom>
            <a:solidFill>
              <a:srgbClr val="FBFD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103" id="103"/>
          <p:cNvGrpSpPr/>
          <p:nvPr/>
        </p:nvGrpSpPr>
        <p:grpSpPr>
          <a:xfrm rot="0">
            <a:off x="12755880" y="7626096"/>
            <a:ext cx="2125980" cy="246888"/>
            <a:chOff x="0" y="0"/>
            <a:chExt cx="2834640" cy="329184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2834640" cy="329184"/>
            </a:xfrm>
            <a:custGeom>
              <a:avLst/>
              <a:gdLst/>
              <a:ahLst/>
              <a:cxnLst/>
              <a:rect r="r" b="b" t="t" l="l"/>
              <a:pathLst>
                <a:path h="329184" w="2834640">
                  <a:moveTo>
                    <a:pt x="0" y="0"/>
                  </a:moveTo>
                  <a:lnTo>
                    <a:pt x="2834640" y="0"/>
                  </a:lnTo>
                  <a:lnTo>
                    <a:pt x="283464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787" r="0" b="-117787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2834640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Methodology note</a:t>
              </a:r>
            </a:p>
          </p:txBody>
        </p:sp>
      </p:grpSp>
      <p:grpSp>
        <p:nvGrpSpPr>
          <p:cNvPr name="Group 106" id="106"/>
          <p:cNvGrpSpPr/>
          <p:nvPr/>
        </p:nvGrpSpPr>
        <p:grpSpPr>
          <a:xfrm rot="0">
            <a:off x="12755880" y="8065008"/>
            <a:ext cx="4306824" cy="932688"/>
            <a:chOff x="0" y="0"/>
            <a:chExt cx="5742432" cy="1243584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5742432" cy="1243584"/>
            </a:xfrm>
            <a:custGeom>
              <a:avLst/>
              <a:gdLst/>
              <a:ahLst/>
              <a:cxnLst/>
              <a:rect r="r" b="b" t="t" l="l"/>
              <a:pathLst>
                <a:path h="1243584" w="5742432">
                  <a:moveTo>
                    <a:pt x="0" y="0"/>
                  </a:moveTo>
                  <a:lnTo>
                    <a:pt x="5742432" y="0"/>
                  </a:lnTo>
                  <a:lnTo>
                    <a:pt x="5742432" y="1243584"/>
                  </a:lnTo>
                  <a:lnTo>
                    <a:pt x="0" y="12435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975" r="0" b="-3997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0"/>
              <a:ext cx="5742432" cy="12435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65"/>
                </a:lnSpc>
              </a:pPr>
              <a:r>
                <a:rPr lang="en-US" sz="130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Olist has no carrier identity. “Carrier performance” therefore means transit-stage performance from carrier handoff to customer delivery. Distance is straight-line geography, not road distance.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KEY FINDINGS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 &amp; Carrier-Stage Performance — Findings &amp; DAX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High-volume lanes, distance effects and exception monitoring turn route data into operational priorities.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047875"/>
            <a:ext cx="7096506" cy="3036570"/>
            <a:chOff x="0" y="0"/>
            <a:chExt cx="9462008" cy="40487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462008" cy="4048760"/>
            </a:xfrm>
            <a:custGeom>
              <a:avLst/>
              <a:gdLst/>
              <a:ahLst/>
              <a:cxnLst/>
              <a:rect r="r" b="b" t="t" l="l"/>
              <a:pathLst>
                <a:path h="4048760" w="9462008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9314815" y="0"/>
                  </a:lnTo>
                  <a:cubicBezTo>
                    <a:pt x="9396095" y="0"/>
                    <a:pt x="9462008" y="65913"/>
                    <a:pt x="9462008" y="147193"/>
                  </a:cubicBezTo>
                  <a:lnTo>
                    <a:pt x="9462008" y="3901567"/>
                  </a:lnTo>
                  <a:cubicBezTo>
                    <a:pt x="9462008" y="3982847"/>
                    <a:pt x="9396095" y="4048760"/>
                    <a:pt x="9314815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124712" y="2386584"/>
            <a:ext cx="2606040" cy="301752"/>
            <a:chOff x="0" y="0"/>
            <a:chExt cx="3474720" cy="40233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474720" cy="402336"/>
            </a:xfrm>
            <a:custGeom>
              <a:avLst/>
              <a:gdLst/>
              <a:ahLst/>
              <a:cxnLst/>
              <a:rect r="r" b="b" t="t" l="l"/>
              <a:pathLst>
                <a:path h="402336" w="3474720">
                  <a:moveTo>
                    <a:pt x="0" y="0"/>
                  </a:moveTo>
                  <a:lnTo>
                    <a:pt x="3474720" y="0"/>
                  </a:lnTo>
                  <a:lnTo>
                    <a:pt x="347472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8279" r="0" b="-118279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347472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Top route volumes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24712" y="2962656"/>
            <a:ext cx="987552" cy="192024"/>
            <a:chOff x="0" y="0"/>
            <a:chExt cx="1316736" cy="2560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6736" cy="256032"/>
            </a:xfrm>
            <a:custGeom>
              <a:avLst/>
              <a:gdLst/>
              <a:ahLst/>
              <a:cxnLst/>
              <a:rect r="r" b="b" t="t" l="l"/>
              <a:pathLst>
                <a:path h="25603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31673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6"/>
                </a:lnSpc>
              </a:pPr>
              <a:r>
                <a:rPr lang="en-US" sz="115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SP → SP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2212467" y="2966847"/>
            <a:ext cx="4613910" cy="197358"/>
            <a:chOff x="0" y="0"/>
            <a:chExt cx="6151880" cy="26314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151880" cy="263271"/>
            </a:xfrm>
            <a:custGeom>
              <a:avLst/>
              <a:gdLst/>
              <a:ahLst/>
              <a:cxnLst/>
              <a:rect r="r" b="b" t="t" l="l"/>
              <a:pathLst>
                <a:path h="263271" w="6151880">
                  <a:moveTo>
                    <a:pt x="0" y="81026"/>
                  </a:moveTo>
                  <a:cubicBezTo>
                    <a:pt x="0" y="36195"/>
                    <a:pt x="36195" y="0"/>
                    <a:pt x="81026" y="0"/>
                  </a:cubicBezTo>
                  <a:lnTo>
                    <a:pt x="6070854" y="0"/>
                  </a:lnTo>
                  <a:cubicBezTo>
                    <a:pt x="6115558" y="0"/>
                    <a:pt x="6151880" y="36195"/>
                    <a:pt x="6151880" y="81026"/>
                  </a:cubicBezTo>
                  <a:lnTo>
                    <a:pt x="6151880" y="182245"/>
                  </a:lnTo>
                  <a:cubicBezTo>
                    <a:pt x="6151880" y="226949"/>
                    <a:pt x="6115685" y="263271"/>
                    <a:pt x="6070854" y="263271"/>
                  </a:cubicBezTo>
                  <a:lnTo>
                    <a:pt x="81026" y="263271"/>
                  </a:lnTo>
                  <a:cubicBezTo>
                    <a:pt x="36195" y="263144"/>
                    <a:pt x="0" y="226949"/>
                    <a:pt x="0" y="18211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6899148" y="2962656"/>
            <a:ext cx="589788" cy="192024"/>
            <a:chOff x="0" y="0"/>
            <a:chExt cx="786384" cy="2560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86384" cy="256032"/>
            </a:xfrm>
            <a:custGeom>
              <a:avLst/>
              <a:gdLst/>
              <a:ahLst/>
              <a:cxnLst/>
              <a:rect r="r" b="b" t="t" l="l"/>
              <a:pathLst>
                <a:path h="256032" w="786384">
                  <a:moveTo>
                    <a:pt x="0" y="0"/>
                  </a:moveTo>
                  <a:lnTo>
                    <a:pt x="786384" y="0"/>
                  </a:lnTo>
                  <a:lnTo>
                    <a:pt x="786384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786384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13"/>
                </a:lnSpc>
              </a:pPr>
              <a:r>
                <a:rPr lang="en-US" sz="109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22,039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24712" y="3332988"/>
            <a:ext cx="987552" cy="192024"/>
            <a:chOff x="0" y="0"/>
            <a:chExt cx="1316736" cy="2560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6736" cy="256032"/>
            </a:xfrm>
            <a:custGeom>
              <a:avLst/>
              <a:gdLst/>
              <a:ahLst/>
              <a:cxnLst/>
              <a:rect r="r" b="b" t="t" l="l"/>
              <a:pathLst>
                <a:path h="25603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131673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6"/>
                </a:lnSpc>
              </a:pPr>
              <a:r>
                <a:rPr lang="en-US" sz="115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SP → RJ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2212467" y="3337179"/>
            <a:ext cx="1150306" cy="197358"/>
            <a:chOff x="0" y="0"/>
            <a:chExt cx="1533741" cy="26314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533779" cy="263271"/>
            </a:xfrm>
            <a:custGeom>
              <a:avLst/>
              <a:gdLst/>
              <a:ahLst/>
              <a:cxnLst/>
              <a:rect r="r" b="b" t="t" l="l"/>
              <a:pathLst>
                <a:path h="263271" w="1533779">
                  <a:moveTo>
                    <a:pt x="0" y="81026"/>
                  </a:moveTo>
                  <a:cubicBezTo>
                    <a:pt x="0" y="36195"/>
                    <a:pt x="36195" y="0"/>
                    <a:pt x="81026" y="0"/>
                  </a:cubicBezTo>
                  <a:lnTo>
                    <a:pt x="1452753" y="0"/>
                  </a:lnTo>
                  <a:cubicBezTo>
                    <a:pt x="1497457" y="0"/>
                    <a:pt x="1533779" y="36195"/>
                    <a:pt x="1533779" y="81026"/>
                  </a:cubicBezTo>
                  <a:lnTo>
                    <a:pt x="1533779" y="182245"/>
                  </a:lnTo>
                  <a:cubicBezTo>
                    <a:pt x="1533779" y="226949"/>
                    <a:pt x="1497584" y="263271"/>
                    <a:pt x="1452753" y="263271"/>
                  </a:cubicBezTo>
                  <a:lnTo>
                    <a:pt x="81026" y="263271"/>
                  </a:lnTo>
                  <a:cubicBezTo>
                    <a:pt x="36195" y="263144"/>
                    <a:pt x="0" y="226949"/>
                    <a:pt x="0" y="18211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37" id="37"/>
          <p:cNvGrpSpPr/>
          <p:nvPr/>
        </p:nvGrpSpPr>
        <p:grpSpPr>
          <a:xfrm rot="0">
            <a:off x="6899148" y="3332988"/>
            <a:ext cx="589788" cy="192024"/>
            <a:chOff x="0" y="0"/>
            <a:chExt cx="786384" cy="25603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786384" cy="256032"/>
            </a:xfrm>
            <a:custGeom>
              <a:avLst/>
              <a:gdLst/>
              <a:ahLst/>
              <a:cxnLst/>
              <a:rect r="r" b="b" t="t" l="l"/>
              <a:pathLst>
                <a:path h="256032" w="786384">
                  <a:moveTo>
                    <a:pt x="0" y="0"/>
                  </a:moveTo>
                  <a:lnTo>
                    <a:pt x="786384" y="0"/>
                  </a:lnTo>
                  <a:lnTo>
                    <a:pt x="786384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786384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13"/>
                </a:lnSpc>
              </a:pPr>
              <a:r>
                <a:rPr lang="en-US" sz="109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5,426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24712" y="3703320"/>
            <a:ext cx="987552" cy="192024"/>
            <a:chOff x="0" y="0"/>
            <a:chExt cx="1316736" cy="25603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316736" cy="256032"/>
            </a:xfrm>
            <a:custGeom>
              <a:avLst/>
              <a:gdLst/>
              <a:ahLst/>
              <a:cxnLst/>
              <a:rect r="r" b="b" t="t" l="l"/>
              <a:pathLst>
                <a:path h="25603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131673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6"/>
                </a:lnSpc>
              </a:pPr>
              <a:r>
                <a:rPr lang="en-US" sz="115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SP → MG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2212467" y="3707511"/>
            <a:ext cx="1091717" cy="197358"/>
            <a:chOff x="0" y="0"/>
            <a:chExt cx="1455623" cy="2631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455674" cy="263271"/>
            </a:xfrm>
            <a:custGeom>
              <a:avLst/>
              <a:gdLst/>
              <a:ahLst/>
              <a:cxnLst/>
              <a:rect r="r" b="b" t="t" l="l"/>
              <a:pathLst>
                <a:path h="263271" w="1455674">
                  <a:moveTo>
                    <a:pt x="0" y="81026"/>
                  </a:moveTo>
                  <a:cubicBezTo>
                    <a:pt x="0" y="36195"/>
                    <a:pt x="36195" y="0"/>
                    <a:pt x="81026" y="0"/>
                  </a:cubicBezTo>
                  <a:lnTo>
                    <a:pt x="1374648" y="0"/>
                  </a:lnTo>
                  <a:cubicBezTo>
                    <a:pt x="1419352" y="0"/>
                    <a:pt x="1455674" y="36195"/>
                    <a:pt x="1455674" y="81026"/>
                  </a:cubicBezTo>
                  <a:lnTo>
                    <a:pt x="1455674" y="182245"/>
                  </a:lnTo>
                  <a:cubicBezTo>
                    <a:pt x="1455674" y="226949"/>
                    <a:pt x="1419479" y="263271"/>
                    <a:pt x="1374648" y="263271"/>
                  </a:cubicBezTo>
                  <a:lnTo>
                    <a:pt x="81026" y="263271"/>
                  </a:lnTo>
                  <a:cubicBezTo>
                    <a:pt x="36195" y="263144"/>
                    <a:pt x="0" y="226949"/>
                    <a:pt x="0" y="18211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6899148" y="3703320"/>
            <a:ext cx="589788" cy="192024"/>
            <a:chOff x="0" y="0"/>
            <a:chExt cx="786384" cy="25603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86384" cy="256032"/>
            </a:xfrm>
            <a:custGeom>
              <a:avLst/>
              <a:gdLst/>
              <a:ahLst/>
              <a:cxnLst/>
              <a:rect r="r" b="b" t="t" l="l"/>
              <a:pathLst>
                <a:path h="256032" w="786384">
                  <a:moveTo>
                    <a:pt x="0" y="0"/>
                  </a:moveTo>
                  <a:lnTo>
                    <a:pt x="786384" y="0"/>
                  </a:lnTo>
                  <a:lnTo>
                    <a:pt x="786384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786384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13"/>
                </a:lnSpc>
              </a:pPr>
              <a:r>
                <a:rPr lang="en-US" sz="109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5,145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124712" y="4073652"/>
            <a:ext cx="987552" cy="192024"/>
            <a:chOff x="0" y="0"/>
            <a:chExt cx="1316736" cy="25603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16736" cy="256032"/>
            </a:xfrm>
            <a:custGeom>
              <a:avLst/>
              <a:gdLst/>
              <a:ahLst/>
              <a:cxnLst/>
              <a:rect r="r" b="b" t="t" l="l"/>
              <a:pathLst>
                <a:path h="25603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131673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6"/>
                </a:lnSpc>
              </a:pPr>
              <a:r>
                <a:rPr lang="en-US" sz="115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SP → RS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2212467" y="4077843"/>
            <a:ext cx="512540" cy="197358"/>
            <a:chOff x="0" y="0"/>
            <a:chExt cx="683387" cy="26314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83387" cy="263271"/>
            </a:xfrm>
            <a:custGeom>
              <a:avLst/>
              <a:gdLst/>
              <a:ahLst/>
              <a:cxnLst/>
              <a:rect r="r" b="b" t="t" l="l"/>
              <a:pathLst>
                <a:path h="263271" w="683387">
                  <a:moveTo>
                    <a:pt x="0" y="81026"/>
                  </a:moveTo>
                  <a:cubicBezTo>
                    <a:pt x="0" y="36195"/>
                    <a:pt x="36195" y="0"/>
                    <a:pt x="81026" y="0"/>
                  </a:cubicBezTo>
                  <a:lnTo>
                    <a:pt x="602361" y="0"/>
                  </a:lnTo>
                  <a:cubicBezTo>
                    <a:pt x="647065" y="0"/>
                    <a:pt x="683387" y="36195"/>
                    <a:pt x="683387" y="81026"/>
                  </a:cubicBezTo>
                  <a:lnTo>
                    <a:pt x="683387" y="182245"/>
                  </a:lnTo>
                  <a:cubicBezTo>
                    <a:pt x="683387" y="226949"/>
                    <a:pt x="647192" y="263271"/>
                    <a:pt x="602361" y="263271"/>
                  </a:cubicBezTo>
                  <a:lnTo>
                    <a:pt x="81026" y="263271"/>
                  </a:lnTo>
                  <a:cubicBezTo>
                    <a:pt x="36195" y="263144"/>
                    <a:pt x="0" y="226949"/>
                    <a:pt x="0" y="18211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6899148" y="4073652"/>
            <a:ext cx="589788" cy="192024"/>
            <a:chOff x="0" y="0"/>
            <a:chExt cx="786384" cy="25603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786384" cy="256032"/>
            </a:xfrm>
            <a:custGeom>
              <a:avLst/>
              <a:gdLst/>
              <a:ahLst/>
              <a:cxnLst/>
              <a:rect r="r" b="b" t="t" l="l"/>
              <a:pathLst>
                <a:path h="256032" w="786384">
                  <a:moveTo>
                    <a:pt x="0" y="0"/>
                  </a:moveTo>
                  <a:lnTo>
                    <a:pt x="786384" y="0"/>
                  </a:lnTo>
                  <a:lnTo>
                    <a:pt x="786384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0"/>
              <a:ext cx="786384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13"/>
                </a:lnSpc>
              </a:pPr>
              <a:r>
                <a:rPr lang="en-US" sz="109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2,367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24712" y="4443984"/>
            <a:ext cx="987552" cy="192024"/>
            <a:chOff x="0" y="0"/>
            <a:chExt cx="1316736" cy="2560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316736" cy="256032"/>
            </a:xfrm>
            <a:custGeom>
              <a:avLst/>
              <a:gdLst/>
              <a:ahLst/>
              <a:cxnLst/>
              <a:rect r="r" b="b" t="t" l="l"/>
              <a:pathLst>
                <a:path h="256032" w="1316736">
                  <a:moveTo>
                    <a:pt x="0" y="0"/>
                  </a:moveTo>
                  <a:lnTo>
                    <a:pt x="1316736" y="0"/>
                  </a:lnTo>
                  <a:lnTo>
                    <a:pt x="1316736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0208" r="0" b="-50208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1316736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86"/>
                </a:lnSpc>
              </a:pPr>
              <a:r>
                <a:rPr lang="en-US" sz="1155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SP → PR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2212467" y="4448175"/>
            <a:ext cx="477936" cy="197358"/>
            <a:chOff x="0" y="0"/>
            <a:chExt cx="637248" cy="26314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37286" cy="263271"/>
            </a:xfrm>
            <a:custGeom>
              <a:avLst/>
              <a:gdLst/>
              <a:ahLst/>
              <a:cxnLst/>
              <a:rect r="r" b="b" t="t" l="l"/>
              <a:pathLst>
                <a:path h="263271" w="637286">
                  <a:moveTo>
                    <a:pt x="0" y="81026"/>
                  </a:moveTo>
                  <a:cubicBezTo>
                    <a:pt x="0" y="36195"/>
                    <a:pt x="36195" y="0"/>
                    <a:pt x="81026" y="0"/>
                  </a:cubicBezTo>
                  <a:lnTo>
                    <a:pt x="556260" y="0"/>
                  </a:lnTo>
                  <a:cubicBezTo>
                    <a:pt x="600964" y="0"/>
                    <a:pt x="637286" y="36195"/>
                    <a:pt x="637286" y="81026"/>
                  </a:cubicBezTo>
                  <a:lnTo>
                    <a:pt x="637286" y="182245"/>
                  </a:lnTo>
                  <a:cubicBezTo>
                    <a:pt x="637286" y="226949"/>
                    <a:pt x="601091" y="263271"/>
                    <a:pt x="556260" y="263271"/>
                  </a:cubicBezTo>
                  <a:lnTo>
                    <a:pt x="81026" y="263271"/>
                  </a:lnTo>
                  <a:cubicBezTo>
                    <a:pt x="36195" y="263144"/>
                    <a:pt x="0" y="226949"/>
                    <a:pt x="0" y="18211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1" id="61"/>
          <p:cNvGrpSpPr/>
          <p:nvPr/>
        </p:nvGrpSpPr>
        <p:grpSpPr>
          <a:xfrm rot="0">
            <a:off x="6899148" y="4443984"/>
            <a:ext cx="589788" cy="192024"/>
            <a:chOff x="0" y="0"/>
            <a:chExt cx="786384" cy="256032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86384" cy="256032"/>
            </a:xfrm>
            <a:custGeom>
              <a:avLst/>
              <a:gdLst/>
              <a:ahLst/>
              <a:cxnLst/>
              <a:rect r="r" b="b" t="t" l="l"/>
              <a:pathLst>
                <a:path h="256032" w="786384">
                  <a:moveTo>
                    <a:pt x="0" y="0"/>
                  </a:moveTo>
                  <a:lnTo>
                    <a:pt x="786384" y="0"/>
                  </a:lnTo>
                  <a:lnTo>
                    <a:pt x="786384" y="256032"/>
                  </a:lnTo>
                  <a:lnTo>
                    <a:pt x="0" y="2560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846" r="0" b="-9846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0"/>
              <a:ext cx="786384" cy="2560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13"/>
                </a:lnSpc>
              </a:pPr>
              <a:r>
                <a:rPr lang="en-US" sz="109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2,201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8192643" y="2047875"/>
            <a:ext cx="9277350" cy="3036570"/>
            <a:chOff x="0" y="0"/>
            <a:chExt cx="12369800" cy="404876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2369800" cy="4048760"/>
            </a:xfrm>
            <a:custGeom>
              <a:avLst/>
              <a:gdLst/>
              <a:ahLst/>
              <a:cxnLst/>
              <a:rect r="r" b="b" t="t" l="l"/>
              <a:pathLst>
                <a:path h="4048760" w="12369800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12222607" y="0"/>
                  </a:lnTo>
                  <a:cubicBezTo>
                    <a:pt x="12303887" y="0"/>
                    <a:pt x="12369800" y="65913"/>
                    <a:pt x="12369800" y="147193"/>
                  </a:cubicBezTo>
                  <a:lnTo>
                    <a:pt x="12369800" y="3901567"/>
                  </a:lnTo>
                  <a:cubicBezTo>
                    <a:pt x="12369800" y="3982847"/>
                    <a:pt x="12303887" y="4048760"/>
                    <a:pt x="12222607" y="4048760"/>
                  </a:cubicBezTo>
                  <a:lnTo>
                    <a:pt x="147193" y="4048760"/>
                  </a:lnTo>
                  <a:cubicBezTo>
                    <a:pt x="65913" y="4048760"/>
                    <a:pt x="0" y="3982847"/>
                    <a:pt x="0" y="3901567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8421624" y="2221992"/>
            <a:ext cx="8819388" cy="246888"/>
            <a:chOff x="0" y="0"/>
            <a:chExt cx="11759184" cy="32918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1759184" cy="329184"/>
            </a:xfrm>
            <a:custGeom>
              <a:avLst/>
              <a:gdLst/>
              <a:ahLst/>
              <a:cxnLst/>
              <a:rect r="r" b="b" t="t" l="l"/>
              <a:pathLst>
                <a:path h="329184" w="11759184">
                  <a:moveTo>
                    <a:pt x="0" y="0"/>
                  </a:moveTo>
                  <a:lnTo>
                    <a:pt x="11759184" y="0"/>
                  </a:lnTo>
                  <a:lnTo>
                    <a:pt x="11759184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6048" r="0" b="-646048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11759184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DAX — FREIGHT &amp; TRANSIT EFFICIENCY</a:t>
              </a:r>
            </a:p>
          </p:txBody>
        </p:sp>
      </p:grpSp>
      <p:sp>
        <p:nvSpPr>
          <p:cNvPr name="TextBox 69" id="69"/>
          <p:cNvSpPr txBox="true"/>
          <p:nvPr/>
        </p:nvSpPr>
        <p:spPr>
          <a:xfrm rot="0">
            <a:off x="8421624" y="2559558"/>
            <a:ext cx="8819388" cy="2378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Total Freight Cost = SUMX(VALUES([Movement Line Key]), MAX([freight_value]))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Freight Cost per 100 KM = DIVIDE([Total Freight Cost], [Total Route Distance KM]) * 100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Avg Carrier Transit Days = AVERAGEX(VALUES([order_id]), MAX([Carrier Transit Days]))</a:t>
            </a:r>
          </a:p>
        </p:txBody>
      </p:sp>
      <p:grpSp>
        <p:nvGrpSpPr>
          <p:cNvPr name="Group 70" id="70"/>
          <p:cNvGrpSpPr/>
          <p:nvPr/>
        </p:nvGrpSpPr>
        <p:grpSpPr>
          <a:xfrm rot="0">
            <a:off x="786003" y="5531739"/>
            <a:ext cx="5258562" cy="3009138"/>
            <a:chOff x="0" y="0"/>
            <a:chExt cx="7011416" cy="4012184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7011416" cy="4012184"/>
            </a:xfrm>
            <a:custGeom>
              <a:avLst/>
              <a:gdLst/>
              <a:ahLst/>
              <a:cxnLst/>
              <a:rect r="r" b="b" t="t" l="l"/>
              <a:pathLst>
                <a:path h="4012184" w="7011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64223" y="0"/>
                  </a:lnTo>
                  <a:cubicBezTo>
                    <a:pt x="6945503" y="0"/>
                    <a:pt x="7011416" y="65913"/>
                    <a:pt x="7011416" y="147193"/>
                  </a:cubicBezTo>
                  <a:lnTo>
                    <a:pt x="7011416" y="3864991"/>
                  </a:lnTo>
                  <a:cubicBezTo>
                    <a:pt x="7011416" y="3946271"/>
                    <a:pt x="6945503" y="4012184"/>
                    <a:pt x="6864223" y="4012184"/>
                  </a:cubicBezTo>
                  <a:lnTo>
                    <a:pt x="147193" y="4012184"/>
                  </a:lnTo>
                  <a:cubicBezTo>
                    <a:pt x="65913" y="4012184"/>
                    <a:pt x="0" y="3946271"/>
                    <a:pt x="0" y="3864991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032891" y="5751195"/>
            <a:ext cx="540258" cy="540258"/>
            <a:chOff x="0" y="0"/>
            <a:chExt cx="720344" cy="72034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74" id="74"/>
          <p:cNvGrpSpPr/>
          <p:nvPr/>
        </p:nvGrpSpPr>
        <p:grpSpPr>
          <a:xfrm rot="0">
            <a:off x="1042416" y="5853674"/>
            <a:ext cx="521208" cy="335300"/>
            <a:chOff x="0" y="0"/>
            <a:chExt cx="694944" cy="447067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694944" cy="447067"/>
            </a:xfrm>
            <a:custGeom>
              <a:avLst/>
              <a:gdLst/>
              <a:ahLst/>
              <a:cxnLst/>
              <a:rect r="r" b="b" t="t" l="l"/>
              <a:pathLst>
                <a:path h="447067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47067"/>
                  </a:lnTo>
                  <a:lnTo>
                    <a:pt x="0" y="447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" r="0" b="41076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0"/>
              <a:ext cx="694944" cy="44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1728216" y="5870448"/>
            <a:ext cx="4087368" cy="301752"/>
            <a:chOff x="0" y="0"/>
            <a:chExt cx="5449824" cy="402336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449824" cy="402336"/>
            </a:xfrm>
            <a:custGeom>
              <a:avLst/>
              <a:gdLst/>
              <a:ahLst/>
              <a:cxnLst/>
              <a:rect r="r" b="b" t="t" l="l"/>
              <a:pathLst>
                <a:path h="402336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33" r="0" b="-21393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544982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São Paulo dominates movement</a:t>
              </a:r>
            </a:p>
          </p:txBody>
        </p:sp>
      </p:grpSp>
      <p:sp>
        <p:nvSpPr>
          <p:cNvPr name="TextBox 80" id="80"/>
          <p:cNvSpPr txBox="true"/>
          <p:nvPr/>
        </p:nvSpPr>
        <p:spPr>
          <a:xfrm rot="0">
            <a:off x="1728216" y="6478524"/>
            <a:ext cx="375056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SP → SP alone carries 22,039 units; together with SP → RJ and SP → MG, the top three lanes represent a major share of network movement.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6231255" y="5531739"/>
            <a:ext cx="5258562" cy="3009138"/>
            <a:chOff x="0" y="0"/>
            <a:chExt cx="7011416" cy="4012184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7011416" cy="4012184"/>
            </a:xfrm>
            <a:custGeom>
              <a:avLst/>
              <a:gdLst/>
              <a:ahLst/>
              <a:cxnLst/>
              <a:rect r="r" b="b" t="t" l="l"/>
              <a:pathLst>
                <a:path h="4012184" w="7011416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6864223" y="0"/>
                  </a:lnTo>
                  <a:cubicBezTo>
                    <a:pt x="6945503" y="0"/>
                    <a:pt x="7011416" y="65913"/>
                    <a:pt x="7011416" y="147193"/>
                  </a:cubicBezTo>
                  <a:lnTo>
                    <a:pt x="7011416" y="3864991"/>
                  </a:lnTo>
                  <a:cubicBezTo>
                    <a:pt x="7011416" y="3946271"/>
                    <a:pt x="6945503" y="4012184"/>
                    <a:pt x="6864223" y="4012184"/>
                  </a:cubicBezTo>
                  <a:lnTo>
                    <a:pt x="147193" y="4012184"/>
                  </a:lnTo>
                  <a:cubicBezTo>
                    <a:pt x="65913" y="4012184"/>
                    <a:pt x="0" y="3946271"/>
                    <a:pt x="0" y="3864991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83" id="83"/>
          <p:cNvGrpSpPr/>
          <p:nvPr/>
        </p:nvGrpSpPr>
        <p:grpSpPr>
          <a:xfrm rot="0">
            <a:off x="6478143" y="5751195"/>
            <a:ext cx="540258" cy="540258"/>
            <a:chOff x="0" y="0"/>
            <a:chExt cx="720344" cy="720344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85" id="85"/>
          <p:cNvGrpSpPr/>
          <p:nvPr/>
        </p:nvGrpSpPr>
        <p:grpSpPr>
          <a:xfrm rot="0">
            <a:off x="6487668" y="5853674"/>
            <a:ext cx="521208" cy="335300"/>
            <a:chOff x="0" y="0"/>
            <a:chExt cx="694944" cy="447067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694944" cy="447067"/>
            </a:xfrm>
            <a:custGeom>
              <a:avLst/>
              <a:gdLst/>
              <a:ahLst/>
              <a:cxnLst/>
              <a:rect r="r" b="b" t="t" l="l"/>
              <a:pathLst>
                <a:path h="447067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47067"/>
                  </a:lnTo>
                  <a:lnTo>
                    <a:pt x="0" y="447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" r="0" b="41076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694944" cy="44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7173468" y="5870448"/>
            <a:ext cx="4087368" cy="301752"/>
            <a:chOff x="0" y="0"/>
            <a:chExt cx="5449824" cy="402336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5449824" cy="402336"/>
            </a:xfrm>
            <a:custGeom>
              <a:avLst/>
              <a:gdLst/>
              <a:ahLst/>
              <a:cxnLst/>
              <a:rect r="r" b="b" t="t" l="l"/>
              <a:pathLst>
                <a:path h="402336" w="5449824">
                  <a:moveTo>
                    <a:pt x="0" y="0"/>
                  </a:moveTo>
                  <a:lnTo>
                    <a:pt x="5449824" y="0"/>
                  </a:lnTo>
                  <a:lnTo>
                    <a:pt x="54498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3933" r="0" b="-213933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0"/>
              <a:ext cx="544982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Transit generally rises with distance</a:t>
              </a:r>
            </a:p>
          </p:txBody>
        </p:sp>
      </p:grpSp>
      <p:sp>
        <p:nvSpPr>
          <p:cNvPr name="TextBox 91" id="91"/>
          <p:cNvSpPr txBox="true"/>
          <p:nvPr/>
        </p:nvSpPr>
        <p:spPr>
          <a:xfrm rot="0">
            <a:off x="7173468" y="6478524"/>
            <a:ext cx="3748207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SP → SP averages 4.54 days at ~145 km, while SP → BA averages 16.53 days at ~1,386 km — supporting distance-specific benchmarks.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11676507" y="5531739"/>
            <a:ext cx="5793486" cy="3009138"/>
            <a:chOff x="0" y="0"/>
            <a:chExt cx="7724648" cy="4012184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724649" cy="4012184"/>
            </a:xfrm>
            <a:custGeom>
              <a:avLst/>
              <a:gdLst/>
              <a:ahLst/>
              <a:cxnLst/>
              <a:rect r="r" b="b" t="t" l="l"/>
              <a:pathLst>
                <a:path h="4012184" w="7724649">
                  <a:moveTo>
                    <a:pt x="0" y="147193"/>
                  </a:moveTo>
                  <a:cubicBezTo>
                    <a:pt x="0" y="65913"/>
                    <a:pt x="65913" y="0"/>
                    <a:pt x="147193" y="0"/>
                  </a:cubicBezTo>
                  <a:lnTo>
                    <a:pt x="7577455" y="0"/>
                  </a:lnTo>
                  <a:cubicBezTo>
                    <a:pt x="7658736" y="0"/>
                    <a:pt x="7724649" y="65913"/>
                    <a:pt x="7724649" y="147193"/>
                  </a:cubicBezTo>
                  <a:lnTo>
                    <a:pt x="7724649" y="3864991"/>
                  </a:lnTo>
                  <a:cubicBezTo>
                    <a:pt x="7724649" y="3946271"/>
                    <a:pt x="7658736" y="4012184"/>
                    <a:pt x="7577455" y="4012184"/>
                  </a:cubicBezTo>
                  <a:lnTo>
                    <a:pt x="147193" y="4012184"/>
                  </a:lnTo>
                  <a:cubicBezTo>
                    <a:pt x="65913" y="4012184"/>
                    <a:pt x="0" y="3946271"/>
                    <a:pt x="0" y="3864991"/>
                  </a:cubicBezTo>
                  <a:close/>
                </a:path>
              </a:pathLst>
            </a:custGeom>
            <a:solidFill>
              <a:srgbClr val="FEF2F2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94" id="94"/>
          <p:cNvGrpSpPr/>
          <p:nvPr/>
        </p:nvGrpSpPr>
        <p:grpSpPr>
          <a:xfrm rot="0">
            <a:off x="11923395" y="5751195"/>
            <a:ext cx="540258" cy="540258"/>
            <a:chOff x="0" y="0"/>
            <a:chExt cx="720344" cy="720344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96" id="96"/>
          <p:cNvGrpSpPr/>
          <p:nvPr/>
        </p:nvGrpSpPr>
        <p:grpSpPr>
          <a:xfrm rot="0">
            <a:off x="11932920" y="5853674"/>
            <a:ext cx="521208" cy="335300"/>
            <a:chOff x="0" y="0"/>
            <a:chExt cx="694944" cy="447067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94944" cy="447067"/>
            </a:xfrm>
            <a:custGeom>
              <a:avLst/>
              <a:gdLst/>
              <a:ahLst/>
              <a:cxnLst/>
              <a:rect r="r" b="b" t="t" l="l"/>
              <a:pathLst>
                <a:path h="447067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47067"/>
                  </a:lnTo>
                  <a:lnTo>
                    <a:pt x="0" y="44706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53" r="0" b="41076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0"/>
              <a:ext cx="694944" cy="44706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2618720" y="5870448"/>
            <a:ext cx="4622292" cy="301752"/>
            <a:chOff x="0" y="0"/>
            <a:chExt cx="6163056" cy="402336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6163056" cy="402336"/>
            </a:xfrm>
            <a:custGeom>
              <a:avLst/>
              <a:gdLst/>
              <a:ahLst/>
              <a:cxnLst/>
              <a:rect r="r" b="b" t="t" l="l"/>
              <a:pathLst>
                <a:path h="402336" w="6163056">
                  <a:moveTo>
                    <a:pt x="0" y="0"/>
                  </a:moveTo>
                  <a:lnTo>
                    <a:pt x="6163056" y="0"/>
                  </a:lnTo>
                  <a:lnTo>
                    <a:pt x="616305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475" r="0" b="-248475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0"/>
              <a:ext cx="6163056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Exceptions deserve separate management</a:t>
              </a:r>
            </a:p>
          </p:txBody>
        </p:sp>
      </p:grpSp>
      <p:sp>
        <p:nvSpPr>
          <p:cNvPr name="TextBox 102" id="102"/>
          <p:cNvSpPr txBox="true"/>
          <p:nvPr/>
        </p:nvSpPr>
        <p:spPr>
          <a:xfrm rot="0">
            <a:off x="12618720" y="6478524"/>
            <a:ext cx="4231160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95"/>
              </a:lnSpc>
            </a:pPr>
            <a:r>
              <a:rPr lang="en-US" sz="15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98 orders exceed 60 carrier-stage days and the maximum reaches 205.19 days. These are not representative averages — they are exception cases.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1737360" y="8915400"/>
            <a:ext cx="14813280" cy="329184"/>
            <a:chOff x="0" y="0"/>
            <a:chExt cx="19751040" cy="438912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751039" cy="438912"/>
            </a:xfrm>
            <a:custGeom>
              <a:avLst/>
              <a:gdLst/>
              <a:ahLst/>
              <a:cxnLst/>
              <a:rect r="r" b="b" t="t" l="l"/>
              <a:pathLst>
                <a:path h="438912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0"/>
              <a:ext cx="197510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41"/>
                </a:lnSpc>
              </a:pPr>
              <a:r>
                <a:rPr lang="en-US" sz="1534" b="true">
                  <a:solidFill>
                    <a:srgbClr val="334155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Calculated column logic: Route = seller_state &amp; " → " &amp; customer_state • Approx. distance uses Haversine coordinates (Earth radius 6,371 km).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4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KPI Visualization — Management Overview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 consolidated view combines shipment volume, freight, delivery performance, supplier rating, payment mix and geographic distribution.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1938147"/>
            <a:ext cx="11375898" cy="7535418"/>
            <a:chOff x="0" y="0"/>
            <a:chExt cx="15167864" cy="100472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5167865" cy="10047224"/>
            </a:xfrm>
            <a:custGeom>
              <a:avLst/>
              <a:gdLst/>
              <a:ahLst/>
              <a:cxnLst/>
              <a:rect r="r" b="b" t="t" l="l"/>
              <a:pathLst>
                <a:path h="10047224" w="15167865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5021179" y="0"/>
                  </a:lnTo>
                  <a:cubicBezTo>
                    <a:pt x="15102205" y="0"/>
                    <a:pt x="15167865" y="65659"/>
                    <a:pt x="15167865" y="146685"/>
                  </a:cubicBezTo>
                  <a:lnTo>
                    <a:pt x="15167865" y="9900539"/>
                  </a:lnTo>
                  <a:cubicBezTo>
                    <a:pt x="15167865" y="9981565"/>
                    <a:pt x="15102205" y="10047224"/>
                    <a:pt x="15021179" y="10047224"/>
                  </a:cubicBezTo>
                  <a:lnTo>
                    <a:pt x="146685" y="10047224"/>
                  </a:lnTo>
                  <a:cubicBezTo>
                    <a:pt x="65659" y="10047224"/>
                    <a:pt x="0" y="9981565"/>
                    <a:pt x="0" y="9900539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" y="2480396"/>
            <a:ext cx="11082528" cy="6450921"/>
            <a:chOff x="0" y="0"/>
            <a:chExt cx="14776704" cy="8601227"/>
          </a:xfrm>
        </p:grpSpPr>
        <p:sp>
          <p:nvSpPr>
            <p:cNvPr name="Freeform 22" id="22" descr="/mnt/data/ppt_assets/adv1-1.png"/>
            <p:cNvSpPr/>
            <p:nvPr/>
          </p:nvSpPr>
          <p:spPr>
            <a:xfrm flipH="false" flipV="false" rot="0">
              <a:off x="0" y="0"/>
              <a:ext cx="14776704" cy="8601163"/>
            </a:xfrm>
            <a:custGeom>
              <a:avLst/>
              <a:gdLst/>
              <a:ahLst/>
              <a:cxnLst/>
              <a:rect r="r" b="b" t="t" l="l"/>
              <a:pathLst>
                <a:path h="8601163" w="14776704">
                  <a:moveTo>
                    <a:pt x="0" y="0"/>
                  </a:moveTo>
                  <a:lnTo>
                    <a:pt x="14776704" y="0"/>
                  </a:lnTo>
                  <a:lnTo>
                    <a:pt x="14776704" y="8601163"/>
                  </a:lnTo>
                  <a:lnTo>
                    <a:pt x="0" y="86011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762" t="0" r="-762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472035" y="2075307"/>
            <a:ext cx="2350770" cy="1335786"/>
            <a:chOff x="0" y="0"/>
            <a:chExt cx="3134360" cy="178104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72035" y="2075307"/>
            <a:ext cx="87630" cy="1335786"/>
            <a:chOff x="0" y="0"/>
            <a:chExt cx="116840" cy="178104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701016" y="2249424"/>
            <a:ext cx="2002536" cy="274320"/>
            <a:chOff x="0" y="0"/>
            <a:chExt cx="2670048" cy="36576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Shipments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01016" y="2606040"/>
            <a:ext cx="2002536" cy="521208"/>
            <a:chOff x="0" y="0"/>
            <a:chExt cx="2670048" cy="69494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56K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701016" y="3017520"/>
            <a:ext cx="2002536" cy="246888"/>
            <a:chOff x="0" y="0"/>
            <a:chExt cx="2670048" cy="32918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Dashboard total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5050643" y="2075307"/>
            <a:ext cx="2350770" cy="1335786"/>
            <a:chOff x="0" y="0"/>
            <a:chExt cx="3134360" cy="1781048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5050643" y="2075307"/>
            <a:ext cx="87630" cy="1335786"/>
            <a:chOff x="0" y="0"/>
            <a:chExt cx="116840" cy="178104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5279624" y="2249424"/>
            <a:ext cx="2002536" cy="274320"/>
            <a:chOff x="0" y="0"/>
            <a:chExt cx="2670048" cy="36576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 Cost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279624" y="2606040"/>
            <a:ext cx="2002536" cy="521208"/>
            <a:chOff x="0" y="0"/>
            <a:chExt cx="2670048" cy="6949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969.23K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5279624" y="3017520"/>
            <a:ext cx="2002536" cy="246888"/>
            <a:chOff x="0" y="0"/>
            <a:chExt cx="2670048" cy="329184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Total freight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72035" y="3652647"/>
            <a:ext cx="2350770" cy="1335786"/>
            <a:chOff x="0" y="0"/>
            <a:chExt cx="3134360" cy="1781048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12472035" y="3652647"/>
            <a:ext cx="87630" cy="1335786"/>
            <a:chOff x="0" y="0"/>
            <a:chExt cx="116840" cy="178104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53" id="53"/>
          <p:cNvGrpSpPr/>
          <p:nvPr/>
        </p:nvGrpSpPr>
        <p:grpSpPr>
          <a:xfrm rot="0">
            <a:off x="12701016" y="3826764"/>
            <a:ext cx="2002536" cy="274320"/>
            <a:chOff x="0" y="0"/>
            <a:chExt cx="2670048" cy="36576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On-Time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2701016" y="4183380"/>
            <a:ext cx="2002536" cy="521208"/>
            <a:chOff x="0" y="0"/>
            <a:chExt cx="2670048" cy="6949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0.94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2701016" y="4594860"/>
            <a:ext cx="2002536" cy="246888"/>
            <a:chOff x="0" y="0"/>
            <a:chExt cx="2670048" cy="329184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≈ 94%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5050643" y="3652647"/>
            <a:ext cx="2350770" cy="1335786"/>
            <a:chOff x="0" y="0"/>
            <a:chExt cx="3134360" cy="178104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4" id="64"/>
          <p:cNvGrpSpPr/>
          <p:nvPr/>
        </p:nvGrpSpPr>
        <p:grpSpPr>
          <a:xfrm rot="0">
            <a:off x="15050643" y="3652647"/>
            <a:ext cx="87630" cy="1335786"/>
            <a:chOff x="0" y="0"/>
            <a:chExt cx="116840" cy="1781048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6" id="66"/>
          <p:cNvGrpSpPr/>
          <p:nvPr/>
        </p:nvGrpSpPr>
        <p:grpSpPr>
          <a:xfrm rot="0">
            <a:off x="15279624" y="3826764"/>
            <a:ext cx="2002536" cy="274320"/>
            <a:chOff x="0" y="0"/>
            <a:chExt cx="2670048" cy="36576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Avg Delivery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5279624" y="4183380"/>
            <a:ext cx="2002536" cy="521208"/>
            <a:chOff x="0" y="0"/>
            <a:chExt cx="2670048" cy="694944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11.49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5279624" y="4594860"/>
            <a:ext cx="2002536" cy="246888"/>
            <a:chOff x="0" y="0"/>
            <a:chExt cx="2670048" cy="329184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Days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12472035" y="5229987"/>
            <a:ext cx="2350770" cy="1335786"/>
            <a:chOff x="0" y="0"/>
            <a:chExt cx="3134360" cy="1781048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2472035" y="5229987"/>
            <a:ext cx="87630" cy="1335786"/>
            <a:chOff x="0" y="0"/>
            <a:chExt cx="116840" cy="17810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6840" cy="1781048"/>
            </a:xfrm>
            <a:custGeom>
              <a:avLst/>
              <a:gdLst/>
              <a:ahLst/>
              <a:cxnLst/>
              <a:rect r="r" b="b" t="t" l="l"/>
              <a:pathLst>
                <a:path h="1781048" w="116840">
                  <a:moveTo>
                    <a:pt x="0" y="0"/>
                  </a:moveTo>
                  <a:lnTo>
                    <a:pt x="116840" y="0"/>
                  </a:lnTo>
                  <a:lnTo>
                    <a:pt x="116840" y="1781048"/>
                  </a:lnTo>
                  <a:lnTo>
                    <a:pt x="0" y="1781048"/>
                  </a:ln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79" id="79"/>
          <p:cNvGrpSpPr/>
          <p:nvPr/>
        </p:nvGrpSpPr>
        <p:grpSpPr>
          <a:xfrm rot="0">
            <a:off x="12701016" y="5404104"/>
            <a:ext cx="2002536" cy="274320"/>
            <a:chOff x="0" y="0"/>
            <a:chExt cx="2670048" cy="365760"/>
          </a:xfrm>
        </p:grpSpPr>
        <p:sp>
          <p:nvSpPr>
            <p:cNvPr name="Freeform 80" id="80"/>
            <p:cNvSpPr/>
            <p:nvPr/>
          </p:nvSpPr>
          <p:spPr>
            <a:xfrm flipH="false" flipV="false" rot="0">
              <a:off x="0" y="0"/>
              <a:ext cx="2670048" cy="365760"/>
            </a:xfrm>
            <a:custGeom>
              <a:avLst/>
              <a:gdLst/>
              <a:ahLst/>
              <a:cxnLst/>
              <a:rect r="r" b="b" t="t" l="l"/>
              <a:pathLst>
                <a:path h="365760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2240" r="0" b="-92240"/>
              </a:stretch>
            </a:blipFill>
          </p:spPr>
        </p:sp>
        <p:sp>
          <p:nvSpPr>
            <p:cNvPr name="TextBox 81" id="81"/>
            <p:cNvSpPr txBox="true"/>
            <p:nvPr/>
          </p:nvSpPr>
          <p:spPr>
            <a:xfrm>
              <a:off x="0" y="-9525"/>
              <a:ext cx="2670048" cy="3752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sz="135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Supplier Rating</a:t>
              </a:r>
            </a:p>
          </p:txBody>
        </p:sp>
      </p:grpSp>
      <p:grpSp>
        <p:nvGrpSpPr>
          <p:cNvPr name="Group 82" id="82"/>
          <p:cNvGrpSpPr/>
          <p:nvPr/>
        </p:nvGrpSpPr>
        <p:grpSpPr>
          <a:xfrm rot="0">
            <a:off x="12701016" y="5760720"/>
            <a:ext cx="2002536" cy="521208"/>
            <a:chOff x="0" y="0"/>
            <a:chExt cx="2670048" cy="694944"/>
          </a:xfrm>
        </p:grpSpPr>
        <p:sp>
          <p:nvSpPr>
            <p:cNvPr name="Freeform 83" id="83"/>
            <p:cNvSpPr/>
            <p:nvPr/>
          </p:nvSpPr>
          <p:spPr>
            <a:xfrm flipH="false" flipV="false" rot="0">
              <a:off x="0" y="0"/>
              <a:ext cx="2670048" cy="694944"/>
            </a:xfrm>
            <a:custGeom>
              <a:avLst/>
              <a:gdLst/>
              <a:ahLst/>
              <a:cxnLst/>
              <a:rect r="r" b="b" t="t" l="l"/>
              <a:pathLst>
                <a:path h="69494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63" r="0" b="-24863"/>
              </a:stretch>
            </a:blipFill>
          </p:spPr>
        </p:sp>
        <p:sp>
          <p:nvSpPr>
            <p:cNvPr name="TextBox 84" id="84"/>
            <p:cNvSpPr txBox="true"/>
            <p:nvPr/>
          </p:nvSpPr>
          <p:spPr>
            <a:xfrm>
              <a:off x="0" y="0"/>
              <a:ext cx="2670048" cy="6949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779"/>
                </a:lnSpc>
              </a:pPr>
              <a:r>
                <a:rPr lang="en-US" sz="31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4.07</a:t>
              </a:r>
            </a:p>
          </p:txBody>
        </p:sp>
      </p:grpSp>
      <p:grpSp>
        <p:nvGrpSpPr>
          <p:cNvPr name="Group 85" id="85"/>
          <p:cNvGrpSpPr/>
          <p:nvPr/>
        </p:nvGrpSpPr>
        <p:grpSpPr>
          <a:xfrm rot="0">
            <a:off x="12701016" y="6172200"/>
            <a:ext cx="2002536" cy="246888"/>
            <a:chOff x="0" y="0"/>
            <a:chExt cx="2670048" cy="329184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670048" cy="329184"/>
            </a:xfrm>
            <a:custGeom>
              <a:avLst/>
              <a:gdLst/>
              <a:ahLst/>
              <a:cxnLst/>
              <a:rect r="r" b="b" t="t" l="l"/>
              <a:pathLst>
                <a:path h="329184" w="2670048">
                  <a:moveTo>
                    <a:pt x="0" y="0"/>
                  </a:moveTo>
                  <a:lnTo>
                    <a:pt x="2670048" y="0"/>
                  </a:lnTo>
                  <a:lnTo>
                    <a:pt x="26700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8045" r="0" b="-108045"/>
              </a:stretch>
            </a:blipFill>
          </p:spPr>
        </p:sp>
        <p:sp>
          <p:nvSpPr>
            <p:cNvPr name="TextBox 87" id="87"/>
            <p:cNvSpPr txBox="true"/>
            <p:nvPr/>
          </p:nvSpPr>
          <p:spPr>
            <a:xfrm>
              <a:off x="0" y="0"/>
              <a:ext cx="2670048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Average review</a:t>
              </a:r>
            </a:p>
          </p:txBody>
        </p:sp>
      </p:grpSp>
      <p:grpSp>
        <p:nvGrpSpPr>
          <p:cNvPr name="Group 88" id="88"/>
          <p:cNvGrpSpPr/>
          <p:nvPr/>
        </p:nvGrpSpPr>
        <p:grpSpPr>
          <a:xfrm rot="0">
            <a:off x="15050643" y="5229987"/>
            <a:ext cx="2350770" cy="1335786"/>
            <a:chOff x="0" y="0"/>
            <a:chExt cx="3134360" cy="178104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3134360" cy="1781048"/>
            </a:xfrm>
            <a:custGeom>
              <a:avLst/>
              <a:gdLst/>
              <a:ahLst/>
              <a:cxnLst/>
              <a:rect r="r" b="b" t="t" l="l"/>
              <a:pathLst>
                <a:path h="1781048" w="3134360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2985897" y="0"/>
                  </a:lnTo>
                  <a:cubicBezTo>
                    <a:pt x="3067812" y="0"/>
                    <a:pt x="3134360" y="66421"/>
                    <a:pt x="3134360" y="148463"/>
                  </a:cubicBezTo>
                  <a:lnTo>
                    <a:pt x="3134360" y="1632585"/>
                  </a:lnTo>
                  <a:cubicBezTo>
                    <a:pt x="3134360" y="1714500"/>
                    <a:pt x="3067939" y="1781048"/>
                    <a:pt x="2985897" y="1781048"/>
                  </a:cubicBezTo>
                  <a:lnTo>
                    <a:pt x="148463" y="1781048"/>
                  </a:lnTo>
                  <a:cubicBezTo>
                    <a:pt x="66421" y="1781048"/>
                    <a:pt x="0" y="1714627"/>
                    <a:pt x="0" y="163258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90" id="90"/>
          <p:cNvGrpSpPr/>
          <p:nvPr/>
        </p:nvGrpSpPr>
        <p:grpSpPr>
          <a:xfrm rot="0">
            <a:off x="15279624" y="5431536"/>
            <a:ext cx="1837944" cy="246888"/>
            <a:chOff x="0" y="0"/>
            <a:chExt cx="2450592" cy="329184"/>
          </a:xfrm>
        </p:grpSpPr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2450592" cy="329184"/>
            </a:xfrm>
            <a:custGeom>
              <a:avLst/>
              <a:gdLst/>
              <a:ahLst/>
              <a:cxnLst/>
              <a:rect r="r" b="b" t="t" l="l"/>
              <a:pathLst>
                <a:path h="329184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5055" r="0" b="-95055"/>
              </a:stretch>
            </a:blipFill>
          </p:spPr>
        </p:sp>
        <p:sp>
          <p:nvSpPr>
            <p:cNvPr name="TextBox 92" id="92"/>
            <p:cNvSpPr txBox="true"/>
            <p:nvPr/>
          </p:nvSpPr>
          <p:spPr>
            <a:xfrm>
              <a:off x="0" y="0"/>
              <a:ext cx="2450592" cy="3291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84"/>
                </a:lnSpc>
              </a:pPr>
              <a:r>
                <a:rPr lang="en-US" sz="132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Payment Mix</a:t>
              </a:r>
            </a:p>
          </p:txBody>
        </p:sp>
      </p:grpSp>
      <p:grpSp>
        <p:nvGrpSpPr>
          <p:cNvPr name="Group 93" id="93"/>
          <p:cNvGrpSpPr/>
          <p:nvPr/>
        </p:nvGrpSpPr>
        <p:grpSpPr>
          <a:xfrm rot="0">
            <a:off x="15279624" y="5870448"/>
            <a:ext cx="1837944" cy="384048"/>
            <a:chOff x="0" y="0"/>
            <a:chExt cx="2450592" cy="512064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2450592" cy="512064"/>
            </a:xfrm>
            <a:custGeom>
              <a:avLst/>
              <a:gdLst/>
              <a:ahLst/>
              <a:cxnLst/>
              <a:rect r="r" b="b" t="t" l="l"/>
              <a:pathLst>
                <a:path h="512064" w="2450592">
                  <a:moveTo>
                    <a:pt x="0" y="0"/>
                  </a:moveTo>
                  <a:lnTo>
                    <a:pt x="2450592" y="0"/>
                  </a:lnTo>
                  <a:lnTo>
                    <a:pt x="2450592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3249" r="0" b="-43249"/>
              </a:stretch>
            </a:blipFill>
          </p:spPr>
        </p:sp>
        <p:sp>
          <p:nvSpPr>
            <p:cNvPr name="TextBox 95" id="95"/>
            <p:cNvSpPr txBox="true"/>
            <p:nvPr/>
          </p:nvSpPr>
          <p:spPr>
            <a:xfrm>
              <a:off x="0" y="0"/>
              <a:ext cx="2450592" cy="5120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Credit card dominates</a:t>
              </a:r>
            </a:p>
          </p:txBody>
        </p:sp>
      </p:grpSp>
      <p:grpSp>
        <p:nvGrpSpPr>
          <p:cNvPr name="Group 96" id="96"/>
          <p:cNvGrpSpPr/>
          <p:nvPr/>
        </p:nvGrpSpPr>
        <p:grpSpPr>
          <a:xfrm rot="0">
            <a:off x="12472035" y="6875907"/>
            <a:ext cx="4929378" cy="2103882"/>
            <a:chOff x="0" y="0"/>
            <a:chExt cx="6572504" cy="2805176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6572504" cy="2805176"/>
            </a:xfrm>
            <a:custGeom>
              <a:avLst/>
              <a:gdLst/>
              <a:ahLst/>
              <a:cxnLst/>
              <a:rect r="r" b="b" t="t" l="l"/>
              <a:pathLst>
                <a:path h="2805176" w="6572504">
                  <a:moveTo>
                    <a:pt x="0" y="147574"/>
                  </a:moveTo>
                  <a:cubicBezTo>
                    <a:pt x="0" y="66040"/>
                    <a:pt x="66040" y="0"/>
                    <a:pt x="147574" y="0"/>
                  </a:cubicBezTo>
                  <a:lnTo>
                    <a:pt x="6424930" y="0"/>
                  </a:lnTo>
                  <a:cubicBezTo>
                    <a:pt x="6506464" y="0"/>
                    <a:pt x="6572504" y="66040"/>
                    <a:pt x="6572504" y="147574"/>
                  </a:cubicBezTo>
                  <a:lnTo>
                    <a:pt x="6572504" y="2657602"/>
                  </a:lnTo>
                  <a:cubicBezTo>
                    <a:pt x="6572504" y="2739136"/>
                    <a:pt x="6506464" y="2805176"/>
                    <a:pt x="6424930" y="2805176"/>
                  </a:cubicBezTo>
                  <a:lnTo>
                    <a:pt x="147574" y="2805176"/>
                  </a:lnTo>
                  <a:cubicBezTo>
                    <a:pt x="66040" y="2805176"/>
                    <a:pt x="0" y="2739136"/>
                    <a:pt x="0" y="2657602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98" id="98"/>
          <p:cNvGrpSpPr/>
          <p:nvPr/>
        </p:nvGrpSpPr>
        <p:grpSpPr>
          <a:xfrm rot="0">
            <a:off x="12701016" y="7050024"/>
            <a:ext cx="4471416" cy="246888"/>
            <a:chOff x="0" y="0"/>
            <a:chExt cx="5961888" cy="32918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5961888" cy="329184"/>
            </a:xfrm>
            <a:custGeom>
              <a:avLst/>
              <a:gdLst/>
              <a:ahLst/>
              <a:cxnLst/>
              <a:rect r="r" b="b" t="t" l="l"/>
              <a:pathLst>
                <a:path h="329184" w="5961888">
                  <a:moveTo>
                    <a:pt x="0" y="0"/>
                  </a:moveTo>
                  <a:lnTo>
                    <a:pt x="5961888" y="0"/>
                  </a:lnTo>
                  <a:lnTo>
                    <a:pt x="596188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2895" r="0" b="-30289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9525"/>
              <a:ext cx="5961888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CORE KPI LOGIC</a:t>
              </a:r>
            </a:p>
          </p:txBody>
        </p:sp>
      </p:grpSp>
      <p:sp>
        <p:nvSpPr>
          <p:cNvPr name="TextBox 101" id="101"/>
          <p:cNvSpPr txBox="true"/>
          <p:nvPr/>
        </p:nvSpPr>
        <p:spPr>
          <a:xfrm rot="0">
            <a:off x="12701016" y="7387590"/>
            <a:ext cx="4471416" cy="1445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On-Time Delivery % =</a:t>
            </a: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  On-Time Delivered Orders / Delivered Orders</a:t>
            </a:r>
          </a:p>
          <a:p>
            <a:pPr algn="l">
              <a:lnSpc>
                <a:spcPts val="1512"/>
              </a:lnSpc>
            </a:pPr>
          </a:p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Average Supplier Rating = AVERAGE(review_score)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DASHBOARD 4 — DETAIL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Advanced KPI Visualization — Service Pattern Analysis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second KPI page connects delivery speed, review score, monthly reliability and drillable freight context.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1938147"/>
            <a:ext cx="10786110" cy="7562850"/>
            <a:chOff x="0" y="0"/>
            <a:chExt cx="14381480" cy="10083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4381480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14381480">
                  <a:moveTo>
                    <a:pt x="0" y="146685"/>
                  </a:moveTo>
                  <a:cubicBezTo>
                    <a:pt x="0" y="65659"/>
                    <a:pt x="65659" y="0"/>
                    <a:pt x="146685" y="0"/>
                  </a:cubicBezTo>
                  <a:lnTo>
                    <a:pt x="14234795" y="0"/>
                  </a:lnTo>
                  <a:cubicBezTo>
                    <a:pt x="14315821" y="0"/>
                    <a:pt x="14381480" y="65659"/>
                    <a:pt x="14381480" y="146685"/>
                  </a:cubicBezTo>
                  <a:lnTo>
                    <a:pt x="14381480" y="9937115"/>
                  </a:lnTo>
                  <a:cubicBezTo>
                    <a:pt x="14381480" y="10018141"/>
                    <a:pt x="14315821" y="10083800"/>
                    <a:pt x="14234795" y="10083800"/>
                  </a:cubicBezTo>
                  <a:lnTo>
                    <a:pt x="146685" y="10083800"/>
                  </a:lnTo>
                  <a:cubicBezTo>
                    <a:pt x="65659" y="10083800"/>
                    <a:pt x="0" y="10018141"/>
                    <a:pt x="0" y="9937115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7E2EC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932688" y="2702128"/>
            <a:ext cx="10492740" cy="6015838"/>
            <a:chOff x="0" y="0"/>
            <a:chExt cx="13990320" cy="8021117"/>
          </a:xfrm>
        </p:grpSpPr>
        <p:sp>
          <p:nvSpPr>
            <p:cNvPr name="Freeform 22" id="22" descr="/mnt/data/ppt_assets/adv2-1.png"/>
            <p:cNvSpPr/>
            <p:nvPr/>
          </p:nvSpPr>
          <p:spPr>
            <a:xfrm flipH="false" flipV="false" rot="0">
              <a:off x="0" y="0"/>
              <a:ext cx="13990320" cy="8021066"/>
            </a:xfrm>
            <a:custGeom>
              <a:avLst/>
              <a:gdLst/>
              <a:ahLst/>
              <a:cxnLst/>
              <a:rect r="r" b="b" t="t" l="l"/>
              <a:pathLst>
                <a:path h="8021066" w="13990320">
                  <a:moveTo>
                    <a:pt x="0" y="0"/>
                  </a:moveTo>
                  <a:lnTo>
                    <a:pt x="13990320" y="0"/>
                  </a:lnTo>
                  <a:lnTo>
                    <a:pt x="13990320" y="8021066"/>
                  </a:lnTo>
                  <a:lnTo>
                    <a:pt x="0" y="80210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1950827" y="1938147"/>
            <a:ext cx="5532882" cy="7562850"/>
            <a:chOff x="0" y="0"/>
            <a:chExt cx="7377176" cy="10083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377176" cy="10083800"/>
            </a:xfrm>
            <a:custGeom>
              <a:avLst/>
              <a:gdLst/>
              <a:ahLst/>
              <a:cxnLst/>
              <a:rect r="r" b="b" t="t" l="l"/>
              <a:pathLst>
                <a:path h="10083800" w="7377176">
                  <a:moveTo>
                    <a:pt x="0" y="146812"/>
                  </a:moveTo>
                  <a:cubicBezTo>
                    <a:pt x="0" y="65786"/>
                    <a:pt x="65786" y="0"/>
                    <a:pt x="146812" y="0"/>
                  </a:cubicBezTo>
                  <a:lnTo>
                    <a:pt x="7230364" y="0"/>
                  </a:lnTo>
                  <a:cubicBezTo>
                    <a:pt x="7311390" y="0"/>
                    <a:pt x="7377176" y="65786"/>
                    <a:pt x="7377176" y="146812"/>
                  </a:cubicBezTo>
                  <a:lnTo>
                    <a:pt x="7377176" y="9936988"/>
                  </a:lnTo>
                  <a:cubicBezTo>
                    <a:pt x="7377176" y="10018014"/>
                    <a:pt x="7311390" y="10083800"/>
                    <a:pt x="7230364" y="10083800"/>
                  </a:cubicBezTo>
                  <a:lnTo>
                    <a:pt x="146812" y="10083800"/>
                  </a:lnTo>
                  <a:cubicBezTo>
                    <a:pt x="65786" y="10083800"/>
                    <a:pt x="0" y="10018014"/>
                    <a:pt x="0" y="9936988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307443" y="2322195"/>
            <a:ext cx="2179320" cy="403098"/>
            <a:chOff x="0" y="0"/>
            <a:chExt cx="2905760" cy="5374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905760" cy="537464"/>
            </a:xfrm>
            <a:custGeom>
              <a:avLst/>
              <a:gdLst/>
              <a:ahLst/>
              <a:cxnLst/>
              <a:rect r="r" b="b" t="t" l="l"/>
              <a:pathLst>
                <a:path h="537464" w="290576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2790571" y="0"/>
                  </a:lnTo>
                  <a:cubicBezTo>
                    <a:pt x="2854198" y="0"/>
                    <a:pt x="2905760" y="51562"/>
                    <a:pt x="2905760" y="115189"/>
                  </a:cubicBezTo>
                  <a:lnTo>
                    <a:pt x="2905760" y="422275"/>
                  </a:lnTo>
                  <a:cubicBezTo>
                    <a:pt x="2905760" y="485902"/>
                    <a:pt x="2854198" y="537464"/>
                    <a:pt x="279057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12522708" y="2417195"/>
            <a:ext cx="1748790" cy="213099"/>
            <a:chOff x="0" y="0"/>
            <a:chExt cx="2331720" cy="2841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31720" cy="284131"/>
            </a:xfrm>
            <a:custGeom>
              <a:avLst/>
              <a:gdLst/>
              <a:ahLst/>
              <a:cxnLst/>
              <a:rect r="r" b="b" t="t" l="l"/>
              <a:pathLst>
                <a:path h="284131" w="2331720">
                  <a:moveTo>
                    <a:pt x="0" y="0"/>
                  </a:moveTo>
                  <a:lnTo>
                    <a:pt x="2331720" y="0"/>
                  </a:lnTo>
                  <a:lnTo>
                    <a:pt x="2331720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848" r="0" b="-10495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0"/>
              <a:ext cx="2331720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OBSERVED PATTERNS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307443" y="2843403"/>
            <a:ext cx="4847082" cy="1555242"/>
            <a:chOff x="0" y="0"/>
            <a:chExt cx="6462776" cy="207365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462776" cy="2073656"/>
            </a:xfrm>
            <a:custGeom>
              <a:avLst/>
              <a:gdLst/>
              <a:ahLst/>
              <a:cxnLst/>
              <a:rect r="r" b="b" t="t" l="l"/>
              <a:pathLst>
                <a:path h="2073656" w="646277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314694" y="0"/>
                  </a:lnTo>
                  <a:cubicBezTo>
                    <a:pt x="6396482" y="0"/>
                    <a:pt x="6462776" y="66294"/>
                    <a:pt x="6462776" y="148082"/>
                  </a:cubicBezTo>
                  <a:lnTo>
                    <a:pt x="6462776" y="1925574"/>
                  </a:lnTo>
                  <a:cubicBezTo>
                    <a:pt x="6462776" y="2007362"/>
                    <a:pt x="6396482" y="2073656"/>
                    <a:pt x="6314694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554331" y="3062859"/>
            <a:ext cx="540258" cy="540258"/>
            <a:chOff x="0" y="0"/>
            <a:chExt cx="720344" cy="7203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563856" y="3192018"/>
            <a:ext cx="521208" cy="301752"/>
            <a:chOff x="0" y="0"/>
            <a:chExt cx="694944" cy="40233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" cy="402336"/>
            </a:xfrm>
            <a:custGeom>
              <a:avLst/>
              <a:gdLst/>
              <a:ahLst/>
              <a:cxnLst/>
              <a:rect r="r" b="b" t="t" l="l"/>
              <a:pathLst>
                <a:path h="4023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37" r="0" b="3452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0"/>
              <a:ext cx="6949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3249656" y="3182112"/>
            <a:ext cx="3675888" cy="301752"/>
            <a:chOff x="0" y="0"/>
            <a:chExt cx="4901184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4901184" cy="402336"/>
            </a:xfrm>
            <a:custGeom>
              <a:avLst/>
              <a:gdLst/>
              <a:ahLst/>
              <a:cxnLst/>
              <a:rect r="r" b="b" t="t" l="l"/>
              <a:pathLst>
                <a:path h="402336" w="4901184">
                  <a:moveTo>
                    <a:pt x="0" y="0"/>
                  </a:moveTo>
                  <a:lnTo>
                    <a:pt x="4901184" y="0"/>
                  </a:lnTo>
                  <a:lnTo>
                    <a:pt x="49011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363" r="0" b="-187363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490118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Monthly service varies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563856" y="3666363"/>
            <a:ext cx="433425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The dashboard shows on-time delivery ranging roughly from 0.86 to 0.99 across the twelve displayed months.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2307443" y="4571619"/>
            <a:ext cx="4847082" cy="1555242"/>
            <a:chOff x="0" y="0"/>
            <a:chExt cx="6462776" cy="207365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462776" cy="2073656"/>
            </a:xfrm>
            <a:custGeom>
              <a:avLst/>
              <a:gdLst/>
              <a:ahLst/>
              <a:cxnLst/>
              <a:rect r="r" b="b" t="t" l="l"/>
              <a:pathLst>
                <a:path h="2073656" w="646277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314694" y="0"/>
                  </a:lnTo>
                  <a:cubicBezTo>
                    <a:pt x="6396482" y="0"/>
                    <a:pt x="6462776" y="66294"/>
                    <a:pt x="6462776" y="148082"/>
                  </a:cubicBezTo>
                  <a:lnTo>
                    <a:pt x="6462776" y="1925574"/>
                  </a:lnTo>
                  <a:cubicBezTo>
                    <a:pt x="6462776" y="2007362"/>
                    <a:pt x="6396482" y="2073656"/>
                    <a:pt x="6314694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2554331" y="4791075"/>
            <a:ext cx="540258" cy="540258"/>
            <a:chOff x="0" y="0"/>
            <a:chExt cx="720344" cy="720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2563856" y="4921758"/>
            <a:ext cx="521208" cy="297942"/>
            <a:chOff x="0" y="0"/>
            <a:chExt cx="694944" cy="39725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" cy="397256"/>
            </a:xfrm>
            <a:custGeom>
              <a:avLst/>
              <a:gdLst/>
              <a:ahLst/>
              <a:cxnLst/>
              <a:rect r="r" b="b" t="t" l="l"/>
              <a:pathLst>
                <a:path h="39725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97256"/>
                  </a:lnTo>
                  <a:lnTo>
                    <a:pt x="0" y="3972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1" r="0" b="33688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94944" cy="3972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3249656" y="4910328"/>
            <a:ext cx="3675888" cy="301752"/>
            <a:chOff x="0" y="0"/>
            <a:chExt cx="4901184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901184" cy="402336"/>
            </a:xfrm>
            <a:custGeom>
              <a:avLst/>
              <a:gdLst/>
              <a:ahLst/>
              <a:cxnLst/>
              <a:rect r="r" b="b" t="t" l="l"/>
              <a:pathLst>
                <a:path h="402336" w="4901184">
                  <a:moveTo>
                    <a:pt x="0" y="0"/>
                  </a:moveTo>
                  <a:lnTo>
                    <a:pt x="4901184" y="0"/>
                  </a:lnTo>
                  <a:lnTo>
                    <a:pt x="49011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363" r="0" b="-187363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490118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March vs June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2563856" y="5394579"/>
            <a:ext cx="433425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March is the weakest month in the narrative insight, while June is the strongest — a useful target for seasonality/root-cause review.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12307443" y="6299835"/>
            <a:ext cx="4847082" cy="1555242"/>
            <a:chOff x="0" y="0"/>
            <a:chExt cx="6462776" cy="207365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6462776" cy="2073656"/>
            </a:xfrm>
            <a:custGeom>
              <a:avLst/>
              <a:gdLst/>
              <a:ahLst/>
              <a:cxnLst/>
              <a:rect r="r" b="b" t="t" l="l"/>
              <a:pathLst>
                <a:path h="2073656" w="6462776">
                  <a:moveTo>
                    <a:pt x="0" y="148082"/>
                  </a:moveTo>
                  <a:cubicBezTo>
                    <a:pt x="0" y="66294"/>
                    <a:pt x="66294" y="0"/>
                    <a:pt x="148082" y="0"/>
                  </a:cubicBezTo>
                  <a:lnTo>
                    <a:pt x="6314694" y="0"/>
                  </a:lnTo>
                  <a:cubicBezTo>
                    <a:pt x="6396482" y="0"/>
                    <a:pt x="6462776" y="66294"/>
                    <a:pt x="6462776" y="148082"/>
                  </a:cubicBezTo>
                  <a:lnTo>
                    <a:pt x="6462776" y="1925574"/>
                  </a:lnTo>
                  <a:cubicBezTo>
                    <a:pt x="6462776" y="2007362"/>
                    <a:pt x="6396482" y="2073656"/>
                    <a:pt x="6314694" y="2073656"/>
                  </a:cubicBezTo>
                  <a:lnTo>
                    <a:pt x="148082" y="2073656"/>
                  </a:lnTo>
                  <a:cubicBezTo>
                    <a:pt x="66294" y="2073656"/>
                    <a:pt x="0" y="2007362"/>
                    <a:pt x="0" y="1925574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12554331" y="6519291"/>
            <a:ext cx="540258" cy="540258"/>
            <a:chOff x="0" y="0"/>
            <a:chExt cx="720344" cy="7203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12563856" y="6650736"/>
            <a:ext cx="521208" cy="296877"/>
            <a:chOff x="0" y="0"/>
            <a:chExt cx="694944" cy="395836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4944" cy="395836"/>
            </a:xfrm>
            <a:custGeom>
              <a:avLst/>
              <a:gdLst/>
              <a:ahLst/>
              <a:cxnLst/>
              <a:rect r="r" b="b" t="t" l="l"/>
              <a:pathLst>
                <a:path h="395836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95836"/>
                  </a:lnTo>
                  <a:lnTo>
                    <a:pt x="0" y="3958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7" r="0" b="3345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94944" cy="3958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3249656" y="6638544"/>
            <a:ext cx="3675888" cy="301752"/>
            <a:chOff x="0" y="0"/>
            <a:chExt cx="4901184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4901184" cy="402336"/>
            </a:xfrm>
            <a:custGeom>
              <a:avLst/>
              <a:gdLst/>
              <a:ahLst/>
              <a:cxnLst/>
              <a:rect r="r" b="b" t="t" l="l"/>
              <a:pathLst>
                <a:path h="402336" w="4901184">
                  <a:moveTo>
                    <a:pt x="0" y="0"/>
                  </a:moveTo>
                  <a:lnTo>
                    <a:pt x="4901184" y="0"/>
                  </a:lnTo>
                  <a:lnTo>
                    <a:pt x="490118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7363" r="0" b="-187363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490118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Review &amp; delivery relationship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2563856" y="7122795"/>
            <a:ext cx="4334256" cy="558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55"/>
              </a:lnSpc>
            </a:pPr>
            <a:r>
              <a:rPr lang="en-US" sz="1380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Average delivery days decline as review score increases in the displayed bar chart — a descriptive association, not proof of causation.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12307443" y="8028051"/>
            <a:ext cx="4847082" cy="1034034"/>
            <a:chOff x="0" y="0"/>
            <a:chExt cx="6462776" cy="1378712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462776" cy="1378712"/>
            </a:xfrm>
            <a:custGeom>
              <a:avLst/>
              <a:gdLst/>
              <a:ahLst/>
              <a:cxnLst/>
              <a:rect r="r" b="b" t="t" l="l"/>
              <a:pathLst>
                <a:path h="1378712" w="6462776">
                  <a:moveTo>
                    <a:pt x="0" y="149098"/>
                  </a:moveTo>
                  <a:cubicBezTo>
                    <a:pt x="0" y="66675"/>
                    <a:pt x="66675" y="0"/>
                    <a:pt x="149098" y="0"/>
                  </a:cubicBezTo>
                  <a:lnTo>
                    <a:pt x="6313678" y="0"/>
                  </a:lnTo>
                  <a:cubicBezTo>
                    <a:pt x="6395974" y="0"/>
                    <a:pt x="6462776" y="66675"/>
                    <a:pt x="6462776" y="149098"/>
                  </a:cubicBezTo>
                  <a:lnTo>
                    <a:pt x="6462776" y="1229614"/>
                  </a:lnTo>
                  <a:cubicBezTo>
                    <a:pt x="6462776" y="1311910"/>
                    <a:pt x="6396101" y="1378712"/>
                    <a:pt x="6313678" y="1378712"/>
                  </a:cubicBezTo>
                  <a:lnTo>
                    <a:pt x="149098" y="1378712"/>
                  </a:lnTo>
                  <a:cubicBezTo>
                    <a:pt x="66675" y="1378712"/>
                    <a:pt x="0" y="1312037"/>
                    <a:pt x="0" y="1229614"/>
                  </a:cubicBezTo>
                  <a:close/>
                </a:path>
              </a:pathLst>
            </a:custGeom>
            <a:solidFill>
              <a:srgbClr val="FBFBFE"/>
            </a:solidFill>
            <a:ln w="19050" cap="sq">
              <a:solidFill>
                <a:srgbClr val="E6E3F4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2536424" y="8202168"/>
            <a:ext cx="4389120" cy="246888"/>
            <a:chOff x="0" y="0"/>
            <a:chExt cx="5852160" cy="32918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5852160" cy="329184"/>
            </a:xfrm>
            <a:custGeom>
              <a:avLst/>
              <a:gdLst/>
              <a:ahLst/>
              <a:cxnLst/>
              <a:rect r="r" b="b" t="t" l="l"/>
              <a:pathLst>
                <a:path h="329184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6400" r="0" b="-29640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9525"/>
              <a:ext cx="5852160" cy="3387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b="true" sz="1275" spc="7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SUPPORTING LOGIC</a:t>
              </a: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12536424" y="8539734"/>
            <a:ext cx="4389120" cy="3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260">
                <a:solidFill>
                  <a:srgbClr val="0F172A"/>
                </a:solidFill>
                <a:latin typeface="Courier New"/>
                <a:ea typeface="Courier New"/>
                <a:cs typeface="Courier New"/>
                <a:sym typeface="Courier New"/>
              </a:rPr>
              <a:t>Average Delivery Days = mean purchase-to-delivery duration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CROSS-DASHBOARD VIEW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Integrated Milestone 3 Business Insights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453896"/>
            <a:ext cx="14714220" cy="411480"/>
            <a:chOff x="0" y="0"/>
            <a:chExt cx="196189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6189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618961">
                  <a:moveTo>
                    <a:pt x="0" y="0"/>
                  </a:moveTo>
                  <a:lnTo>
                    <a:pt x="19618961" y="0"/>
                  </a:lnTo>
                  <a:lnTo>
                    <a:pt x="196189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258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6189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Reading the four workstreams together reveals where the network is strong, where it is costly and where targeted action can create value.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116455"/>
            <a:ext cx="8111490" cy="1966722"/>
            <a:chOff x="0" y="0"/>
            <a:chExt cx="10815320" cy="262229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0FDF4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32891" y="2335911"/>
            <a:ext cx="540258" cy="540258"/>
            <a:chOff x="0" y="0"/>
            <a:chExt cx="720344" cy="72034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2C55E"/>
            </a:solidFill>
            <a:ln w="19050" cap="sq">
              <a:solidFill>
                <a:srgbClr val="22C5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42416" y="2470023"/>
            <a:ext cx="521208" cy="272034"/>
            <a:chOff x="0" y="0"/>
            <a:chExt cx="694944" cy="36271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4944" cy="362712"/>
            </a:xfrm>
            <a:custGeom>
              <a:avLst/>
              <a:gdLst/>
              <a:ahLst/>
              <a:cxnLst/>
              <a:rect r="r" b="b" t="t" l="l"/>
              <a:pathLst>
                <a:path h="362712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2712"/>
                  </a:lnTo>
                  <a:lnTo>
                    <a:pt x="0" y="362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8" r="0" b="27373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694944" cy="372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728216" y="2455164"/>
            <a:ext cx="6940296" cy="301752"/>
            <a:chOff x="0" y="0"/>
            <a:chExt cx="9253728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Service is strong overall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728216" y="3017774"/>
            <a:ext cx="6681405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93.91% on-time delivery provides a solid network baseline — but aggregate reliability can hide local exceptions.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372219" y="2116455"/>
            <a:ext cx="8111490" cy="1966722"/>
            <a:chOff x="0" y="0"/>
            <a:chExt cx="10815320" cy="262229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EF2F2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9619107" y="2335911"/>
            <a:ext cx="540258" cy="540258"/>
            <a:chOff x="0" y="0"/>
            <a:chExt cx="720344" cy="720344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9628632" y="2470023"/>
            <a:ext cx="521208" cy="272034"/>
            <a:chOff x="0" y="0"/>
            <a:chExt cx="694944" cy="36271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944" cy="362712"/>
            </a:xfrm>
            <a:custGeom>
              <a:avLst/>
              <a:gdLst/>
              <a:ahLst/>
              <a:cxnLst/>
              <a:rect r="r" b="b" t="t" l="l"/>
              <a:pathLst>
                <a:path h="362712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2712"/>
                  </a:lnTo>
                  <a:lnTo>
                    <a:pt x="0" y="3627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38" r="0" b="27373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694944" cy="37223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2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0314432" y="2455164"/>
            <a:ext cx="6940296" cy="301752"/>
            <a:chOff x="0" y="0"/>
            <a:chExt cx="9253728" cy="40233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Seller improvement is material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0314432" y="3017774"/>
            <a:ext cx="5836158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109 of 235 eligible sellers are Watchlist or Needs Improvement, making seller governance a major opportunity.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786003" y="4475607"/>
            <a:ext cx="8111490" cy="1966722"/>
            <a:chOff x="0" y="0"/>
            <a:chExt cx="10815320" cy="262229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FFBEB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1032891" y="4695063"/>
            <a:ext cx="540258" cy="540258"/>
            <a:chOff x="0" y="0"/>
            <a:chExt cx="720344" cy="720344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1042416" y="4828352"/>
            <a:ext cx="521208" cy="273681"/>
            <a:chOff x="0" y="0"/>
            <a:chExt cx="694944" cy="364908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94944" cy="364908"/>
            </a:xfrm>
            <a:custGeom>
              <a:avLst/>
              <a:gdLst/>
              <a:ahLst/>
              <a:cxnLst/>
              <a:rect r="r" b="b" t="t" l="l"/>
              <a:pathLst>
                <a:path h="3649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4908"/>
                  </a:lnTo>
                  <a:lnTo>
                    <a:pt x="0" y="364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6" r="0" b="27810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694944" cy="36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3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1728216" y="4814316"/>
            <a:ext cx="6940296" cy="301752"/>
            <a:chOff x="0" y="0"/>
            <a:chExt cx="9253728" cy="40233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Cost is geographically concentrated</a:t>
              </a:r>
            </a:p>
          </p:txBody>
        </p:sp>
      </p:grpSp>
      <p:sp>
        <p:nvSpPr>
          <p:cNvPr name="TextBox 51" id="51"/>
          <p:cNvSpPr txBox="true"/>
          <p:nvPr/>
        </p:nvSpPr>
        <p:spPr>
          <a:xfrm rot="0">
            <a:off x="1728216" y="5374767"/>
            <a:ext cx="6681405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Transportation spend is uneven across states and lanes; high-cost areas deserve cost-to-service comparison.</a:t>
            </a:r>
          </a:p>
        </p:txBody>
      </p:sp>
      <p:grpSp>
        <p:nvGrpSpPr>
          <p:cNvPr name="Group 52" id="52"/>
          <p:cNvGrpSpPr/>
          <p:nvPr/>
        </p:nvGrpSpPr>
        <p:grpSpPr>
          <a:xfrm rot="0">
            <a:off x="9372219" y="4475607"/>
            <a:ext cx="8111490" cy="1966722"/>
            <a:chOff x="0" y="0"/>
            <a:chExt cx="10815320" cy="2622296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EFF6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4" id="54"/>
          <p:cNvGrpSpPr/>
          <p:nvPr/>
        </p:nvGrpSpPr>
        <p:grpSpPr>
          <a:xfrm rot="0">
            <a:off x="9619107" y="4695063"/>
            <a:ext cx="540258" cy="540258"/>
            <a:chOff x="0" y="0"/>
            <a:chExt cx="720344" cy="7203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6" id="56"/>
          <p:cNvGrpSpPr/>
          <p:nvPr/>
        </p:nvGrpSpPr>
        <p:grpSpPr>
          <a:xfrm rot="0">
            <a:off x="9628632" y="4828352"/>
            <a:ext cx="521208" cy="273681"/>
            <a:chOff x="0" y="0"/>
            <a:chExt cx="694944" cy="364908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4944" cy="364908"/>
            </a:xfrm>
            <a:custGeom>
              <a:avLst/>
              <a:gdLst/>
              <a:ahLst/>
              <a:cxnLst/>
              <a:rect r="r" b="b" t="t" l="l"/>
              <a:pathLst>
                <a:path h="3649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4908"/>
                  </a:lnTo>
                  <a:lnTo>
                    <a:pt x="0" y="364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6" r="0" b="278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0"/>
              <a:ext cx="694944" cy="36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314432" y="4814316"/>
            <a:ext cx="6940296" cy="301752"/>
            <a:chOff x="0" y="0"/>
            <a:chExt cx="9253728" cy="402336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Distance shapes transit behavior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0314432" y="5374767"/>
            <a:ext cx="5836158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Transit time generally rises across route-distance bands, so one global transit target is not operationally fair.</a:t>
            </a:r>
          </a:p>
        </p:txBody>
      </p:sp>
      <p:grpSp>
        <p:nvGrpSpPr>
          <p:cNvPr name="Group 63" id="63"/>
          <p:cNvGrpSpPr/>
          <p:nvPr/>
        </p:nvGrpSpPr>
        <p:grpSpPr>
          <a:xfrm rot="0">
            <a:off x="786003" y="6834759"/>
            <a:ext cx="8111490" cy="1966722"/>
            <a:chOff x="0" y="0"/>
            <a:chExt cx="10815320" cy="2622296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F5F3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65" id="65"/>
          <p:cNvGrpSpPr/>
          <p:nvPr/>
        </p:nvGrpSpPr>
        <p:grpSpPr>
          <a:xfrm rot="0">
            <a:off x="1032891" y="7054215"/>
            <a:ext cx="540258" cy="540258"/>
            <a:chOff x="0" y="0"/>
            <a:chExt cx="720344" cy="720344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042416" y="7191261"/>
            <a:ext cx="521208" cy="273681"/>
            <a:chOff x="0" y="0"/>
            <a:chExt cx="694944" cy="36490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694944" cy="364908"/>
            </a:xfrm>
            <a:custGeom>
              <a:avLst/>
              <a:gdLst/>
              <a:ahLst/>
              <a:cxnLst/>
              <a:rect r="r" b="b" t="t" l="l"/>
              <a:pathLst>
                <a:path h="3649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4908"/>
                  </a:lnTo>
                  <a:lnTo>
                    <a:pt x="0" y="364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6" r="0" b="2781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694944" cy="36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728216" y="7173468"/>
            <a:ext cx="6940296" cy="301752"/>
            <a:chOff x="0" y="0"/>
            <a:chExt cx="9253728" cy="402336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Exceptions need a dedicated workflow</a:t>
              </a:r>
            </a:p>
          </p:txBody>
        </p:sp>
      </p:grpSp>
      <p:sp>
        <p:nvSpPr>
          <p:cNvPr name="TextBox 73" id="73"/>
          <p:cNvSpPr txBox="true"/>
          <p:nvPr/>
        </p:nvSpPr>
        <p:spPr>
          <a:xfrm rot="0">
            <a:off x="1728216" y="7733919"/>
            <a:ext cx="6681405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98 orders above 60 transit days and a 205-day maximum show why exception monitoring must sit beside average KPIs.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9372219" y="6834759"/>
            <a:ext cx="8111490" cy="1966722"/>
            <a:chOff x="0" y="0"/>
            <a:chExt cx="10815320" cy="2622296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10815320" cy="2622296"/>
            </a:xfrm>
            <a:custGeom>
              <a:avLst/>
              <a:gdLst/>
              <a:ahLst/>
              <a:cxnLst/>
              <a:rect r="r" b="b" t="t" l="l"/>
              <a:pathLst>
                <a:path h="2622296" w="10815320">
                  <a:moveTo>
                    <a:pt x="0" y="147701"/>
                  </a:moveTo>
                  <a:cubicBezTo>
                    <a:pt x="0" y="66167"/>
                    <a:pt x="66167" y="0"/>
                    <a:pt x="147701" y="0"/>
                  </a:cubicBezTo>
                  <a:lnTo>
                    <a:pt x="10667619" y="0"/>
                  </a:lnTo>
                  <a:cubicBezTo>
                    <a:pt x="10749152" y="0"/>
                    <a:pt x="10815320" y="66167"/>
                    <a:pt x="10815320" y="147701"/>
                  </a:cubicBezTo>
                  <a:lnTo>
                    <a:pt x="10815320" y="2474595"/>
                  </a:lnTo>
                  <a:cubicBezTo>
                    <a:pt x="10815320" y="2556129"/>
                    <a:pt x="10749152" y="2622296"/>
                    <a:pt x="10667619" y="2622296"/>
                  </a:cubicBezTo>
                  <a:lnTo>
                    <a:pt x="147701" y="2622296"/>
                  </a:lnTo>
                  <a:cubicBezTo>
                    <a:pt x="66167" y="2622296"/>
                    <a:pt x="0" y="2556129"/>
                    <a:pt x="0" y="2474595"/>
                  </a:cubicBezTo>
                  <a:close/>
                </a:path>
              </a:pathLst>
            </a:custGeom>
            <a:solidFill>
              <a:srgbClr val="ECFE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6" id="76"/>
          <p:cNvGrpSpPr/>
          <p:nvPr/>
        </p:nvGrpSpPr>
        <p:grpSpPr>
          <a:xfrm rot="0">
            <a:off x="9619107" y="7054215"/>
            <a:ext cx="540258" cy="540258"/>
            <a:chOff x="0" y="0"/>
            <a:chExt cx="720344" cy="720344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720344" cy="720344"/>
            </a:xfrm>
            <a:custGeom>
              <a:avLst/>
              <a:gdLst/>
              <a:ahLst/>
              <a:cxnLst/>
              <a:rect r="r" b="b" t="t" l="l"/>
              <a:pathLst>
                <a:path h="720344" w="720344">
                  <a:moveTo>
                    <a:pt x="0" y="360172"/>
                  </a:moveTo>
                  <a:cubicBezTo>
                    <a:pt x="0" y="161290"/>
                    <a:pt x="161290" y="0"/>
                    <a:pt x="360172" y="0"/>
                  </a:cubicBezTo>
                  <a:cubicBezTo>
                    <a:pt x="559054" y="0"/>
                    <a:pt x="720344" y="161290"/>
                    <a:pt x="720344" y="360172"/>
                  </a:cubicBezTo>
                  <a:cubicBezTo>
                    <a:pt x="720344" y="559054"/>
                    <a:pt x="559054" y="720344"/>
                    <a:pt x="360172" y="720344"/>
                  </a:cubicBezTo>
                  <a:cubicBezTo>
                    <a:pt x="161290" y="720344"/>
                    <a:pt x="0" y="559054"/>
                    <a:pt x="0" y="360172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78" id="78"/>
          <p:cNvGrpSpPr/>
          <p:nvPr/>
        </p:nvGrpSpPr>
        <p:grpSpPr>
          <a:xfrm rot="0">
            <a:off x="9628632" y="7191261"/>
            <a:ext cx="521208" cy="273681"/>
            <a:chOff x="0" y="0"/>
            <a:chExt cx="694944" cy="364908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694944" cy="364908"/>
            </a:xfrm>
            <a:custGeom>
              <a:avLst/>
              <a:gdLst/>
              <a:ahLst/>
              <a:cxnLst/>
              <a:rect r="r" b="b" t="t" l="l"/>
              <a:pathLst>
                <a:path h="364908" w="694944">
                  <a:moveTo>
                    <a:pt x="0" y="0"/>
                  </a:moveTo>
                  <a:lnTo>
                    <a:pt x="694944" y="0"/>
                  </a:lnTo>
                  <a:lnTo>
                    <a:pt x="694944" y="364908"/>
                  </a:lnTo>
                  <a:lnTo>
                    <a:pt x="0" y="3649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026" r="0" b="27810"/>
              </a:stretch>
            </a:blipFill>
          </p:spPr>
        </p:sp>
        <p:sp>
          <p:nvSpPr>
            <p:cNvPr name="TextBox 80" id="80"/>
            <p:cNvSpPr txBox="true"/>
            <p:nvPr/>
          </p:nvSpPr>
          <p:spPr>
            <a:xfrm>
              <a:off x="0" y="0"/>
              <a:ext cx="694944" cy="3649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69"/>
                </a:lnSpc>
              </a:pPr>
              <a:r>
                <a:rPr lang="en-US" sz="147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</a:t>
              </a:r>
            </a:p>
          </p:txBody>
        </p:sp>
      </p:grpSp>
      <p:grpSp>
        <p:nvGrpSpPr>
          <p:cNvPr name="Group 81" id="81"/>
          <p:cNvGrpSpPr/>
          <p:nvPr/>
        </p:nvGrpSpPr>
        <p:grpSpPr>
          <a:xfrm rot="0">
            <a:off x="10314432" y="7173468"/>
            <a:ext cx="6940296" cy="301752"/>
            <a:chOff x="0" y="0"/>
            <a:chExt cx="9253728" cy="402336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9253728" cy="402336"/>
            </a:xfrm>
            <a:custGeom>
              <a:avLst/>
              <a:gdLst/>
              <a:ahLst/>
              <a:cxnLst/>
              <a:rect r="r" b="b" t="t" l="l"/>
              <a:pathLst>
                <a:path h="402336" w="9253728">
                  <a:moveTo>
                    <a:pt x="0" y="0"/>
                  </a:moveTo>
                  <a:lnTo>
                    <a:pt x="9253728" y="0"/>
                  </a:lnTo>
                  <a:lnTo>
                    <a:pt x="9253728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83" id="83"/>
            <p:cNvSpPr txBox="true"/>
            <p:nvPr/>
          </p:nvSpPr>
          <p:spPr>
            <a:xfrm>
              <a:off x="0" y="0"/>
              <a:ext cx="9253728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70"/>
                </a:lnSpc>
              </a:pPr>
              <a:r>
                <a:rPr lang="en-US" sz="1725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Customer experience connects to operations</a:t>
              </a:r>
            </a:p>
          </p:txBody>
        </p:sp>
      </p:grpSp>
      <p:sp>
        <p:nvSpPr>
          <p:cNvPr name="TextBox 84" id="84"/>
          <p:cNvSpPr txBox="true"/>
          <p:nvPr/>
        </p:nvSpPr>
        <p:spPr>
          <a:xfrm rot="0">
            <a:off x="10314432" y="7733919"/>
            <a:ext cx="6681405" cy="5053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1"/>
              </a:lnSpc>
            </a:pPr>
            <a:r>
              <a:rPr lang="en-US" sz="1479">
                <a:solidFill>
                  <a:srgbClr val="334155"/>
                </a:solidFill>
                <a:latin typeface="Aptos"/>
                <a:ea typeface="Aptos"/>
                <a:cs typeface="Aptos"/>
                <a:sym typeface="Aptos"/>
              </a:rPr>
              <a:t>Higher review scores align with shorter delivery durations in the KPI view, reinforcing the business value of reliable fulfilment.</a:t>
            </a:r>
          </a:p>
        </p:txBody>
      </p:sp>
      <p:grpSp>
        <p:nvGrpSpPr>
          <p:cNvPr name="Group 85" id="85"/>
          <p:cNvGrpSpPr/>
          <p:nvPr/>
        </p:nvGrpSpPr>
        <p:grpSpPr>
          <a:xfrm rot="0">
            <a:off x="786003" y="9001506"/>
            <a:ext cx="16697706" cy="501015"/>
            <a:chOff x="0" y="0"/>
            <a:chExt cx="22263608" cy="66802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22263608" cy="668020"/>
            </a:xfrm>
            <a:custGeom>
              <a:avLst/>
              <a:gdLst/>
              <a:ahLst/>
              <a:cxnLst/>
              <a:rect r="r" b="b" t="t" l="l"/>
              <a:pathLst>
                <a:path h="668020" w="22263608">
                  <a:moveTo>
                    <a:pt x="0" y="116219"/>
                  </a:moveTo>
                  <a:cubicBezTo>
                    <a:pt x="0" y="51928"/>
                    <a:pt x="34671" y="0"/>
                    <a:pt x="77597" y="0"/>
                  </a:cubicBezTo>
                  <a:lnTo>
                    <a:pt x="22186012" y="0"/>
                  </a:lnTo>
                  <a:cubicBezTo>
                    <a:pt x="22228811" y="0"/>
                    <a:pt x="22263608" y="51928"/>
                    <a:pt x="22263608" y="116219"/>
                  </a:cubicBezTo>
                  <a:lnTo>
                    <a:pt x="22263608" y="551801"/>
                  </a:lnTo>
                  <a:cubicBezTo>
                    <a:pt x="22263608" y="615902"/>
                    <a:pt x="22228938" y="668020"/>
                    <a:pt x="22186012" y="668020"/>
                  </a:cubicBezTo>
                  <a:lnTo>
                    <a:pt x="77597" y="668020"/>
                  </a:lnTo>
                  <a:cubicBezTo>
                    <a:pt x="34671" y="668020"/>
                    <a:pt x="0" y="616092"/>
                    <a:pt x="0" y="551801"/>
                  </a:cubicBezTo>
                  <a:close/>
                </a:path>
              </a:pathLst>
            </a:custGeom>
            <a:solidFill>
              <a:srgbClr val="0F172A"/>
            </a:solidFill>
            <a:ln w="19050" cap="sq">
              <a:solidFill>
                <a:srgbClr val="0F172A"/>
              </a:solidFill>
              <a:prstDash val="solid"/>
              <a:miter/>
            </a:ln>
          </p:spPr>
        </p:sp>
      </p:grpSp>
      <p:grpSp>
        <p:nvGrpSpPr>
          <p:cNvPr name="Group 87" id="87"/>
          <p:cNvGrpSpPr/>
          <p:nvPr/>
        </p:nvGrpSpPr>
        <p:grpSpPr>
          <a:xfrm rot="0">
            <a:off x="1152144" y="9126827"/>
            <a:ext cx="15979140" cy="250373"/>
            <a:chOff x="0" y="0"/>
            <a:chExt cx="21305520" cy="333831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305520" cy="333831"/>
            </a:xfrm>
            <a:custGeom>
              <a:avLst/>
              <a:gdLst/>
              <a:ahLst/>
              <a:cxnLst/>
              <a:rect r="r" b="b" t="t" l="l"/>
              <a:pathLst>
                <a:path h="333831" w="21305520">
                  <a:moveTo>
                    <a:pt x="0" y="0"/>
                  </a:moveTo>
                  <a:lnTo>
                    <a:pt x="21305520" y="0"/>
                  </a:lnTo>
                  <a:lnTo>
                    <a:pt x="21305520" y="333831"/>
                  </a:lnTo>
                  <a:lnTo>
                    <a:pt x="0" y="3338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10689" r="0" b="-1176428"/>
              </a:stretch>
            </a:blipFill>
          </p:spPr>
        </p:sp>
        <p:sp>
          <p:nvSpPr>
            <p:cNvPr name="TextBox 89" id="89"/>
            <p:cNvSpPr txBox="true"/>
            <p:nvPr/>
          </p:nvSpPr>
          <p:spPr>
            <a:xfrm>
              <a:off x="0" y="-9525"/>
              <a:ext cx="21305520" cy="34335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31"/>
                </a:lnSpc>
              </a:pPr>
              <a:r>
                <a:rPr lang="en-US" sz="1359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Management takeaway: optimise the combination of COST + SERVICE + SELLER PERFORMANCE + ROUTE RELIABILITY — not any KPI in isolation.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450028"/>
            <a:chOff x="0" y="0"/>
            <a:chExt cx="4023360" cy="6000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600038"/>
            </a:xfrm>
            <a:custGeom>
              <a:avLst/>
              <a:gdLst/>
              <a:ahLst/>
              <a:cxnLst/>
              <a:rect r="r" b="b" t="t" l="l"/>
              <a:pathLst>
                <a:path h="600038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600038"/>
                  </a:lnTo>
                  <a:lnTo>
                    <a:pt x="0" y="6000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124" r="0" b="-64176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609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BUSINESS RECOMMENDATIONS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888940"/>
            <a:ext cx="12207240" cy="658368"/>
            <a:chOff x="0" y="0"/>
            <a:chExt cx="16276320" cy="8778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877824"/>
            </a:xfrm>
            <a:custGeom>
              <a:avLst/>
              <a:gdLst/>
              <a:ahLst/>
              <a:cxnLst/>
              <a:rect r="r" b="b" t="t" l="l"/>
              <a:pathLst>
                <a:path h="877824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285" r="0" b="-311285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87782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Recommended Actions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1547308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Translate Milestone 3 analytics into a focused operating rhythm for supplier, transport and delivery improvement.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86003" y="2130171"/>
            <a:ext cx="16697706" cy="1116330"/>
            <a:chOff x="0" y="0"/>
            <a:chExt cx="22263608" cy="1488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2263608" cy="1488440"/>
            </a:xfrm>
            <a:custGeom>
              <a:avLst/>
              <a:gdLst/>
              <a:ahLst/>
              <a:cxnLst/>
              <a:rect r="r" b="b" t="t" l="l"/>
              <a:pathLst>
                <a:path h="1488440" w="22263608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114763" y="0"/>
                  </a:lnTo>
                  <a:cubicBezTo>
                    <a:pt x="22196933" y="0"/>
                    <a:pt x="22263608" y="66675"/>
                    <a:pt x="22263608" y="148844"/>
                  </a:cubicBezTo>
                  <a:lnTo>
                    <a:pt x="22263608" y="1339596"/>
                  </a:lnTo>
                  <a:cubicBezTo>
                    <a:pt x="22263608" y="1421765"/>
                    <a:pt x="22196933" y="1488440"/>
                    <a:pt x="22114763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087755" y="2361248"/>
            <a:ext cx="595122" cy="595122"/>
            <a:chOff x="0" y="0"/>
            <a:chExt cx="793496" cy="79349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EF4444"/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7280" y="2514219"/>
            <a:ext cx="576072" cy="320802"/>
            <a:chOff x="0" y="0"/>
            <a:chExt cx="768096" cy="4277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68096" cy="427736"/>
            </a:xfrm>
            <a:custGeom>
              <a:avLst/>
              <a:gdLst/>
              <a:ahLst/>
              <a:cxnLst/>
              <a:rect r="r" b="b" t="t" l="l"/>
              <a:pathLst>
                <a:path h="42773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27736"/>
                  </a:lnTo>
                  <a:lnTo>
                    <a:pt x="0" y="427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6" r="0" b="39357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0"/>
              <a:ext cx="768096" cy="427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947672" y="2507933"/>
            <a:ext cx="3223260" cy="301752"/>
            <a:chOff x="0" y="0"/>
            <a:chExt cx="4297680" cy="40233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0"/>
              <a:ext cx="42976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Supplier governance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239512" y="2411349"/>
            <a:ext cx="10081260" cy="576072"/>
            <a:chOff x="0" y="0"/>
            <a:chExt cx="13441680" cy="76809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344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0"/>
              <a:ext cx="1344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Create monthly scorecard reviews for Watchlist and Needs Improvement sellers; track the weakest component score first.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5791307" y="2431923"/>
            <a:ext cx="1280922" cy="485394"/>
            <a:chOff x="0" y="0"/>
            <a:chExt cx="1707896" cy="64719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07896" cy="647192"/>
            </a:xfrm>
            <a:custGeom>
              <a:avLst/>
              <a:gdLst/>
              <a:ahLst/>
              <a:cxnLst/>
              <a:rect r="r" b="b" t="t" l="l"/>
              <a:pathLst>
                <a:path h="647192" w="1707896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1593723" y="0"/>
                  </a:lnTo>
                  <a:cubicBezTo>
                    <a:pt x="1656842" y="0"/>
                    <a:pt x="1707896" y="51181"/>
                    <a:pt x="1707896" y="114173"/>
                  </a:cubicBezTo>
                  <a:lnTo>
                    <a:pt x="1707896" y="533019"/>
                  </a:lnTo>
                  <a:cubicBezTo>
                    <a:pt x="1707896" y="596138"/>
                    <a:pt x="1656715" y="647192"/>
                    <a:pt x="1593723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EF4444">
                <a:alpha val="1176"/>
              </a:srgbClr>
            </a:solidFill>
            <a:ln w="19050" cap="sq">
              <a:solidFill>
                <a:srgbClr val="EF4444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5951708" y="2612898"/>
            <a:ext cx="960120" cy="150876"/>
            <a:chOff x="0" y="0"/>
            <a:chExt cx="1280160" cy="20116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280160" cy="201168"/>
            </a:xfrm>
            <a:custGeom>
              <a:avLst/>
              <a:gdLst/>
              <a:ahLst/>
              <a:cxnLst/>
              <a:rect r="r" b="b" t="t" l="l"/>
              <a:pathLst>
                <a:path h="20116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01168"/>
                  </a:lnTo>
                  <a:lnTo>
                    <a:pt x="0" y="201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9525"/>
              <a:ext cx="1280160" cy="191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EF4444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786003" y="3501771"/>
            <a:ext cx="16697706" cy="1116330"/>
            <a:chOff x="0" y="0"/>
            <a:chExt cx="22263608" cy="1488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2263608" cy="1488440"/>
            </a:xfrm>
            <a:custGeom>
              <a:avLst/>
              <a:gdLst/>
              <a:ahLst/>
              <a:cxnLst/>
              <a:rect r="r" b="b" t="t" l="l"/>
              <a:pathLst>
                <a:path h="1488440" w="22263608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114763" y="0"/>
                  </a:lnTo>
                  <a:cubicBezTo>
                    <a:pt x="22196933" y="0"/>
                    <a:pt x="22263608" y="66675"/>
                    <a:pt x="22263608" y="148844"/>
                  </a:cubicBezTo>
                  <a:lnTo>
                    <a:pt x="22263608" y="1339596"/>
                  </a:lnTo>
                  <a:cubicBezTo>
                    <a:pt x="22263608" y="1421765"/>
                    <a:pt x="22196933" y="1488440"/>
                    <a:pt x="22114763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BFD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39" id="39"/>
          <p:cNvGrpSpPr/>
          <p:nvPr/>
        </p:nvGrpSpPr>
        <p:grpSpPr>
          <a:xfrm rot="0">
            <a:off x="1087755" y="3732847"/>
            <a:ext cx="595122" cy="595122"/>
            <a:chOff x="0" y="0"/>
            <a:chExt cx="793496" cy="79349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F59E0B"/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097280" y="3870008"/>
            <a:ext cx="576072" cy="320802"/>
            <a:chOff x="0" y="0"/>
            <a:chExt cx="768096" cy="427736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68096" cy="427736"/>
            </a:xfrm>
            <a:custGeom>
              <a:avLst/>
              <a:gdLst/>
              <a:ahLst/>
              <a:cxnLst/>
              <a:rect r="r" b="b" t="t" l="l"/>
              <a:pathLst>
                <a:path h="427736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427736"/>
                  </a:lnTo>
                  <a:lnTo>
                    <a:pt x="0" y="4277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336" r="0" b="39357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0"/>
              <a:ext cx="768096" cy="427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947672" y="3879533"/>
            <a:ext cx="3223260" cy="301752"/>
            <a:chOff x="0" y="0"/>
            <a:chExt cx="4297680" cy="402336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0"/>
              <a:ext cx="42976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Route exception monitoring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5239512" y="3773424"/>
            <a:ext cx="10081260" cy="576072"/>
            <a:chOff x="0" y="0"/>
            <a:chExt cx="13441680" cy="768096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4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0"/>
              <a:ext cx="1344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Flag carrier-stage transit above route/distance benchmarks and prioritise &gt;60-day exceptions for root-cause investigation.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5791307" y="3803523"/>
            <a:ext cx="1280922" cy="485394"/>
            <a:chOff x="0" y="0"/>
            <a:chExt cx="1707896" cy="64719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707896" cy="647192"/>
            </a:xfrm>
            <a:custGeom>
              <a:avLst/>
              <a:gdLst/>
              <a:ahLst/>
              <a:cxnLst/>
              <a:rect r="r" b="b" t="t" l="l"/>
              <a:pathLst>
                <a:path h="647192" w="1707896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1593723" y="0"/>
                  </a:lnTo>
                  <a:cubicBezTo>
                    <a:pt x="1656842" y="0"/>
                    <a:pt x="1707896" y="51181"/>
                    <a:pt x="1707896" y="114173"/>
                  </a:cubicBezTo>
                  <a:lnTo>
                    <a:pt x="1707896" y="533019"/>
                  </a:lnTo>
                  <a:cubicBezTo>
                    <a:pt x="1707896" y="596138"/>
                    <a:pt x="1656715" y="647192"/>
                    <a:pt x="1593723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F59E0B">
                <a:alpha val="1176"/>
              </a:srgbClr>
            </a:solidFill>
            <a:ln w="19050" cap="sq">
              <a:solidFill>
                <a:srgbClr val="F59E0B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5951708" y="3984498"/>
            <a:ext cx="960120" cy="150876"/>
            <a:chOff x="0" y="0"/>
            <a:chExt cx="1280160" cy="201168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1280160" cy="201168"/>
            </a:xfrm>
            <a:custGeom>
              <a:avLst/>
              <a:gdLst/>
              <a:ahLst/>
              <a:cxnLst/>
              <a:rect r="r" b="b" t="t" l="l"/>
              <a:pathLst>
                <a:path h="20116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01168"/>
                  </a:lnTo>
                  <a:lnTo>
                    <a:pt x="0" y="201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9525"/>
              <a:ext cx="1280160" cy="191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F59E0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786003" y="4873371"/>
            <a:ext cx="16697706" cy="1116330"/>
            <a:chOff x="0" y="0"/>
            <a:chExt cx="22263608" cy="1488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2263608" cy="1488440"/>
            </a:xfrm>
            <a:custGeom>
              <a:avLst/>
              <a:gdLst/>
              <a:ahLst/>
              <a:cxnLst/>
              <a:rect r="r" b="b" t="t" l="l"/>
              <a:pathLst>
                <a:path h="1488440" w="22263608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114763" y="0"/>
                  </a:lnTo>
                  <a:cubicBezTo>
                    <a:pt x="22196933" y="0"/>
                    <a:pt x="22263608" y="66675"/>
                    <a:pt x="22263608" y="148844"/>
                  </a:cubicBezTo>
                  <a:lnTo>
                    <a:pt x="22263608" y="1339596"/>
                  </a:lnTo>
                  <a:cubicBezTo>
                    <a:pt x="22263608" y="1421765"/>
                    <a:pt x="22196933" y="1488440"/>
                    <a:pt x="22114763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087755" y="5104447"/>
            <a:ext cx="595122" cy="595122"/>
            <a:chOff x="0" y="0"/>
            <a:chExt cx="793496" cy="793496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2563EB"/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59" id="59"/>
          <p:cNvGrpSpPr/>
          <p:nvPr/>
        </p:nvGrpSpPr>
        <p:grpSpPr>
          <a:xfrm rot="0">
            <a:off x="1097280" y="5196268"/>
            <a:ext cx="576072" cy="411480"/>
            <a:chOff x="0" y="0"/>
            <a:chExt cx="768096" cy="5486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68096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9" r="0" b="5272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0"/>
              <a:ext cx="768096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947672" y="5251132"/>
            <a:ext cx="3223260" cy="301752"/>
            <a:chOff x="0" y="0"/>
            <a:chExt cx="4297680" cy="40233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42976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Freight optimisation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5239512" y="5143500"/>
            <a:ext cx="9909809" cy="576072"/>
            <a:chOff x="0" y="0"/>
            <a:chExt cx="13213079" cy="76809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3213079" cy="768096"/>
            </a:xfrm>
            <a:custGeom>
              <a:avLst/>
              <a:gdLst/>
              <a:ahLst/>
              <a:cxnLst/>
              <a:rect r="r" b="b" t="t" l="l"/>
              <a:pathLst>
                <a:path h="768096" w="13213079">
                  <a:moveTo>
                    <a:pt x="0" y="0"/>
                  </a:moveTo>
                  <a:lnTo>
                    <a:pt x="13213079" y="0"/>
                  </a:lnTo>
                  <a:lnTo>
                    <a:pt x="13213079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-1730" b="-29098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3213079" cy="79667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13"/>
                </a:lnSpc>
              </a:pPr>
              <a:r>
                <a:rPr lang="en-US" sz="150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Investigate high freight-per-distance lanes and categories where additional spend does not translate into better delivery outcomes.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5791307" y="5175123"/>
            <a:ext cx="1280922" cy="485394"/>
            <a:chOff x="0" y="0"/>
            <a:chExt cx="1707896" cy="64719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707896" cy="647192"/>
            </a:xfrm>
            <a:custGeom>
              <a:avLst/>
              <a:gdLst/>
              <a:ahLst/>
              <a:cxnLst/>
              <a:rect r="r" b="b" t="t" l="l"/>
              <a:pathLst>
                <a:path h="647192" w="1707896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1593723" y="0"/>
                  </a:lnTo>
                  <a:cubicBezTo>
                    <a:pt x="1656842" y="0"/>
                    <a:pt x="1707896" y="51181"/>
                    <a:pt x="1707896" y="114173"/>
                  </a:cubicBezTo>
                  <a:lnTo>
                    <a:pt x="1707896" y="533019"/>
                  </a:lnTo>
                  <a:cubicBezTo>
                    <a:pt x="1707896" y="596138"/>
                    <a:pt x="1656715" y="647192"/>
                    <a:pt x="1593723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2563EB">
                <a:alpha val="1176"/>
              </a:srgbClr>
            </a:solidFill>
            <a:ln w="19050" cap="sq">
              <a:solidFill>
                <a:srgbClr val="2563EB"/>
              </a:solidFill>
              <a:prstDash val="solid"/>
              <a:miter/>
            </a:ln>
          </p:spPr>
        </p:sp>
      </p:grpSp>
      <p:grpSp>
        <p:nvGrpSpPr>
          <p:cNvPr name="Group 70" id="70"/>
          <p:cNvGrpSpPr/>
          <p:nvPr/>
        </p:nvGrpSpPr>
        <p:grpSpPr>
          <a:xfrm rot="0">
            <a:off x="15951708" y="5342382"/>
            <a:ext cx="960120" cy="150876"/>
            <a:chOff x="0" y="0"/>
            <a:chExt cx="1280160" cy="201168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1280160" cy="201168"/>
            </a:xfrm>
            <a:custGeom>
              <a:avLst/>
              <a:gdLst/>
              <a:ahLst/>
              <a:cxnLst/>
              <a:rect r="r" b="b" t="t" l="l"/>
              <a:pathLst>
                <a:path h="20116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01168"/>
                  </a:lnTo>
                  <a:lnTo>
                    <a:pt x="0" y="201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9525"/>
              <a:ext cx="1280160" cy="191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786003" y="6244971"/>
            <a:ext cx="16697706" cy="1116330"/>
            <a:chOff x="0" y="0"/>
            <a:chExt cx="22263608" cy="1488440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0" y="0"/>
              <a:ext cx="22263608" cy="1488440"/>
            </a:xfrm>
            <a:custGeom>
              <a:avLst/>
              <a:gdLst/>
              <a:ahLst/>
              <a:cxnLst/>
              <a:rect r="r" b="b" t="t" l="l"/>
              <a:pathLst>
                <a:path h="1488440" w="22263608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114763" y="0"/>
                  </a:lnTo>
                  <a:cubicBezTo>
                    <a:pt x="22196933" y="0"/>
                    <a:pt x="22263608" y="66675"/>
                    <a:pt x="22263608" y="148844"/>
                  </a:cubicBezTo>
                  <a:lnTo>
                    <a:pt x="22263608" y="1339596"/>
                  </a:lnTo>
                  <a:cubicBezTo>
                    <a:pt x="22263608" y="1421765"/>
                    <a:pt x="22196933" y="1488440"/>
                    <a:pt x="22114763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BFD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75" id="75"/>
          <p:cNvGrpSpPr/>
          <p:nvPr/>
        </p:nvGrpSpPr>
        <p:grpSpPr>
          <a:xfrm rot="0">
            <a:off x="1087755" y="6476047"/>
            <a:ext cx="595122" cy="595122"/>
            <a:chOff x="0" y="0"/>
            <a:chExt cx="793496" cy="793496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77" id="77"/>
          <p:cNvGrpSpPr/>
          <p:nvPr/>
        </p:nvGrpSpPr>
        <p:grpSpPr>
          <a:xfrm rot="0">
            <a:off x="1097280" y="6567868"/>
            <a:ext cx="576072" cy="411480"/>
            <a:chOff x="0" y="0"/>
            <a:chExt cx="768096" cy="5486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68096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9" r="0" b="52720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0"/>
              <a:ext cx="768096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947672" y="6460236"/>
            <a:ext cx="3223260" cy="626745"/>
            <a:chOff x="0" y="0"/>
            <a:chExt cx="4297680" cy="8356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4297680" cy="835660"/>
            </a:xfrm>
            <a:custGeom>
              <a:avLst/>
              <a:gdLst/>
              <a:ahLst/>
              <a:cxnLst/>
              <a:rect r="r" b="b" t="t" l="l"/>
              <a:pathLst>
                <a:path h="835660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835660"/>
                  </a:lnTo>
                  <a:lnTo>
                    <a:pt x="0" y="8356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6135" r="0" b="-24281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0"/>
              <a:ext cx="4297680" cy="8356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Service benchmark by distance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5239512" y="6510909"/>
            <a:ext cx="10081260" cy="576072"/>
            <a:chOff x="0" y="0"/>
            <a:chExt cx="13441680" cy="768096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44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0"/>
              <a:ext cx="1344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Set expected transit ranges by distance band instead of applying a single network-wide target.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5791307" y="6546723"/>
            <a:ext cx="1280922" cy="485394"/>
            <a:chOff x="0" y="0"/>
            <a:chExt cx="1707896" cy="64719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1707896" cy="647192"/>
            </a:xfrm>
            <a:custGeom>
              <a:avLst/>
              <a:gdLst/>
              <a:ahLst/>
              <a:cxnLst/>
              <a:rect r="r" b="b" t="t" l="l"/>
              <a:pathLst>
                <a:path h="647192" w="1707896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1593723" y="0"/>
                  </a:lnTo>
                  <a:cubicBezTo>
                    <a:pt x="1656842" y="0"/>
                    <a:pt x="1707896" y="51181"/>
                    <a:pt x="1707896" y="114173"/>
                  </a:cubicBezTo>
                  <a:lnTo>
                    <a:pt x="1707896" y="533019"/>
                  </a:lnTo>
                  <a:cubicBezTo>
                    <a:pt x="1707896" y="596138"/>
                    <a:pt x="1656715" y="647192"/>
                    <a:pt x="1593723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88" id="88"/>
          <p:cNvGrpSpPr/>
          <p:nvPr/>
        </p:nvGrpSpPr>
        <p:grpSpPr>
          <a:xfrm rot="0">
            <a:off x="15951708" y="6723507"/>
            <a:ext cx="960120" cy="150876"/>
            <a:chOff x="0" y="0"/>
            <a:chExt cx="1280160" cy="201168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1280160" cy="201168"/>
            </a:xfrm>
            <a:custGeom>
              <a:avLst/>
              <a:gdLst/>
              <a:ahLst/>
              <a:cxnLst/>
              <a:rect r="r" b="b" t="t" l="l"/>
              <a:pathLst>
                <a:path h="20116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01168"/>
                  </a:lnTo>
                  <a:lnTo>
                    <a:pt x="0" y="201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9525"/>
              <a:ext cx="1280160" cy="191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MEDIUM</a:t>
              </a:r>
            </a:p>
          </p:txBody>
        </p:sp>
      </p:grpSp>
      <p:grpSp>
        <p:nvGrpSpPr>
          <p:cNvPr name="Group 91" id="91"/>
          <p:cNvGrpSpPr/>
          <p:nvPr/>
        </p:nvGrpSpPr>
        <p:grpSpPr>
          <a:xfrm rot="0">
            <a:off x="786003" y="7616571"/>
            <a:ext cx="16697706" cy="1116330"/>
            <a:chOff x="0" y="0"/>
            <a:chExt cx="22263608" cy="148844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22263608" cy="1488440"/>
            </a:xfrm>
            <a:custGeom>
              <a:avLst/>
              <a:gdLst/>
              <a:ahLst/>
              <a:cxnLst/>
              <a:rect r="r" b="b" t="t" l="l"/>
              <a:pathLst>
                <a:path h="1488440" w="22263608">
                  <a:moveTo>
                    <a:pt x="0" y="148844"/>
                  </a:moveTo>
                  <a:cubicBezTo>
                    <a:pt x="0" y="66675"/>
                    <a:pt x="66675" y="0"/>
                    <a:pt x="148844" y="0"/>
                  </a:cubicBezTo>
                  <a:lnTo>
                    <a:pt x="22114763" y="0"/>
                  </a:lnTo>
                  <a:cubicBezTo>
                    <a:pt x="22196933" y="0"/>
                    <a:pt x="22263608" y="66675"/>
                    <a:pt x="22263608" y="148844"/>
                  </a:cubicBezTo>
                  <a:lnTo>
                    <a:pt x="22263608" y="1339596"/>
                  </a:lnTo>
                  <a:cubicBezTo>
                    <a:pt x="22263608" y="1421765"/>
                    <a:pt x="22196933" y="1488440"/>
                    <a:pt x="22114763" y="1488440"/>
                  </a:cubicBezTo>
                  <a:lnTo>
                    <a:pt x="148844" y="1488440"/>
                  </a:lnTo>
                  <a:cubicBezTo>
                    <a:pt x="66675" y="1488440"/>
                    <a:pt x="0" y="1421765"/>
                    <a:pt x="0" y="1339596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93" id="93"/>
          <p:cNvGrpSpPr/>
          <p:nvPr/>
        </p:nvGrpSpPr>
        <p:grpSpPr>
          <a:xfrm rot="0">
            <a:off x="1087755" y="7847647"/>
            <a:ext cx="595122" cy="595122"/>
            <a:chOff x="0" y="0"/>
            <a:chExt cx="793496" cy="793496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0" y="0"/>
              <a:ext cx="793496" cy="793496"/>
            </a:xfrm>
            <a:custGeom>
              <a:avLst/>
              <a:gdLst/>
              <a:ahLst/>
              <a:cxnLst/>
              <a:rect r="r" b="b" t="t" l="l"/>
              <a:pathLst>
                <a:path h="793496" w="793496">
                  <a:moveTo>
                    <a:pt x="0" y="396748"/>
                  </a:moveTo>
                  <a:cubicBezTo>
                    <a:pt x="0" y="177673"/>
                    <a:pt x="177673" y="0"/>
                    <a:pt x="396748" y="0"/>
                  </a:cubicBezTo>
                  <a:cubicBezTo>
                    <a:pt x="615823" y="0"/>
                    <a:pt x="793496" y="177673"/>
                    <a:pt x="793496" y="396748"/>
                  </a:cubicBezTo>
                  <a:cubicBezTo>
                    <a:pt x="793496" y="615823"/>
                    <a:pt x="615823" y="793496"/>
                    <a:pt x="396748" y="793496"/>
                  </a:cubicBezTo>
                  <a:cubicBezTo>
                    <a:pt x="177673" y="793496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7C3AED"/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95" id="95"/>
          <p:cNvGrpSpPr/>
          <p:nvPr/>
        </p:nvGrpSpPr>
        <p:grpSpPr>
          <a:xfrm rot="0">
            <a:off x="1097280" y="7939468"/>
            <a:ext cx="576072" cy="411480"/>
            <a:chOff x="0" y="0"/>
            <a:chExt cx="768096" cy="548640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68096" cy="548640"/>
            </a:xfrm>
            <a:custGeom>
              <a:avLst/>
              <a:gdLst/>
              <a:ahLst/>
              <a:cxnLst/>
              <a:rect r="r" b="b" t="t" l="l"/>
              <a:pathLst>
                <a:path h="548640" w="768096">
                  <a:moveTo>
                    <a:pt x="0" y="0"/>
                  </a:moveTo>
                  <a:lnTo>
                    <a:pt x="768096" y="0"/>
                  </a:lnTo>
                  <a:lnTo>
                    <a:pt x="768096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79" r="0" b="52720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0"/>
              <a:ext cx="768096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4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947672" y="7994332"/>
            <a:ext cx="3223260" cy="301752"/>
            <a:chOff x="0" y="0"/>
            <a:chExt cx="4297680" cy="402336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297680" cy="402336"/>
            </a:xfrm>
            <a:custGeom>
              <a:avLst/>
              <a:gdLst/>
              <a:ahLst/>
              <a:cxnLst/>
              <a:rect r="r" b="b" t="t" l="l"/>
              <a:pathLst>
                <a:path h="402336" w="4297680">
                  <a:moveTo>
                    <a:pt x="0" y="0"/>
                  </a:moveTo>
                  <a:lnTo>
                    <a:pt x="4297680" y="0"/>
                  </a:lnTo>
                  <a:lnTo>
                    <a:pt x="42976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8135" r="0" b="-15813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0"/>
              <a:ext cx="4297680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KPI operating cadence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5239512" y="7914132"/>
            <a:ext cx="10081260" cy="576072"/>
            <a:chOff x="0" y="0"/>
            <a:chExt cx="13441680" cy="768096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3441680" cy="768096"/>
            </a:xfrm>
            <a:custGeom>
              <a:avLst/>
              <a:gdLst/>
              <a:ahLst/>
              <a:cxnLst/>
              <a:rect r="r" b="b" t="t" l="l"/>
              <a:pathLst>
                <a:path h="768096" w="13441680">
                  <a:moveTo>
                    <a:pt x="0" y="0"/>
                  </a:moveTo>
                  <a:lnTo>
                    <a:pt x="13441680" y="0"/>
                  </a:lnTo>
                  <a:lnTo>
                    <a:pt x="13441680" y="768096"/>
                  </a:lnTo>
                  <a:lnTo>
                    <a:pt x="0" y="7680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0"/>
              <a:ext cx="13441680" cy="7680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11"/>
                </a:lnSpc>
              </a:pPr>
              <a:r>
                <a:rPr lang="en-US" sz="1509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Use the Advanced KPI view as a monthly management scorecard linking volume, freight, delivery, reviews and geography.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5791307" y="7918323"/>
            <a:ext cx="1280922" cy="485394"/>
            <a:chOff x="0" y="0"/>
            <a:chExt cx="1707896" cy="6471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707896" cy="647192"/>
            </a:xfrm>
            <a:custGeom>
              <a:avLst/>
              <a:gdLst/>
              <a:ahLst/>
              <a:cxnLst/>
              <a:rect r="r" b="b" t="t" l="l"/>
              <a:pathLst>
                <a:path h="647192" w="1707896">
                  <a:moveTo>
                    <a:pt x="0" y="114173"/>
                  </a:moveTo>
                  <a:cubicBezTo>
                    <a:pt x="0" y="51181"/>
                    <a:pt x="51181" y="0"/>
                    <a:pt x="114173" y="0"/>
                  </a:cubicBezTo>
                  <a:lnTo>
                    <a:pt x="1593723" y="0"/>
                  </a:lnTo>
                  <a:cubicBezTo>
                    <a:pt x="1656842" y="0"/>
                    <a:pt x="1707896" y="51181"/>
                    <a:pt x="1707896" y="114173"/>
                  </a:cubicBezTo>
                  <a:lnTo>
                    <a:pt x="1707896" y="533019"/>
                  </a:lnTo>
                  <a:cubicBezTo>
                    <a:pt x="1707896" y="596138"/>
                    <a:pt x="1656715" y="647192"/>
                    <a:pt x="1593723" y="647192"/>
                  </a:cubicBezTo>
                  <a:lnTo>
                    <a:pt x="114173" y="647192"/>
                  </a:lnTo>
                  <a:cubicBezTo>
                    <a:pt x="51181" y="647192"/>
                    <a:pt x="0" y="596011"/>
                    <a:pt x="0" y="533019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  <a:ln w="19050" cap="sq">
              <a:solidFill>
                <a:srgbClr val="7C3AED"/>
              </a:solidFill>
              <a:prstDash val="solid"/>
              <a:miter/>
            </a:ln>
          </p:spPr>
        </p:sp>
      </p:grpSp>
      <p:grpSp>
        <p:nvGrpSpPr>
          <p:cNvPr name="Group 106" id="106"/>
          <p:cNvGrpSpPr/>
          <p:nvPr/>
        </p:nvGrpSpPr>
        <p:grpSpPr>
          <a:xfrm rot="0">
            <a:off x="15951708" y="8085201"/>
            <a:ext cx="960120" cy="150876"/>
            <a:chOff x="0" y="0"/>
            <a:chExt cx="1280160" cy="201168"/>
          </a:xfrm>
        </p:grpSpPr>
        <p:sp>
          <p:nvSpPr>
            <p:cNvPr name="Freeform 107" id="107"/>
            <p:cNvSpPr/>
            <p:nvPr/>
          </p:nvSpPr>
          <p:spPr>
            <a:xfrm flipH="false" flipV="false" rot="0">
              <a:off x="0" y="0"/>
              <a:ext cx="1280160" cy="201168"/>
            </a:xfrm>
            <a:custGeom>
              <a:avLst/>
              <a:gdLst/>
              <a:ahLst/>
              <a:cxnLst/>
              <a:rect r="r" b="b" t="t" l="l"/>
              <a:pathLst>
                <a:path h="201168" w="1280160">
                  <a:moveTo>
                    <a:pt x="0" y="0"/>
                  </a:moveTo>
                  <a:lnTo>
                    <a:pt x="1280160" y="0"/>
                  </a:lnTo>
                  <a:lnTo>
                    <a:pt x="1280160" y="201168"/>
                  </a:lnTo>
                  <a:lnTo>
                    <a:pt x="0" y="2011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3995" r="0" b="-73995"/>
              </a:stretch>
            </a:blipFill>
          </p:spPr>
        </p:sp>
        <p:sp>
          <p:nvSpPr>
            <p:cNvPr name="TextBox 108" id="108"/>
            <p:cNvSpPr txBox="true"/>
            <p:nvPr/>
          </p:nvSpPr>
          <p:spPr>
            <a:xfrm>
              <a:off x="0" y="9525"/>
              <a:ext cx="1280160" cy="19164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296"/>
                </a:lnSpc>
              </a:pPr>
              <a:r>
                <a:rPr lang="en-US" sz="108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MEDIUM</a:t>
              </a:r>
            </a:p>
          </p:txBody>
        </p:sp>
      </p:grpSp>
      <p:grpSp>
        <p:nvGrpSpPr>
          <p:cNvPr name="Group 109" id="109"/>
          <p:cNvGrpSpPr/>
          <p:nvPr/>
        </p:nvGrpSpPr>
        <p:grpSpPr>
          <a:xfrm rot="0">
            <a:off x="795528" y="9105328"/>
            <a:ext cx="14813280" cy="329184"/>
            <a:chOff x="0" y="0"/>
            <a:chExt cx="19751040" cy="438912"/>
          </a:xfrm>
        </p:grpSpPr>
        <p:sp>
          <p:nvSpPr>
            <p:cNvPr name="Freeform 110" id="110"/>
            <p:cNvSpPr/>
            <p:nvPr/>
          </p:nvSpPr>
          <p:spPr>
            <a:xfrm flipH="false" flipV="false" rot="0">
              <a:off x="0" y="0"/>
              <a:ext cx="19751039" cy="438912"/>
            </a:xfrm>
            <a:custGeom>
              <a:avLst/>
              <a:gdLst/>
              <a:ahLst/>
              <a:cxnLst/>
              <a:rect r="r" b="b" t="t" l="l"/>
              <a:pathLst>
                <a:path h="438912" w="19751039">
                  <a:moveTo>
                    <a:pt x="0" y="0"/>
                  </a:moveTo>
                  <a:lnTo>
                    <a:pt x="19751039" y="0"/>
                  </a:lnTo>
                  <a:lnTo>
                    <a:pt x="19751039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6826" r="0" b="-826826"/>
              </a:stretch>
            </a:blipFill>
          </p:spPr>
        </p:sp>
        <p:sp>
          <p:nvSpPr>
            <p:cNvPr name="TextBox 111" id="111"/>
            <p:cNvSpPr txBox="true"/>
            <p:nvPr/>
          </p:nvSpPr>
          <p:spPr>
            <a:xfrm>
              <a:off x="0" y="0"/>
              <a:ext cx="19751040" cy="4389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764"/>
                </a:lnSpc>
              </a:pPr>
              <a:r>
                <a:rPr lang="en-US" sz="147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Suggested cadence:  Weekly exceptions  •  Monthly seller/route review  •  Quarterly freight optimisation deep dive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525" y="-9525"/>
            <a:ext cx="18306593" cy="101346"/>
            <a:chOff x="0" y="0"/>
            <a:chExt cx="24408790" cy="1351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8764" cy="135128"/>
            </a:xfrm>
            <a:custGeom>
              <a:avLst/>
              <a:gdLst/>
              <a:ahLst/>
              <a:cxnLst/>
              <a:rect r="r" b="b" t="t" l="l"/>
              <a:pathLst>
                <a:path h="135128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5128"/>
                  </a:lnTo>
                  <a:lnTo>
                    <a:pt x="0" y="135128"/>
                  </a:ln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754380" y="9711690"/>
            <a:ext cx="5760720" cy="219456"/>
            <a:chOff x="0" y="0"/>
            <a:chExt cx="7680960" cy="29260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680960" cy="292608"/>
            </a:xfrm>
            <a:custGeom>
              <a:avLst/>
              <a:gdLst/>
              <a:ahLst/>
              <a:cxnLst/>
              <a:rect r="r" b="b" t="t" l="l"/>
              <a:pathLst>
                <a:path h="292608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1482" r="0" b="-461482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0"/>
              <a:ext cx="768096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350"/>
                </a:lnSpc>
              </a:pPr>
              <a:r>
                <a:rPr lang="en-US" sz="1125" b="true">
                  <a:solidFill>
                    <a:srgbClr val="6474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SUPPLY CHAIN VISIBILITY &amp; OPTIMISATION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4538960" y="9711690"/>
            <a:ext cx="2948940" cy="219456"/>
            <a:chOff x="0" y="0"/>
            <a:chExt cx="3931920" cy="2926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31920" cy="292608"/>
            </a:xfrm>
            <a:custGeom>
              <a:avLst/>
              <a:gdLst/>
              <a:ahLst/>
              <a:cxnLst/>
              <a:rect r="r" b="b" t="t" l="l"/>
              <a:pathLst>
                <a:path h="292608" w="3931920">
                  <a:moveTo>
                    <a:pt x="0" y="0"/>
                  </a:moveTo>
                  <a:lnTo>
                    <a:pt x="3931920" y="0"/>
                  </a:lnTo>
                  <a:lnTo>
                    <a:pt x="3931920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11830" r="0" b="-21183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0"/>
              <a:ext cx="3931920" cy="29260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350"/>
                </a:lnSpc>
              </a:pPr>
              <a:r>
                <a:rPr lang="en-US" sz="1125">
                  <a:solidFill>
                    <a:srgbClr val="94A3B8"/>
                  </a:solidFill>
                  <a:latin typeface="Aptos"/>
                  <a:ea typeface="Aptos"/>
                  <a:cs typeface="Aptos"/>
                  <a:sym typeface="Aptos"/>
                </a:rPr>
                <a:t>MILESTONE 3 • TEAM 4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95528" y="438912"/>
            <a:ext cx="3017520" cy="301752"/>
            <a:chOff x="0" y="0"/>
            <a:chExt cx="4023360" cy="4023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3360" cy="402336"/>
            </a:xfrm>
            <a:custGeom>
              <a:avLst/>
              <a:gdLst/>
              <a:ahLst/>
              <a:cxnLst/>
              <a:rect r="r" b="b" t="t" l="l"/>
              <a:pathLst>
                <a:path h="402336" w="4023360">
                  <a:moveTo>
                    <a:pt x="0" y="0"/>
                  </a:moveTo>
                  <a:lnTo>
                    <a:pt x="4023360" y="0"/>
                  </a:lnTo>
                  <a:lnTo>
                    <a:pt x="40233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4023360" cy="4118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620"/>
                </a:lnSpc>
              </a:pPr>
              <a:r>
                <a:rPr lang="en-US" b="true" sz="1350" spc="194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ACHIEVEMENT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5528" y="795528"/>
            <a:ext cx="12207240" cy="1300734"/>
            <a:chOff x="0" y="0"/>
            <a:chExt cx="16276320" cy="173431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276320" cy="1734312"/>
            </a:xfrm>
            <a:custGeom>
              <a:avLst/>
              <a:gdLst/>
              <a:ahLst/>
              <a:cxnLst/>
              <a:rect r="r" b="b" t="t" l="l"/>
              <a:pathLst>
                <a:path h="1734312" w="16276320">
                  <a:moveTo>
                    <a:pt x="0" y="0"/>
                  </a:moveTo>
                  <a:lnTo>
                    <a:pt x="16276320" y="0"/>
                  </a:lnTo>
                  <a:lnTo>
                    <a:pt x="16276320" y="1734312"/>
                  </a:lnTo>
                  <a:lnTo>
                    <a:pt x="0" y="17343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7557" r="0" b="-108172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6276320" cy="17343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00"/>
                </a:lnSpc>
              </a:pPr>
              <a:r>
                <a:rPr lang="en-US" sz="375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3 Outcome — From Visibility to Performance Management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795528" y="2025396"/>
            <a:ext cx="14676120" cy="411480"/>
            <a:chOff x="0" y="0"/>
            <a:chExt cx="19568160" cy="54864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9568161" cy="548640"/>
            </a:xfrm>
            <a:custGeom>
              <a:avLst/>
              <a:gdLst/>
              <a:ahLst/>
              <a:cxnLst/>
              <a:rect r="r" b="b" t="t" l="l"/>
              <a:pathLst>
                <a:path h="548640" w="19568161">
                  <a:moveTo>
                    <a:pt x="0" y="0"/>
                  </a:moveTo>
                  <a:lnTo>
                    <a:pt x="19568161" y="0"/>
                  </a:lnTo>
                  <a:lnTo>
                    <a:pt x="19568161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44966" r="0" b="-644966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19568160" cy="5486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The project now connects clean data, reliable measures and operational dashboards into a coherent decision-support story.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37710" y="2496312"/>
            <a:ext cx="6850190" cy="6239021"/>
            <a:chOff x="0" y="0"/>
            <a:chExt cx="9838944" cy="8961120"/>
          </a:xfrm>
        </p:grpSpPr>
        <p:sp>
          <p:nvSpPr>
            <p:cNvPr name="Freeform 20" id="20" descr="/mnt/data/wide_clean_corporate_logistics_data_visualization_batch_3.png"/>
            <p:cNvSpPr/>
            <p:nvPr/>
          </p:nvSpPr>
          <p:spPr>
            <a:xfrm flipH="false" flipV="false" rot="0">
              <a:off x="0" y="0"/>
              <a:ext cx="9838944" cy="8961120"/>
            </a:xfrm>
            <a:custGeom>
              <a:avLst/>
              <a:gdLst/>
              <a:ahLst/>
              <a:cxnLst/>
              <a:rect r="r" b="b" t="t" l="l"/>
              <a:pathLst>
                <a:path h="8961120" w="9838944">
                  <a:moveTo>
                    <a:pt x="0" y="0"/>
                  </a:moveTo>
                  <a:lnTo>
                    <a:pt x="9838944" y="0"/>
                  </a:lnTo>
                  <a:lnTo>
                    <a:pt x="9838944" y="8961120"/>
                  </a:lnTo>
                  <a:lnTo>
                    <a:pt x="0" y="8961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04429" t="-13238" r="0" b="-13084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840867" y="3152496"/>
            <a:ext cx="1985433" cy="651597"/>
            <a:chOff x="0" y="0"/>
            <a:chExt cx="2647244" cy="8687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647244" cy="868797"/>
            </a:xfrm>
            <a:custGeom>
              <a:avLst/>
              <a:gdLst/>
              <a:ahLst/>
              <a:cxnLst/>
              <a:rect r="r" b="b" t="t" l="l"/>
              <a:pathLst>
                <a:path h="868797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08" r="-3624" b="-9937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0"/>
              <a:ext cx="2647244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119,143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840867" y="3889775"/>
            <a:ext cx="1985433" cy="301752"/>
            <a:chOff x="0" y="0"/>
            <a:chExt cx="2647244" cy="40233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47244" cy="402336"/>
            </a:xfrm>
            <a:custGeom>
              <a:avLst/>
              <a:gdLst/>
              <a:ahLst/>
              <a:cxnLst/>
              <a:rect r="r" b="b" t="t" l="l"/>
              <a:pathLst>
                <a:path h="402336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-3624" b="-82852"/>
              </a:stretch>
            </a:blip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26472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5"/>
                </a:lnSpc>
              </a:pPr>
              <a:r>
                <a:rPr lang="en-US" sz="130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Raw rows</a:t>
              </a:r>
            </a:p>
          </p:txBody>
        </p:sp>
      </p:grpSp>
      <p:sp>
        <p:nvSpPr>
          <p:cNvPr name="AutoShape 27" id="27"/>
          <p:cNvSpPr/>
          <p:nvPr/>
        </p:nvSpPr>
        <p:spPr>
          <a:xfrm>
            <a:off x="2838216" y="3478295"/>
            <a:ext cx="267357" cy="0"/>
          </a:xfrm>
          <a:prstGeom prst="line">
            <a:avLst/>
          </a:prstGeom>
          <a:ln cap="rnd" w="19050">
            <a:solidFill>
              <a:srgbClr val="B6C8D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3157206" y="3152496"/>
            <a:ext cx="1985433" cy="651597"/>
            <a:chOff x="0" y="0"/>
            <a:chExt cx="2647244" cy="86879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47244" cy="868797"/>
            </a:xfrm>
            <a:custGeom>
              <a:avLst/>
              <a:gdLst/>
              <a:ahLst/>
              <a:cxnLst/>
              <a:rect r="r" b="b" t="t" l="l"/>
              <a:pathLst>
                <a:path h="868797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08" r="-3624" b="-9937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2647244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66,039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3157206" y="3889775"/>
            <a:ext cx="1985433" cy="301752"/>
            <a:chOff x="0" y="0"/>
            <a:chExt cx="2647244" cy="40233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647244" cy="402336"/>
            </a:xfrm>
            <a:custGeom>
              <a:avLst/>
              <a:gdLst/>
              <a:ahLst/>
              <a:cxnLst/>
              <a:rect r="r" b="b" t="t" l="l"/>
              <a:pathLst>
                <a:path h="402336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-3624" b="-82852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0"/>
              <a:ext cx="26472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5"/>
                </a:lnSpc>
              </a:pPr>
              <a:r>
                <a:rPr lang="en-US" sz="130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Cleaned rows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>
            <a:off x="5154554" y="3478295"/>
            <a:ext cx="267357" cy="0"/>
          </a:xfrm>
          <a:prstGeom prst="line">
            <a:avLst/>
          </a:prstGeom>
          <a:ln cap="rnd" w="19050">
            <a:solidFill>
              <a:srgbClr val="B6C8D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35" id="35"/>
          <p:cNvGrpSpPr/>
          <p:nvPr/>
        </p:nvGrpSpPr>
        <p:grpSpPr>
          <a:xfrm rot="0">
            <a:off x="5473545" y="3152496"/>
            <a:ext cx="1985433" cy="651597"/>
            <a:chOff x="0" y="0"/>
            <a:chExt cx="2647244" cy="86879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647244" cy="868797"/>
            </a:xfrm>
            <a:custGeom>
              <a:avLst/>
              <a:gdLst/>
              <a:ahLst/>
              <a:cxnLst/>
              <a:rect r="r" b="b" t="t" l="l"/>
              <a:pathLst>
                <a:path h="868797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08" r="-3624" b="-9937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2647244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7C3AE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5473545" y="3889775"/>
            <a:ext cx="1985433" cy="301752"/>
            <a:chOff x="0" y="0"/>
            <a:chExt cx="2647244" cy="4023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47244" cy="402336"/>
            </a:xfrm>
            <a:custGeom>
              <a:avLst/>
              <a:gdLst/>
              <a:ahLst/>
              <a:cxnLst/>
              <a:rect r="r" b="b" t="t" l="l"/>
              <a:pathLst>
                <a:path h="402336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-3624" b="-82852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0"/>
              <a:ext cx="26472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5"/>
                </a:lnSpc>
              </a:pPr>
              <a:r>
                <a:rPr lang="en-US" sz="130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Milestone 2 pages</a:t>
              </a:r>
            </a:p>
          </p:txBody>
        </p:sp>
      </p:grpSp>
      <p:sp>
        <p:nvSpPr>
          <p:cNvPr name="AutoShape 41" id="41"/>
          <p:cNvSpPr/>
          <p:nvPr/>
        </p:nvSpPr>
        <p:spPr>
          <a:xfrm>
            <a:off x="7470893" y="3478295"/>
            <a:ext cx="267357" cy="0"/>
          </a:xfrm>
          <a:prstGeom prst="line">
            <a:avLst/>
          </a:prstGeom>
          <a:ln cap="rnd" w="19050">
            <a:solidFill>
              <a:srgbClr val="B6C8DA"/>
            </a:solidFill>
            <a:prstDash val="solid"/>
            <a:headEnd type="none" len="sm" w="sm"/>
            <a:tailEnd type="triangle" len="med" w="lg"/>
          </a:ln>
        </p:spPr>
      </p:sp>
      <p:grpSp>
        <p:nvGrpSpPr>
          <p:cNvPr name="Group 42" id="42"/>
          <p:cNvGrpSpPr/>
          <p:nvPr/>
        </p:nvGrpSpPr>
        <p:grpSpPr>
          <a:xfrm rot="0">
            <a:off x="7789884" y="3152496"/>
            <a:ext cx="1985433" cy="651597"/>
            <a:chOff x="0" y="0"/>
            <a:chExt cx="2647244" cy="86879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2647244" cy="868797"/>
            </a:xfrm>
            <a:custGeom>
              <a:avLst/>
              <a:gdLst/>
              <a:ahLst/>
              <a:cxnLst/>
              <a:rect r="r" b="b" t="t" l="l"/>
              <a:pathLst>
                <a:path h="868797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868797"/>
                  </a:lnTo>
                  <a:lnTo>
                    <a:pt x="0" y="86879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108" r="-3624" b="-9937"/>
              </a:stretch>
            </a:blipFill>
          </p:spPr>
        </p:sp>
        <p:sp>
          <p:nvSpPr>
            <p:cNvPr name="TextBox 44" id="44"/>
            <p:cNvSpPr txBox="true"/>
            <p:nvPr/>
          </p:nvSpPr>
          <p:spPr>
            <a:xfrm>
              <a:off x="0" y="0"/>
              <a:ext cx="2647244" cy="86879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140"/>
                </a:lnSpc>
              </a:pPr>
              <a:r>
                <a:rPr lang="en-US" sz="3450" b="true">
                  <a:solidFill>
                    <a:srgbClr val="22C5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7789884" y="3889775"/>
            <a:ext cx="1985433" cy="301752"/>
            <a:chOff x="0" y="0"/>
            <a:chExt cx="2647244" cy="40233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647244" cy="402336"/>
            </a:xfrm>
            <a:custGeom>
              <a:avLst/>
              <a:gdLst/>
              <a:ahLst/>
              <a:cxnLst/>
              <a:rect r="r" b="b" t="t" l="l"/>
              <a:pathLst>
                <a:path h="402336" w="2647244">
                  <a:moveTo>
                    <a:pt x="0" y="0"/>
                  </a:moveTo>
                  <a:lnTo>
                    <a:pt x="2647244" y="0"/>
                  </a:lnTo>
                  <a:lnTo>
                    <a:pt x="264724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2852" r="-3624" b="-82852"/>
              </a:stretch>
            </a:blipFill>
          </p:spPr>
        </p:sp>
        <p:sp>
          <p:nvSpPr>
            <p:cNvPr name="TextBox 47" id="47"/>
            <p:cNvSpPr txBox="true"/>
            <p:nvPr/>
          </p:nvSpPr>
          <p:spPr>
            <a:xfrm>
              <a:off x="0" y="0"/>
              <a:ext cx="2647244" cy="4023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65"/>
                </a:lnSpc>
              </a:pPr>
              <a:r>
                <a:rPr lang="en-US" sz="1305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Milestone 3 workstreams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0">
            <a:off x="840867" y="5077352"/>
            <a:ext cx="8934450" cy="3653790"/>
            <a:chOff x="0" y="0"/>
            <a:chExt cx="11912600" cy="487172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1912600" cy="4871720"/>
            </a:xfrm>
            <a:custGeom>
              <a:avLst/>
              <a:gdLst/>
              <a:ahLst/>
              <a:cxnLst/>
              <a:rect r="r" b="b" t="t" l="l"/>
              <a:pathLst>
                <a:path h="4871720" w="11912600">
                  <a:moveTo>
                    <a:pt x="0" y="147066"/>
                  </a:moveTo>
                  <a:cubicBezTo>
                    <a:pt x="0" y="65786"/>
                    <a:pt x="65786" y="0"/>
                    <a:pt x="147066" y="0"/>
                  </a:cubicBezTo>
                  <a:lnTo>
                    <a:pt x="11765534" y="0"/>
                  </a:lnTo>
                  <a:cubicBezTo>
                    <a:pt x="11846814" y="0"/>
                    <a:pt x="11912600" y="65786"/>
                    <a:pt x="11912600" y="147066"/>
                  </a:cubicBezTo>
                  <a:lnTo>
                    <a:pt x="11912600" y="4724654"/>
                  </a:lnTo>
                  <a:cubicBezTo>
                    <a:pt x="11912600" y="4805934"/>
                    <a:pt x="11846814" y="4871720"/>
                    <a:pt x="11765534" y="4871720"/>
                  </a:cubicBezTo>
                  <a:lnTo>
                    <a:pt x="147066" y="4871720"/>
                  </a:lnTo>
                  <a:cubicBezTo>
                    <a:pt x="65786" y="4871720"/>
                    <a:pt x="0" y="4805934"/>
                    <a:pt x="0" y="4724654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DCE6F0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1197483" y="5420252"/>
            <a:ext cx="2590800" cy="403098"/>
            <a:chOff x="0" y="0"/>
            <a:chExt cx="3454400" cy="537464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454400" cy="537464"/>
            </a:xfrm>
            <a:custGeom>
              <a:avLst/>
              <a:gdLst/>
              <a:ahLst/>
              <a:cxnLst/>
              <a:rect r="r" b="b" t="t" l="l"/>
              <a:pathLst>
                <a:path h="537464" w="3454400">
                  <a:moveTo>
                    <a:pt x="0" y="115189"/>
                  </a:moveTo>
                  <a:cubicBezTo>
                    <a:pt x="0" y="51562"/>
                    <a:pt x="51562" y="0"/>
                    <a:pt x="115189" y="0"/>
                  </a:cubicBezTo>
                  <a:lnTo>
                    <a:pt x="3339211" y="0"/>
                  </a:lnTo>
                  <a:cubicBezTo>
                    <a:pt x="3402838" y="0"/>
                    <a:pt x="3454400" y="51562"/>
                    <a:pt x="3454400" y="115189"/>
                  </a:cubicBezTo>
                  <a:lnTo>
                    <a:pt x="3454400" y="422275"/>
                  </a:lnTo>
                  <a:cubicBezTo>
                    <a:pt x="3454400" y="485902"/>
                    <a:pt x="3402838" y="537464"/>
                    <a:pt x="3339211" y="537464"/>
                  </a:cubicBezTo>
                  <a:lnTo>
                    <a:pt x="115189" y="537464"/>
                  </a:lnTo>
                  <a:cubicBezTo>
                    <a:pt x="51562" y="537464"/>
                    <a:pt x="0" y="485902"/>
                    <a:pt x="0" y="422275"/>
                  </a:cubicBezTo>
                  <a:close/>
                </a:path>
              </a:pathLst>
            </a:custGeom>
            <a:solidFill>
              <a:srgbClr val="14B8A6">
                <a:alpha val="1176"/>
              </a:srgbClr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412748" y="5525789"/>
            <a:ext cx="2160270" cy="213099"/>
            <a:chOff x="0" y="0"/>
            <a:chExt cx="2880360" cy="284131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880360" cy="284131"/>
            </a:xfrm>
            <a:custGeom>
              <a:avLst/>
              <a:gdLst/>
              <a:ahLst/>
              <a:cxnLst/>
              <a:rect r="r" b="b" t="t" l="l"/>
              <a:pathLst>
                <a:path h="284131" w="2880360">
                  <a:moveTo>
                    <a:pt x="0" y="0"/>
                  </a:moveTo>
                  <a:lnTo>
                    <a:pt x="2880360" y="0"/>
                  </a:lnTo>
                  <a:lnTo>
                    <a:pt x="2880360" y="284131"/>
                  </a:lnTo>
                  <a:lnTo>
                    <a:pt x="0" y="28413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472" r="0" b="-142583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0"/>
              <a:ext cx="2880360" cy="28413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350"/>
                </a:lnSpc>
              </a:pPr>
              <a:r>
                <a:rPr lang="en-US" b="true" sz="1125" spc="120">
                  <a:solidFill>
                    <a:srgbClr val="14B8A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MILESTONE 3 ADDS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97483" y="6174632"/>
            <a:ext cx="156210" cy="156210"/>
            <a:chOff x="0" y="0"/>
            <a:chExt cx="208280" cy="20828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57" id="57"/>
          <p:cNvGrpSpPr/>
          <p:nvPr/>
        </p:nvGrpSpPr>
        <p:grpSpPr>
          <a:xfrm rot="0">
            <a:off x="1467612" y="6005849"/>
            <a:ext cx="7859268" cy="528066"/>
            <a:chOff x="0" y="0"/>
            <a:chExt cx="10479024" cy="704088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479024" cy="704088"/>
            </a:xfrm>
            <a:custGeom>
              <a:avLst/>
              <a:gdLst/>
              <a:ahLst/>
              <a:cxnLst/>
              <a:rect r="r" b="b" t="t" l="l"/>
              <a:pathLst>
                <a:path h="704088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704088"/>
                  </a:lnTo>
                  <a:lnTo>
                    <a:pt x="0" y="704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998" r="0" b="-239998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0"/>
              <a:ext cx="10479024" cy="704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A transparent seller scorecard with minimum-volume eligibility and quartile scoring.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1197483" y="6730130"/>
            <a:ext cx="156210" cy="156210"/>
            <a:chOff x="0" y="0"/>
            <a:chExt cx="208280" cy="20828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2" id="62"/>
          <p:cNvGrpSpPr/>
          <p:nvPr/>
        </p:nvGrpSpPr>
        <p:grpSpPr>
          <a:xfrm rot="0">
            <a:off x="1467612" y="6561347"/>
            <a:ext cx="7859268" cy="528066"/>
            <a:chOff x="0" y="0"/>
            <a:chExt cx="10479024" cy="704088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479024" cy="704088"/>
            </a:xfrm>
            <a:custGeom>
              <a:avLst/>
              <a:gdLst/>
              <a:ahLst/>
              <a:cxnLst/>
              <a:rect r="r" b="b" t="t" l="l"/>
              <a:pathLst>
                <a:path h="704088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704088"/>
                  </a:lnTo>
                  <a:lnTo>
                    <a:pt x="0" y="704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998" r="0" b="-239998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0"/>
              <a:ext cx="10479024" cy="704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Transportation-cost views that isolate expensive states, lanes, categories and time periods.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197483" y="7285628"/>
            <a:ext cx="156210" cy="156210"/>
            <a:chOff x="0" y="0"/>
            <a:chExt cx="208280" cy="20828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67" id="67"/>
          <p:cNvGrpSpPr/>
          <p:nvPr/>
        </p:nvGrpSpPr>
        <p:grpSpPr>
          <a:xfrm rot="0">
            <a:off x="1467612" y="7116845"/>
            <a:ext cx="7859268" cy="528066"/>
            <a:chOff x="0" y="0"/>
            <a:chExt cx="10479024" cy="704088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0479024" cy="704088"/>
            </a:xfrm>
            <a:custGeom>
              <a:avLst/>
              <a:gdLst/>
              <a:ahLst/>
              <a:cxnLst/>
              <a:rect r="r" b="b" t="t" l="l"/>
              <a:pathLst>
                <a:path h="704088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704088"/>
                  </a:lnTo>
                  <a:lnTo>
                    <a:pt x="0" y="704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998" r="0" b="-239998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0"/>
              <a:ext cx="10479024" cy="704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Route performance enriched with approximate geographic distance and carrier-stage transit analysis.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197483" y="7841126"/>
            <a:ext cx="156210" cy="156210"/>
            <a:chOff x="0" y="0"/>
            <a:chExt cx="208280" cy="20828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8280" cy="208280"/>
            </a:xfrm>
            <a:custGeom>
              <a:avLst/>
              <a:gdLst/>
              <a:ahLst/>
              <a:cxnLst/>
              <a:rect r="r" b="b" t="t" l="l"/>
              <a:pathLst>
                <a:path h="208280" w="208280">
                  <a:moveTo>
                    <a:pt x="0" y="104140"/>
                  </a:moveTo>
                  <a:cubicBezTo>
                    <a:pt x="0" y="46609"/>
                    <a:pt x="46609" y="0"/>
                    <a:pt x="104140" y="0"/>
                  </a:cubicBezTo>
                  <a:cubicBezTo>
                    <a:pt x="161671" y="0"/>
                    <a:pt x="208280" y="46609"/>
                    <a:pt x="208280" y="104140"/>
                  </a:cubicBezTo>
                  <a:cubicBezTo>
                    <a:pt x="208280" y="161671"/>
                    <a:pt x="161671" y="208280"/>
                    <a:pt x="104140" y="208280"/>
                  </a:cubicBezTo>
                  <a:cubicBezTo>
                    <a:pt x="46609" y="208280"/>
                    <a:pt x="0" y="161671"/>
                    <a:pt x="0" y="104140"/>
                  </a:cubicBezTo>
                  <a:close/>
                </a:path>
              </a:pathLst>
            </a:custGeom>
            <a:solidFill>
              <a:srgbClr val="14B8A6"/>
            </a:solidFill>
            <a:ln w="19050" cap="sq">
              <a:solidFill>
                <a:srgbClr val="14B8A6"/>
              </a:solidFill>
              <a:prstDash val="solid"/>
              <a:miter/>
            </a:ln>
          </p:spPr>
        </p:sp>
      </p:grpSp>
      <p:grpSp>
        <p:nvGrpSpPr>
          <p:cNvPr name="Group 72" id="72"/>
          <p:cNvGrpSpPr/>
          <p:nvPr/>
        </p:nvGrpSpPr>
        <p:grpSpPr>
          <a:xfrm rot="0">
            <a:off x="1467612" y="7672343"/>
            <a:ext cx="7859268" cy="528066"/>
            <a:chOff x="0" y="0"/>
            <a:chExt cx="10479024" cy="704088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479024" cy="704088"/>
            </a:xfrm>
            <a:custGeom>
              <a:avLst/>
              <a:gdLst/>
              <a:ahLst/>
              <a:cxnLst/>
              <a:rect r="r" b="b" t="t" l="l"/>
              <a:pathLst>
                <a:path h="704088" w="10479024">
                  <a:moveTo>
                    <a:pt x="0" y="0"/>
                  </a:moveTo>
                  <a:lnTo>
                    <a:pt x="10479024" y="0"/>
                  </a:lnTo>
                  <a:lnTo>
                    <a:pt x="10479024" y="704088"/>
                  </a:lnTo>
                  <a:lnTo>
                    <a:pt x="0" y="7040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9998" r="0" b="-23999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0"/>
              <a:ext cx="10479024" cy="70408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Advanced KPI pages that link service, cost, ratings, payments and geography for management review.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2404872" y="8916308"/>
            <a:ext cx="13478256" cy="602258"/>
            <a:chOff x="0" y="0"/>
            <a:chExt cx="17971008" cy="803011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7971008" cy="803011"/>
            </a:xfrm>
            <a:custGeom>
              <a:avLst/>
              <a:gdLst/>
              <a:ahLst/>
              <a:cxnLst/>
              <a:rect r="r" b="b" t="t" l="l"/>
              <a:pathLst>
                <a:path h="803011" w="17971008">
                  <a:moveTo>
                    <a:pt x="0" y="0"/>
                  </a:moveTo>
                  <a:lnTo>
                    <a:pt x="17971008" y="0"/>
                  </a:lnTo>
                  <a:lnTo>
                    <a:pt x="17971008" y="803011"/>
                  </a:lnTo>
                  <a:lnTo>
                    <a:pt x="0" y="8030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53297" r="11668" b="-317065"/>
              </a:stretch>
            </a:blip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9525"/>
              <a:ext cx="17971008" cy="8125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15"/>
                </a:lnSpc>
              </a:pPr>
              <a:r>
                <a:rPr lang="en-US" sz="1679" b="true">
                  <a:solidFill>
                    <a:srgbClr val="2563E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Final Message:</a:t>
              </a:r>
              <a:r>
                <a:rPr lang="en-US" sz="167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 </a:t>
              </a:r>
              <a:r>
                <a:rPr lang="en-US" sz="1679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Milestone 3 transforms the Power BI control tower from descriptive visibility into performance-focused decision support.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7543" cy="10287000"/>
            <a:chOff x="0" y="0"/>
            <a:chExt cx="24383390" cy="13716000"/>
          </a:xfrm>
        </p:grpSpPr>
        <p:sp>
          <p:nvSpPr>
            <p:cNvPr name="Freeform 3" id="3" descr="/mnt/data/a_clean_high_tech_logistics_supply_chain_infogr_batch_1.png"/>
            <p:cNvSpPr/>
            <p:nvPr/>
          </p:nvSpPr>
          <p:spPr>
            <a:xfrm flipH="false" flipV="false" rot="0">
              <a:off x="0" y="0"/>
              <a:ext cx="24383364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3364">
                  <a:moveTo>
                    <a:pt x="0" y="0"/>
                  </a:moveTo>
                  <a:lnTo>
                    <a:pt x="24383364" y="0"/>
                  </a:lnTo>
                  <a:lnTo>
                    <a:pt x="24383364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5" r="0" b="-2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-9525" y="-9525"/>
            <a:ext cx="18306593" cy="10306050"/>
            <a:chOff x="0" y="0"/>
            <a:chExt cx="24408790" cy="137414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408764" cy="13741400"/>
            </a:xfrm>
            <a:custGeom>
              <a:avLst/>
              <a:gdLst/>
              <a:ahLst/>
              <a:cxnLst/>
              <a:rect r="r" b="b" t="t" l="l"/>
              <a:pathLst>
                <a:path h="13741400" w="24408764">
                  <a:moveTo>
                    <a:pt x="0" y="0"/>
                  </a:moveTo>
                  <a:lnTo>
                    <a:pt x="24408764" y="0"/>
                  </a:lnTo>
                  <a:lnTo>
                    <a:pt x="24408764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FFFFFF">
                <a:alpha val="63922"/>
              </a:srgbClr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359152"/>
            <a:ext cx="6720840" cy="987552"/>
            <a:chOff x="0" y="0"/>
            <a:chExt cx="8961120" cy="13167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61120" cy="1316736"/>
            </a:xfrm>
            <a:custGeom>
              <a:avLst/>
              <a:gdLst/>
              <a:ahLst/>
              <a:cxnLst/>
              <a:rect r="r" b="b" t="t" l="l"/>
              <a:pathLst>
                <a:path h="1316736" w="8961120">
                  <a:moveTo>
                    <a:pt x="0" y="0"/>
                  </a:moveTo>
                  <a:lnTo>
                    <a:pt x="8961120" y="0"/>
                  </a:lnTo>
                  <a:lnTo>
                    <a:pt x="8961120" y="1316736"/>
                  </a:lnTo>
                  <a:lnTo>
                    <a:pt x="0" y="13167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82606" r="0" b="-8260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0"/>
              <a:ext cx="8961120" cy="131673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480"/>
                </a:lnSpc>
              </a:pPr>
              <a:r>
                <a:rPr lang="en-US" sz="5400" b="true">
                  <a:solidFill>
                    <a:srgbClr val="0F172A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 YOU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56132" y="3445002"/>
            <a:ext cx="6583680" cy="1025463"/>
            <a:chOff x="0" y="0"/>
            <a:chExt cx="8778240" cy="136728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78240" cy="1367284"/>
            </a:xfrm>
            <a:custGeom>
              <a:avLst/>
              <a:gdLst/>
              <a:ahLst/>
              <a:cxnLst/>
              <a:rect r="r" b="b" t="t" l="l"/>
              <a:pathLst>
                <a:path h="1367284" w="8778240">
                  <a:moveTo>
                    <a:pt x="0" y="0"/>
                  </a:moveTo>
                  <a:lnTo>
                    <a:pt x="8778240" y="0"/>
                  </a:lnTo>
                  <a:lnTo>
                    <a:pt x="8778240" y="1367284"/>
                  </a:lnTo>
                  <a:lnTo>
                    <a:pt x="0" y="136728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7009" r="0" b="-53186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0"/>
              <a:ext cx="8778240" cy="1367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sz="3000" i="true" b="true">
                  <a:solidFill>
                    <a:srgbClr val="2563EB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for your time, guidance and </a:t>
              </a:r>
            </a:p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2563EB"/>
                  </a:solidFill>
                  <a:latin typeface="Aptos Bold Italics"/>
                  <a:ea typeface="Aptos Bold Italics"/>
                  <a:cs typeface="Aptos Bold Italics"/>
                  <a:sym typeface="Aptos Bold Italics"/>
                </a:rPr>
                <a:t>continuous support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56132" y="4773168"/>
            <a:ext cx="6789420" cy="1179576"/>
            <a:chOff x="0" y="0"/>
            <a:chExt cx="9052560" cy="157276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052560" cy="1572768"/>
            </a:xfrm>
            <a:custGeom>
              <a:avLst/>
              <a:gdLst/>
              <a:ahLst/>
              <a:cxnLst/>
              <a:rect r="r" b="b" t="t" l="l"/>
              <a:pathLst>
                <a:path h="1572768" w="9052560">
                  <a:moveTo>
                    <a:pt x="0" y="0"/>
                  </a:moveTo>
                  <a:lnTo>
                    <a:pt x="9052560" y="0"/>
                  </a:lnTo>
                  <a:lnTo>
                    <a:pt x="9052560" y="1572768"/>
                  </a:lnTo>
                  <a:lnTo>
                    <a:pt x="0" y="1572768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2152" r="0" b="-62152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47625"/>
              <a:ext cx="9052560" cy="162039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Supply Chain Visibility &amp; Optimisation</a:t>
              </a:r>
            </a:p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334155"/>
                  </a:solidFill>
                  <a:latin typeface="Aptos"/>
                  <a:ea typeface="Aptos"/>
                  <a:cs typeface="Aptos"/>
                  <a:sym typeface="Aptos"/>
                </a:rPr>
                <a:t>Milestone 3 — Performance Analytics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8709660"/>
            <a:ext cx="5277536" cy="548640"/>
            <a:chOff x="0" y="0"/>
            <a:chExt cx="7036715" cy="7315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036715" cy="731520"/>
            </a:xfrm>
            <a:custGeom>
              <a:avLst/>
              <a:gdLst/>
              <a:ahLst/>
              <a:cxnLst/>
              <a:rect r="r" b="b" t="t" l="l"/>
              <a:pathLst>
                <a:path h="731520" w="7036715">
                  <a:moveTo>
                    <a:pt x="0" y="0"/>
                  </a:moveTo>
                  <a:lnTo>
                    <a:pt x="7036715" y="0"/>
                  </a:lnTo>
                  <a:lnTo>
                    <a:pt x="7036715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91127" r="-28647" b="-19112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0"/>
              <a:ext cx="7036715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36"/>
                </a:lnSpc>
              </a:pPr>
              <a:r>
                <a:rPr lang="en-US" sz="1530">
                  <a:solidFill>
                    <a:srgbClr val="64748B"/>
                  </a:solidFill>
                  <a:latin typeface="Aptos"/>
                  <a:ea typeface="Aptos"/>
                  <a:cs typeface="Aptos"/>
                  <a:sym typeface="Aptos"/>
                </a:rPr>
                <a:t>Team 4  •  Infosys Springboard Virtual Internship 7.0 — Batch 2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DAHTXh78rOo</dc:identifier>
  <dcterms:modified xsi:type="dcterms:W3CDTF">2011-08-01T06:04:30Z</dcterms:modified>
  <cp:revision>1</cp:revision>
  <dc:title>Milestone_3_Supply_Chain_Light_Mode.pptx</dc:title>
</cp:coreProperties>
</file>