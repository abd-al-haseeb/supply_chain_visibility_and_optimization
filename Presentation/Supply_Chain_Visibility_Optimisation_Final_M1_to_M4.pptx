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Aptos Bold" charset="1" panose="020B0004020202020204"/>
      <p:regular r:id="rId27"/>
    </p:embeddedFont>
    <p:embeddedFont>
      <p:font typeface="Aptos" charset="1" panose="020B0004020202020204"/>
      <p:regular r:id="rId28"/>
    </p:embeddedFont>
    <p:embeddedFont>
      <p:font typeface="Aptos Italics" charset="1" panose="020B0004020202090204"/>
      <p:regular r:id="rId29"/>
    </p:embeddedFont>
    <p:embeddedFont>
      <p:font typeface="Consolas" charset="1" panose="020B0609020204030204"/>
      <p:regular r:id="rId30"/>
    </p:embeddedFont>
    <p:embeddedFont>
      <p:font typeface="Aptos Bold Italics" charset="1" panose="020B0004020202090204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37265"/>
            <a:chOff x="0" y="0"/>
            <a:chExt cx="24402453" cy="183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83007"/>
            </a:xfrm>
            <a:custGeom>
              <a:avLst/>
              <a:gdLst/>
              <a:ahLst/>
              <a:cxnLst/>
              <a:rect r="r" b="b" t="t" l="l"/>
              <a:pathLst>
                <a:path h="183007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83007"/>
                  </a:lnTo>
                  <a:lnTo>
                    <a:pt x="0" y="183007"/>
                  </a:lnTo>
                  <a:close/>
                </a:path>
              </a:pathLst>
            </a:custGeom>
            <a:solidFill>
              <a:srgbClr val="00B09B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69645" y="1647206"/>
            <a:ext cx="10295039" cy="163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5"/>
              </a:lnSpc>
            </a:pPr>
            <a:r>
              <a:rPr lang="en-US" sz="5404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SUPPLY CHAIN</a:t>
            </a:r>
          </a:p>
          <a:p>
            <a:pPr algn="l">
              <a:lnSpc>
                <a:spcPts val="6485"/>
              </a:lnSpc>
            </a:pPr>
            <a:r>
              <a:rPr lang="en-US" sz="5404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VISIBILITY &amp; OPTIMISATION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844108" y="1647206"/>
            <a:ext cx="6588824" cy="7275166"/>
            <a:chOff x="0" y="0"/>
            <a:chExt cx="8785098" cy="9700222"/>
          </a:xfrm>
        </p:grpSpPr>
        <p:sp>
          <p:nvSpPr>
            <p:cNvPr name="Freeform 6" id="6" descr="image1.png"/>
            <p:cNvSpPr/>
            <p:nvPr/>
          </p:nvSpPr>
          <p:spPr>
            <a:xfrm flipH="false" flipV="false" rot="0">
              <a:off x="0" y="0"/>
              <a:ext cx="8785098" cy="9700260"/>
            </a:xfrm>
            <a:custGeom>
              <a:avLst/>
              <a:gdLst/>
              <a:ahLst/>
              <a:cxnLst/>
              <a:rect r="r" b="b" t="t" l="l"/>
              <a:pathLst>
                <a:path h="9700260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9700260"/>
                  </a:lnTo>
                  <a:lnTo>
                    <a:pt x="0" y="97002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6192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823608" y="9677343"/>
            <a:ext cx="16654634" cy="20593"/>
            <a:chOff x="0" y="0"/>
            <a:chExt cx="22206179" cy="2745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206204" cy="27432"/>
            </a:xfrm>
            <a:custGeom>
              <a:avLst/>
              <a:gdLst/>
              <a:ahLst/>
              <a:cxnLst/>
              <a:rect r="r" b="b" t="t" l="l"/>
              <a:pathLst>
                <a:path h="27432" w="22206204">
                  <a:moveTo>
                    <a:pt x="0" y="0"/>
                  </a:moveTo>
                  <a:lnTo>
                    <a:pt x="22206204" y="0"/>
                  </a:lnTo>
                  <a:lnTo>
                    <a:pt x="22206204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D8E3F0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823608" y="9773431"/>
            <a:ext cx="5490686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Slide 1 of 20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987546" y="9773431"/>
            <a:ext cx="5490686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11"/>
              </a:lnSpc>
            </a:pPr>
            <a:r>
              <a:rPr lang="en-US" sz="1426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Final Project Presentation | M1-M4 Complete Journey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69645" y="3538728"/>
            <a:ext cx="7680960" cy="576072"/>
            <a:chOff x="0" y="0"/>
            <a:chExt cx="10241280" cy="76809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241280" cy="768096"/>
            </a:xfrm>
            <a:custGeom>
              <a:avLst/>
              <a:gdLst/>
              <a:ahLst/>
              <a:cxnLst/>
              <a:rect r="r" b="b" t="t" l="l"/>
              <a:pathLst>
                <a:path h="76809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024128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Milestones 1 to 4 Complete Journey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69645" y="6062472"/>
            <a:ext cx="7680960" cy="356616"/>
            <a:chOff x="0" y="0"/>
            <a:chExt cx="10241280" cy="4754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41280" cy="475488"/>
            </a:xfrm>
            <a:custGeom>
              <a:avLst/>
              <a:gdLst/>
              <a:ahLst/>
              <a:cxnLst/>
              <a:rect r="r" b="b" t="t" l="l"/>
              <a:pathLst>
                <a:path h="47548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677" r="0" b="-36967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0241280" cy="475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2563EB"/>
                  </a:solidFill>
                  <a:latin typeface="Aptos"/>
                  <a:ea typeface="Aptos"/>
                  <a:cs typeface="Aptos"/>
                  <a:sym typeface="Aptos"/>
                </a:rPr>
                <a:t>Infosys Springboard Virtual Internship 7.0 — Batch 2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69645" y="6556248"/>
            <a:ext cx="8161020" cy="356616"/>
            <a:chOff x="0" y="0"/>
            <a:chExt cx="10881360" cy="47548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881360" cy="475488"/>
            </a:xfrm>
            <a:custGeom>
              <a:avLst/>
              <a:gdLst/>
              <a:ahLst/>
              <a:cxnLst/>
              <a:rect r="r" b="b" t="t" l="l"/>
              <a:pathLst>
                <a:path h="475488" w="10881360">
                  <a:moveTo>
                    <a:pt x="0" y="0"/>
                  </a:moveTo>
                  <a:lnTo>
                    <a:pt x="10881360" y="0"/>
                  </a:lnTo>
                  <a:lnTo>
                    <a:pt x="1088136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907" r="0" b="-39590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0881360" cy="475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59E0B"/>
                  </a:solidFill>
                  <a:latin typeface="Aptos"/>
                  <a:ea typeface="Aptos"/>
                  <a:cs typeface="Aptos"/>
                  <a:sym typeface="Aptos"/>
                </a:rPr>
                <a:t>Team 4  •  Mahi  •  Vishal  •  Ramya  •  Abdul Haseeb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69645" y="7063740"/>
            <a:ext cx="6172200" cy="356616"/>
            <a:chOff x="0" y="0"/>
            <a:chExt cx="8229600" cy="47548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229600" cy="475488"/>
            </a:xfrm>
            <a:custGeom>
              <a:avLst/>
              <a:gdLst/>
              <a:ahLst/>
              <a:cxnLst/>
              <a:rect r="r" b="b" t="t" l="l"/>
              <a:pathLst>
                <a:path h="475488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7241" r="0" b="-28724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8229600" cy="475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16A34A"/>
                  </a:solidFill>
                  <a:latin typeface="Aptos"/>
                  <a:ea typeface="Aptos"/>
                  <a:cs typeface="Aptos"/>
                  <a:sym typeface="Aptos"/>
                </a:rPr>
                <a:t>Mentor: Sundar Shakthi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69645" y="8805672"/>
            <a:ext cx="7955280" cy="384048"/>
            <a:chOff x="0" y="0"/>
            <a:chExt cx="10607040" cy="51206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07040" cy="512064"/>
            </a:xfrm>
            <a:custGeom>
              <a:avLst/>
              <a:gdLst/>
              <a:ahLst/>
              <a:cxnLst/>
              <a:rect r="r" b="b" t="t" l="l"/>
              <a:pathLst>
                <a:path h="512064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3618" r="0" b="-35361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1060704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0F172A"/>
                  </a:solidFill>
                  <a:latin typeface="Aptos Italics"/>
                  <a:ea typeface="Aptos Italics"/>
                  <a:cs typeface="Aptos Italics"/>
                  <a:sym typeface="Aptos Italics"/>
                </a:rPr>
                <a:t>C</a:t>
              </a:r>
              <a:r>
                <a:rPr lang="en-US" sz="1800" i="true">
                  <a:solidFill>
                    <a:srgbClr val="0F172A"/>
                  </a:solidFill>
                  <a:latin typeface="Aptos Italics"/>
                  <a:ea typeface="Aptos Italics"/>
                  <a:cs typeface="Aptos Italics"/>
                  <a:sym typeface="Aptos Italics"/>
                </a:rPr>
                <a:t>lean Data - Control Tower Visibility - Performance Analytics - Decision Support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9814"/>
            <a:chOff x="0" y="0"/>
            <a:chExt cx="24402453" cy="146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46431"/>
            </a:xfrm>
            <a:custGeom>
              <a:avLst/>
              <a:gdLst/>
              <a:ahLst/>
              <a:cxnLst/>
              <a:rect r="r" b="b" t="t" l="l"/>
              <a:pathLst>
                <a:path h="14643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00B09B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23608" y="589959"/>
            <a:ext cx="10981382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0F766E"/>
                </a:solidFill>
                <a:latin typeface="Aptos Bold"/>
                <a:ea typeface="Aptos Bold"/>
                <a:cs typeface="Aptos Bold"/>
                <a:sym typeface="Aptos Bold"/>
              </a:rPr>
              <a:t>SUPPLY CHAIN VISIBILITY &amp; OPTIMISATION  -  MILESTONE 4 - TEAM 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23608" y="1135113"/>
            <a:ext cx="1647206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Project Overview &amp; Business Challenge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23608" y="1853108"/>
            <a:ext cx="1647206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Turning transactional e-commerce records into an end-to-end supply chain decision-support system.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186647" y="2470814"/>
            <a:ext cx="3123500" cy="1506818"/>
            <a:chOff x="0" y="0"/>
            <a:chExt cx="3957320" cy="190906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957320" cy="1909064"/>
            </a:xfrm>
            <a:custGeom>
              <a:avLst/>
              <a:gdLst/>
              <a:ahLst/>
              <a:cxnLst/>
              <a:rect r="r" b="b" t="t" l="l"/>
              <a:pathLst>
                <a:path h="1909064" w="3957320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3808984" y="0"/>
                  </a:lnTo>
                  <a:cubicBezTo>
                    <a:pt x="3890899" y="0"/>
                    <a:pt x="3957320" y="66421"/>
                    <a:pt x="3957320" y="148336"/>
                  </a:cubicBezTo>
                  <a:lnTo>
                    <a:pt x="3957320" y="1760728"/>
                  </a:lnTo>
                  <a:cubicBezTo>
                    <a:pt x="3957320" y="1842643"/>
                    <a:pt x="3890899" y="1909064"/>
                    <a:pt x="3808984" y="1909064"/>
                  </a:cubicBezTo>
                  <a:lnTo>
                    <a:pt x="148336" y="1909064"/>
                  </a:lnTo>
                  <a:cubicBezTo>
                    <a:pt x="66421" y="1909064"/>
                    <a:pt x="0" y="1842643"/>
                    <a:pt x="0" y="176072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7549696" y="2470814"/>
            <a:ext cx="3123500" cy="1506818"/>
            <a:chOff x="0" y="0"/>
            <a:chExt cx="3957320" cy="190906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957320" cy="1909064"/>
            </a:xfrm>
            <a:custGeom>
              <a:avLst/>
              <a:gdLst/>
              <a:ahLst/>
              <a:cxnLst/>
              <a:rect r="r" b="b" t="t" l="l"/>
              <a:pathLst>
                <a:path h="1909064" w="3957320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3808984" y="0"/>
                  </a:lnTo>
                  <a:cubicBezTo>
                    <a:pt x="3890899" y="0"/>
                    <a:pt x="3957320" y="66421"/>
                    <a:pt x="3957320" y="148336"/>
                  </a:cubicBezTo>
                  <a:lnTo>
                    <a:pt x="3957320" y="1760728"/>
                  </a:lnTo>
                  <a:cubicBezTo>
                    <a:pt x="3957320" y="1842643"/>
                    <a:pt x="3890899" y="1909064"/>
                    <a:pt x="3808984" y="1909064"/>
                  </a:cubicBezTo>
                  <a:lnTo>
                    <a:pt x="148336" y="1909064"/>
                  </a:lnTo>
                  <a:cubicBezTo>
                    <a:pt x="66421" y="1909064"/>
                    <a:pt x="0" y="1842643"/>
                    <a:pt x="0" y="176072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0911321" y="2470814"/>
            <a:ext cx="3123500" cy="1506818"/>
            <a:chOff x="0" y="0"/>
            <a:chExt cx="3957320" cy="19090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957320" cy="1909064"/>
            </a:xfrm>
            <a:custGeom>
              <a:avLst/>
              <a:gdLst/>
              <a:ahLst/>
              <a:cxnLst/>
              <a:rect r="r" b="b" t="t" l="l"/>
              <a:pathLst>
                <a:path h="1909064" w="3957320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3808984" y="0"/>
                  </a:lnTo>
                  <a:cubicBezTo>
                    <a:pt x="3890899" y="0"/>
                    <a:pt x="3957320" y="66421"/>
                    <a:pt x="3957320" y="148336"/>
                  </a:cubicBezTo>
                  <a:lnTo>
                    <a:pt x="3957320" y="1760728"/>
                  </a:lnTo>
                  <a:cubicBezTo>
                    <a:pt x="3957320" y="1842643"/>
                    <a:pt x="3890899" y="1909064"/>
                    <a:pt x="3808984" y="1909064"/>
                  </a:cubicBezTo>
                  <a:lnTo>
                    <a:pt x="148336" y="1909064"/>
                  </a:lnTo>
                  <a:cubicBezTo>
                    <a:pt x="66421" y="1909064"/>
                    <a:pt x="0" y="1842643"/>
                    <a:pt x="0" y="176072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4275794" y="2470814"/>
            <a:ext cx="3123500" cy="1506818"/>
            <a:chOff x="0" y="0"/>
            <a:chExt cx="3957320" cy="190906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957320" cy="1909064"/>
            </a:xfrm>
            <a:custGeom>
              <a:avLst/>
              <a:gdLst/>
              <a:ahLst/>
              <a:cxnLst/>
              <a:rect r="r" b="b" t="t" l="l"/>
              <a:pathLst>
                <a:path h="1909064" w="3957320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3808984" y="0"/>
                  </a:lnTo>
                  <a:cubicBezTo>
                    <a:pt x="3890899" y="0"/>
                    <a:pt x="3957320" y="66421"/>
                    <a:pt x="3957320" y="148336"/>
                  </a:cubicBezTo>
                  <a:lnTo>
                    <a:pt x="3957320" y="1760728"/>
                  </a:lnTo>
                  <a:cubicBezTo>
                    <a:pt x="3957320" y="1842643"/>
                    <a:pt x="3890899" y="1909064"/>
                    <a:pt x="3808984" y="1909064"/>
                  </a:cubicBezTo>
                  <a:lnTo>
                    <a:pt x="148336" y="1909064"/>
                  </a:lnTo>
                  <a:cubicBezTo>
                    <a:pt x="66421" y="1909064"/>
                    <a:pt x="0" y="1842643"/>
                    <a:pt x="0" y="176072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4186647" y="2470814"/>
            <a:ext cx="109814" cy="1509941"/>
            <a:chOff x="0" y="0"/>
            <a:chExt cx="146418" cy="201325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431" cy="2013204"/>
            </a:xfrm>
            <a:custGeom>
              <a:avLst/>
              <a:gdLst/>
              <a:ahLst/>
              <a:cxnLst/>
              <a:rect r="r" b="b" t="t" l="l"/>
              <a:pathLst>
                <a:path h="2013204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988820"/>
                  </a:lnTo>
                  <a:cubicBezTo>
                    <a:pt x="146431" y="2002282"/>
                    <a:pt x="135509" y="2013204"/>
                    <a:pt x="122047" y="2013204"/>
                  </a:cubicBezTo>
                  <a:lnTo>
                    <a:pt x="24384" y="2013204"/>
                  </a:lnTo>
                  <a:cubicBezTo>
                    <a:pt x="10922" y="2013204"/>
                    <a:pt x="0" y="2002282"/>
                    <a:pt x="0" y="1988820"/>
                  </a:cubicBezTo>
                  <a:close/>
                </a:path>
              </a:pathLst>
            </a:custGeom>
            <a:solidFill>
              <a:srgbClr val="00B09B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549696" y="2470814"/>
            <a:ext cx="109814" cy="1509941"/>
            <a:chOff x="0" y="0"/>
            <a:chExt cx="146418" cy="201325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6431" cy="2013204"/>
            </a:xfrm>
            <a:custGeom>
              <a:avLst/>
              <a:gdLst/>
              <a:ahLst/>
              <a:cxnLst/>
              <a:rect r="r" b="b" t="t" l="l"/>
              <a:pathLst>
                <a:path h="2013204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988820"/>
                  </a:lnTo>
                  <a:cubicBezTo>
                    <a:pt x="146431" y="2002282"/>
                    <a:pt x="135509" y="2013204"/>
                    <a:pt x="122047" y="2013204"/>
                  </a:cubicBezTo>
                  <a:lnTo>
                    <a:pt x="24384" y="2013204"/>
                  </a:lnTo>
                  <a:cubicBezTo>
                    <a:pt x="10922" y="2013204"/>
                    <a:pt x="0" y="2002282"/>
                    <a:pt x="0" y="1988820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912745" y="2470814"/>
            <a:ext cx="109814" cy="1509941"/>
            <a:chOff x="0" y="0"/>
            <a:chExt cx="146418" cy="201325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6431" cy="2013204"/>
            </a:xfrm>
            <a:custGeom>
              <a:avLst/>
              <a:gdLst/>
              <a:ahLst/>
              <a:cxnLst/>
              <a:rect r="r" b="b" t="t" l="l"/>
              <a:pathLst>
                <a:path h="2013204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988820"/>
                  </a:lnTo>
                  <a:cubicBezTo>
                    <a:pt x="146431" y="2002282"/>
                    <a:pt x="135509" y="2013204"/>
                    <a:pt x="122047" y="2013204"/>
                  </a:cubicBezTo>
                  <a:lnTo>
                    <a:pt x="24384" y="2013204"/>
                  </a:lnTo>
                  <a:cubicBezTo>
                    <a:pt x="10922" y="2013204"/>
                    <a:pt x="0" y="2002282"/>
                    <a:pt x="0" y="1988820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4275794" y="2470814"/>
            <a:ext cx="109814" cy="1509941"/>
            <a:chOff x="0" y="0"/>
            <a:chExt cx="146418" cy="201325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6431" cy="2013204"/>
            </a:xfrm>
            <a:custGeom>
              <a:avLst/>
              <a:gdLst/>
              <a:ahLst/>
              <a:cxnLst/>
              <a:rect r="r" b="b" t="t" l="l"/>
              <a:pathLst>
                <a:path h="2013204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988820"/>
                  </a:lnTo>
                  <a:cubicBezTo>
                    <a:pt x="146431" y="2002282"/>
                    <a:pt x="135509" y="2013204"/>
                    <a:pt x="122047" y="2013204"/>
                  </a:cubicBezTo>
                  <a:lnTo>
                    <a:pt x="24384" y="2013204"/>
                  </a:lnTo>
                  <a:cubicBezTo>
                    <a:pt x="10922" y="2013204"/>
                    <a:pt x="0" y="2002282"/>
                    <a:pt x="0" y="1988820"/>
                  </a:cubicBez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8218" y="4342705"/>
            <a:ext cx="5358346" cy="3273933"/>
            <a:chOff x="0" y="0"/>
            <a:chExt cx="7144461" cy="436524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144461" cy="4365244"/>
            </a:xfrm>
            <a:custGeom>
              <a:avLst/>
              <a:gdLst/>
              <a:ahLst/>
              <a:cxnLst/>
              <a:rect r="r" b="b" t="t" l="l"/>
              <a:pathLst>
                <a:path h="4365244" w="7144461">
                  <a:moveTo>
                    <a:pt x="0" y="101255"/>
                  </a:moveTo>
                  <a:cubicBezTo>
                    <a:pt x="0" y="45333"/>
                    <a:pt x="43093" y="0"/>
                    <a:pt x="96252" y="0"/>
                  </a:cubicBezTo>
                  <a:lnTo>
                    <a:pt x="7048209" y="0"/>
                  </a:lnTo>
                  <a:cubicBezTo>
                    <a:pt x="7101368" y="0"/>
                    <a:pt x="7144461" y="45333"/>
                    <a:pt x="7144461" y="101255"/>
                  </a:cubicBezTo>
                  <a:lnTo>
                    <a:pt x="7144461" y="4263989"/>
                  </a:lnTo>
                  <a:cubicBezTo>
                    <a:pt x="7144461" y="4319912"/>
                    <a:pt x="7101368" y="4365244"/>
                    <a:pt x="7048209" y="4365244"/>
                  </a:cubicBezTo>
                  <a:lnTo>
                    <a:pt x="96252" y="4365244"/>
                  </a:lnTo>
                  <a:cubicBezTo>
                    <a:pt x="43093" y="4365244"/>
                    <a:pt x="0" y="4319911"/>
                    <a:pt x="0" y="426398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6432273" y="4342705"/>
            <a:ext cx="5358346" cy="3273933"/>
            <a:chOff x="0" y="0"/>
            <a:chExt cx="7144461" cy="436524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144461" cy="4365244"/>
            </a:xfrm>
            <a:custGeom>
              <a:avLst/>
              <a:gdLst/>
              <a:ahLst/>
              <a:cxnLst/>
              <a:rect r="r" b="b" t="t" l="l"/>
              <a:pathLst>
                <a:path h="4365244" w="7144461">
                  <a:moveTo>
                    <a:pt x="0" y="101255"/>
                  </a:moveTo>
                  <a:cubicBezTo>
                    <a:pt x="0" y="45333"/>
                    <a:pt x="43093" y="0"/>
                    <a:pt x="96252" y="0"/>
                  </a:cubicBezTo>
                  <a:lnTo>
                    <a:pt x="7048209" y="0"/>
                  </a:lnTo>
                  <a:cubicBezTo>
                    <a:pt x="7101368" y="0"/>
                    <a:pt x="7144461" y="45333"/>
                    <a:pt x="7144461" y="101255"/>
                  </a:cubicBezTo>
                  <a:lnTo>
                    <a:pt x="7144461" y="4263989"/>
                  </a:lnTo>
                  <a:cubicBezTo>
                    <a:pt x="7144461" y="4319912"/>
                    <a:pt x="7101368" y="4365244"/>
                    <a:pt x="7048209" y="4365244"/>
                  </a:cubicBezTo>
                  <a:lnTo>
                    <a:pt x="96252" y="4365244"/>
                  </a:lnTo>
                  <a:cubicBezTo>
                    <a:pt x="43093" y="4365244"/>
                    <a:pt x="0" y="4319911"/>
                    <a:pt x="0" y="426398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2077057" y="4342705"/>
            <a:ext cx="5358346" cy="3273933"/>
            <a:chOff x="0" y="0"/>
            <a:chExt cx="7144461" cy="436524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144461" cy="4365244"/>
            </a:xfrm>
            <a:custGeom>
              <a:avLst/>
              <a:gdLst/>
              <a:ahLst/>
              <a:cxnLst/>
              <a:rect r="r" b="b" t="t" l="l"/>
              <a:pathLst>
                <a:path h="4365244" w="7144461">
                  <a:moveTo>
                    <a:pt x="0" y="101255"/>
                  </a:moveTo>
                  <a:cubicBezTo>
                    <a:pt x="0" y="45333"/>
                    <a:pt x="43093" y="0"/>
                    <a:pt x="96252" y="0"/>
                  </a:cubicBezTo>
                  <a:lnTo>
                    <a:pt x="7048209" y="0"/>
                  </a:lnTo>
                  <a:cubicBezTo>
                    <a:pt x="7101368" y="0"/>
                    <a:pt x="7144461" y="45333"/>
                    <a:pt x="7144461" y="101255"/>
                  </a:cubicBezTo>
                  <a:lnTo>
                    <a:pt x="7144461" y="4263989"/>
                  </a:lnTo>
                  <a:cubicBezTo>
                    <a:pt x="7144461" y="4319912"/>
                    <a:pt x="7101368" y="4365244"/>
                    <a:pt x="7048209" y="4365244"/>
                  </a:cubicBezTo>
                  <a:lnTo>
                    <a:pt x="96252" y="4365244"/>
                  </a:lnTo>
                  <a:cubicBezTo>
                    <a:pt x="43093" y="4365244"/>
                    <a:pt x="0" y="4319911"/>
                    <a:pt x="0" y="426398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814068" y="7883338"/>
            <a:ext cx="16628402" cy="1529001"/>
            <a:chOff x="0" y="0"/>
            <a:chExt cx="22171203" cy="203866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171152" cy="2038604"/>
            </a:xfrm>
            <a:custGeom>
              <a:avLst/>
              <a:gdLst/>
              <a:ahLst/>
              <a:cxnLst/>
              <a:rect r="r" b="b" t="t" l="l"/>
              <a:pathLst>
                <a:path h="2038604" w="22171152">
                  <a:moveTo>
                    <a:pt x="0" y="339725"/>
                  </a:moveTo>
                  <a:cubicBezTo>
                    <a:pt x="0" y="152146"/>
                    <a:pt x="152146" y="0"/>
                    <a:pt x="339725" y="0"/>
                  </a:cubicBezTo>
                  <a:lnTo>
                    <a:pt x="21831427" y="0"/>
                  </a:lnTo>
                  <a:cubicBezTo>
                    <a:pt x="22019133" y="0"/>
                    <a:pt x="22171152" y="152146"/>
                    <a:pt x="22171152" y="339725"/>
                  </a:cubicBezTo>
                  <a:lnTo>
                    <a:pt x="22171152" y="1698879"/>
                  </a:lnTo>
                  <a:cubicBezTo>
                    <a:pt x="22171152" y="1886585"/>
                    <a:pt x="22019006" y="2038604"/>
                    <a:pt x="21831427" y="2038604"/>
                  </a:cubicBezTo>
                  <a:lnTo>
                    <a:pt x="339725" y="2038604"/>
                  </a:lnTo>
                  <a:cubicBezTo>
                    <a:pt x="152146" y="2038731"/>
                    <a:pt x="0" y="1886585"/>
                    <a:pt x="0" y="1698879"/>
                  </a:cubicBezTo>
                  <a:close/>
                </a:path>
              </a:pathLst>
            </a:custGeom>
            <a:solidFill>
              <a:srgbClr val="F0FDFA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823608" y="7892863"/>
            <a:ext cx="109814" cy="1509941"/>
            <a:chOff x="0" y="0"/>
            <a:chExt cx="146418" cy="201325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46431" cy="2013204"/>
            </a:xfrm>
            <a:custGeom>
              <a:avLst/>
              <a:gdLst/>
              <a:ahLst/>
              <a:cxnLst/>
              <a:rect r="r" b="b" t="t" l="l"/>
              <a:pathLst>
                <a:path h="2013204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988820"/>
                  </a:lnTo>
                  <a:cubicBezTo>
                    <a:pt x="146431" y="2002282"/>
                    <a:pt x="135509" y="2013204"/>
                    <a:pt x="122047" y="2013204"/>
                  </a:cubicBezTo>
                  <a:lnTo>
                    <a:pt x="24384" y="2013204"/>
                  </a:lnTo>
                  <a:cubicBezTo>
                    <a:pt x="10922" y="2013204"/>
                    <a:pt x="0" y="2002282"/>
                    <a:pt x="0" y="1988820"/>
                  </a:cubicBezTo>
                  <a:close/>
                </a:path>
              </a:pathLst>
            </a:custGeom>
            <a:solidFill>
              <a:srgbClr val="0F766E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098137" y="8085039"/>
            <a:ext cx="16128902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Data Domain Coverage</a:t>
            </a:r>
          </a:p>
          <a:p>
            <a:pPr algn="l">
              <a:lnSpc>
                <a:spcPts val="2251"/>
              </a:lnSpc>
            </a:pP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- Orders: Lifecycle status &amp; timestamp milestones   - Products: Category dimensions &amp; physical weights   - Sellers: State/City locations &amp; fulfillment rates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- Freight: Cost &amp; distance-stage transit duration   - Reviews: Customer experience proxy (1-5 scale)    - Payments: Payment method mix &amp; transaction values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823608" y="9677343"/>
            <a:ext cx="16654634" cy="20593"/>
            <a:chOff x="0" y="0"/>
            <a:chExt cx="22206179" cy="2745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2206204" cy="27432"/>
            </a:xfrm>
            <a:custGeom>
              <a:avLst/>
              <a:gdLst/>
              <a:ahLst/>
              <a:cxnLst/>
              <a:rect r="r" b="b" t="t" l="l"/>
              <a:pathLst>
                <a:path h="27432" w="22206204">
                  <a:moveTo>
                    <a:pt x="0" y="0"/>
                  </a:moveTo>
                  <a:lnTo>
                    <a:pt x="22206204" y="0"/>
                  </a:lnTo>
                  <a:lnTo>
                    <a:pt x="22206204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D8E3F0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823608" y="9773431"/>
            <a:ext cx="5490686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Slide 2 of 20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987546" y="9773431"/>
            <a:ext cx="5490686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11"/>
              </a:lnSpc>
            </a:pPr>
            <a:r>
              <a:rPr lang="en-US" sz="1426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Final Project Presentation | M1-M4 Complete Journey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98137" y="5401913"/>
            <a:ext cx="4800962" cy="1502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8"/>
              </a:lnSpc>
            </a:pPr>
            <a:r>
              <a:rPr lang="en-US" sz="140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Transactional e-commerce data is fragmented across orders, items, payments, sellers, customers, and geolocation. Leadership requires a unified control tower to monitor fulfilment velocity, uncover delay patterns, and curb runaway freight costs.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726098" y="5401913"/>
            <a:ext cx="4804343" cy="1197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58"/>
              </a:lnSpc>
              <a:spcBef>
                <a:spcPct val="0"/>
              </a:spcBef>
            </a:pPr>
            <a:r>
              <a:rPr lang="en-US" sz="1405" strike="noStrike" u="non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Olist tables feature one-to-many relationships causing duplicated rows in merged datasets. Simple SUM operations inflate sales and freight. Every KPI must be engineered with duplicate-safe logic at the correct analytical grain.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285421" y="5401913"/>
            <a:ext cx="4941618" cy="1197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58"/>
              </a:lnSpc>
              <a:spcBef>
                <a:spcPct val="0"/>
              </a:spcBef>
            </a:pPr>
            <a:r>
              <a:rPr lang="en-US" sz="1405" strike="noStrike" u="non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Deliver four integrated milestones: establishing clean data trustworthiness, creating operational control tower visibility, diagnosing seller/route bottlenecks, and enabling executive decision support.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823608" y="2470814"/>
            <a:ext cx="3123500" cy="1506818"/>
            <a:chOff x="0" y="0"/>
            <a:chExt cx="3957320" cy="190906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957320" cy="1909064"/>
            </a:xfrm>
            <a:custGeom>
              <a:avLst/>
              <a:gdLst/>
              <a:ahLst/>
              <a:cxnLst/>
              <a:rect r="r" b="b" t="t" l="l"/>
              <a:pathLst>
                <a:path h="1909064" w="3957320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3808984" y="0"/>
                  </a:lnTo>
                  <a:cubicBezTo>
                    <a:pt x="3890899" y="0"/>
                    <a:pt x="3957320" y="66421"/>
                    <a:pt x="3957320" y="148336"/>
                  </a:cubicBezTo>
                  <a:lnTo>
                    <a:pt x="3957320" y="1760728"/>
                  </a:lnTo>
                  <a:cubicBezTo>
                    <a:pt x="3957320" y="1842643"/>
                    <a:pt x="3890899" y="1909064"/>
                    <a:pt x="3808984" y="1909064"/>
                  </a:cubicBezTo>
                  <a:lnTo>
                    <a:pt x="148336" y="1909064"/>
                  </a:lnTo>
                  <a:cubicBezTo>
                    <a:pt x="66421" y="1909064"/>
                    <a:pt x="0" y="1842643"/>
                    <a:pt x="0" y="176072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823608" y="2470814"/>
            <a:ext cx="92221" cy="1506818"/>
            <a:chOff x="0" y="0"/>
            <a:chExt cx="116840" cy="190906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16840" cy="1909064"/>
            </a:xfrm>
            <a:custGeom>
              <a:avLst/>
              <a:gdLst/>
              <a:ahLst/>
              <a:cxnLst/>
              <a:rect r="r" b="b" t="t" l="l"/>
              <a:pathLst>
                <a:path h="1909064" w="116840">
                  <a:moveTo>
                    <a:pt x="0" y="0"/>
                  </a:moveTo>
                  <a:lnTo>
                    <a:pt x="116840" y="0"/>
                  </a:lnTo>
                  <a:lnTo>
                    <a:pt x="116840" y="1909064"/>
                  </a:lnTo>
                  <a:lnTo>
                    <a:pt x="0" y="1909064"/>
                  </a:lnTo>
                  <a:close/>
                </a:path>
              </a:pathLst>
            </a:custGeom>
            <a:solidFill>
              <a:srgbClr val="2563EB"/>
            </a:solidFill>
            <a:ln w="1905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064586" y="2654054"/>
            <a:ext cx="2757020" cy="288693"/>
            <a:chOff x="0" y="0"/>
            <a:chExt cx="3493008" cy="36576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493008" cy="365760"/>
            </a:xfrm>
            <a:custGeom>
              <a:avLst/>
              <a:gdLst/>
              <a:ahLst/>
              <a:cxnLst/>
              <a:rect r="r" b="b" t="t" l="l"/>
              <a:pathLst>
                <a:path h="365760" w="3493008">
                  <a:moveTo>
                    <a:pt x="0" y="0"/>
                  </a:moveTo>
                  <a:lnTo>
                    <a:pt x="3493008" y="0"/>
                  </a:lnTo>
                  <a:lnTo>
                    <a:pt x="3493008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6082" r="0" b="-136082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3493008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Raw</a:t>
              </a:r>
              <a:r>
                <a:rPr lang="en-US" sz="1350" b="true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Records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4411676" y="2654054"/>
            <a:ext cx="2757020" cy="288693"/>
            <a:chOff x="0" y="0"/>
            <a:chExt cx="3493008" cy="3657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493008" cy="365760"/>
            </a:xfrm>
            <a:custGeom>
              <a:avLst/>
              <a:gdLst/>
              <a:ahLst/>
              <a:cxnLst/>
              <a:rect r="r" b="b" t="t" l="l"/>
              <a:pathLst>
                <a:path h="365760" w="3493008">
                  <a:moveTo>
                    <a:pt x="0" y="0"/>
                  </a:moveTo>
                  <a:lnTo>
                    <a:pt x="3493008" y="0"/>
                  </a:lnTo>
                  <a:lnTo>
                    <a:pt x="3493008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6082" r="0" b="-136082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3493008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>
                  <a:solidFill>
                    <a:srgbClr val="0F766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Cleaned</a:t>
              </a:r>
              <a:r>
                <a:rPr lang="en-US" b="true" sz="1350">
                  <a:solidFill>
                    <a:srgbClr val="0F766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Records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7811910" y="2654054"/>
            <a:ext cx="2757020" cy="288693"/>
            <a:chOff x="0" y="0"/>
            <a:chExt cx="3493008" cy="36576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493008" cy="365760"/>
            </a:xfrm>
            <a:custGeom>
              <a:avLst/>
              <a:gdLst/>
              <a:ahLst/>
              <a:cxnLst/>
              <a:rect r="r" b="b" t="t" l="l"/>
              <a:pathLst>
                <a:path h="365760" w="3493008">
                  <a:moveTo>
                    <a:pt x="0" y="0"/>
                  </a:moveTo>
                  <a:lnTo>
                    <a:pt x="3493008" y="0"/>
                  </a:lnTo>
                  <a:lnTo>
                    <a:pt x="3493008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6082" r="0" b="-136082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3493008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>
                  <a:solidFill>
                    <a:srgbClr val="7C3AE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Distinct Orders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1174959" y="2654054"/>
            <a:ext cx="2757020" cy="288693"/>
            <a:chOff x="0" y="0"/>
            <a:chExt cx="3493008" cy="3657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493008" cy="365760"/>
            </a:xfrm>
            <a:custGeom>
              <a:avLst/>
              <a:gdLst/>
              <a:ahLst/>
              <a:cxnLst/>
              <a:rect r="r" b="b" t="t" l="l"/>
              <a:pathLst>
                <a:path h="365760" w="3493008">
                  <a:moveTo>
                    <a:pt x="0" y="0"/>
                  </a:moveTo>
                  <a:lnTo>
                    <a:pt x="3493008" y="0"/>
                  </a:lnTo>
                  <a:lnTo>
                    <a:pt x="3493008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6082" r="0" b="-136082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3493008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>
                  <a:solidFill>
                    <a:srgbClr val="F59E0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Movement Lines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4530764" y="2654054"/>
            <a:ext cx="2757020" cy="288693"/>
            <a:chOff x="0" y="0"/>
            <a:chExt cx="3493008" cy="36576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493008" cy="365760"/>
            </a:xfrm>
            <a:custGeom>
              <a:avLst/>
              <a:gdLst/>
              <a:ahLst/>
              <a:cxnLst/>
              <a:rect r="r" b="b" t="t" l="l"/>
              <a:pathLst>
                <a:path h="365760" w="3493008">
                  <a:moveTo>
                    <a:pt x="0" y="0"/>
                  </a:moveTo>
                  <a:lnTo>
                    <a:pt x="3493008" y="0"/>
                  </a:lnTo>
                  <a:lnTo>
                    <a:pt x="3493008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6082" r="0" b="-136082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3493008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>
                  <a:solidFill>
                    <a:srgbClr val="16A34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On-Time Delivery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064586" y="2980847"/>
            <a:ext cx="2757020" cy="592866"/>
            <a:chOff x="0" y="0"/>
            <a:chExt cx="3493008" cy="75113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493008" cy="751132"/>
            </a:xfrm>
            <a:custGeom>
              <a:avLst/>
              <a:gdLst/>
              <a:ahLst/>
              <a:cxnLst/>
              <a:rect r="r" b="b" t="t" l="l"/>
              <a:pathLst>
                <a:path h="751132" w="3493008">
                  <a:moveTo>
                    <a:pt x="0" y="0"/>
                  </a:moveTo>
                  <a:lnTo>
                    <a:pt x="3493008" y="0"/>
                  </a:lnTo>
                  <a:lnTo>
                    <a:pt x="3493008" y="751132"/>
                  </a:lnTo>
                  <a:lnTo>
                    <a:pt x="0" y="7511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351" r="0" b="-36871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3493008" cy="7511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119,143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4411676" y="2980847"/>
            <a:ext cx="2757020" cy="592866"/>
            <a:chOff x="0" y="0"/>
            <a:chExt cx="3493008" cy="75113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493008" cy="751132"/>
            </a:xfrm>
            <a:custGeom>
              <a:avLst/>
              <a:gdLst/>
              <a:ahLst/>
              <a:cxnLst/>
              <a:rect r="r" b="b" t="t" l="l"/>
              <a:pathLst>
                <a:path h="751132" w="3493008">
                  <a:moveTo>
                    <a:pt x="0" y="0"/>
                  </a:moveTo>
                  <a:lnTo>
                    <a:pt x="3493008" y="0"/>
                  </a:lnTo>
                  <a:lnTo>
                    <a:pt x="3493008" y="751132"/>
                  </a:lnTo>
                  <a:lnTo>
                    <a:pt x="0" y="7511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351" r="0" b="-36871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0"/>
              <a:ext cx="3493008" cy="7511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66,039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7811910" y="2980847"/>
            <a:ext cx="2757020" cy="592866"/>
            <a:chOff x="0" y="0"/>
            <a:chExt cx="3493008" cy="75113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493008" cy="751132"/>
            </a:xfrm>
            <a:custGeom>
              <a:avLst/>
              <a:gdLst/>
              <a:ahLst/>
              <a:cxnLst/>
              <a:rect r="r" b="b" t="t" l="l"/>
              <a:pathLst>
                <a:path h="751132" w="3493008">
                  <a:moveTo>
                    <a:pt x="0" y="0"/>
                  </a:moveTo>
                  <a:lnTo>
                    <a:pt x="3493008" y="0"/>
                  </a:lnTo>
                  <a:lnTo>
                    <a:pt x="3493008" y="751132"/>
                  </a:lnTo>
                  <a:lnTo>
                    <a:pt x="0" y="7511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351" r="0" b="-36871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0"/>
              <a:ext cx="3493008" cy="7511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55,649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1174959" y="2980847"/>
            <a:ext cx="2757020" cy="592866"/>
            <a:chOff x="0" y="0"/>
            <a:chExt cx="3493008" cy="75113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493008" cy="751132"/>
            </a:xfrm>
            <a:custGeom>
              <a:avLst/>
              <a:gdLst/>
              <a:ahLst/>
              <a:cxnLst/>
              <a:rect r="r" b="b" t="t" l="l"/>
              <a:pathLst>
                <a:path h="751132" w="3493008">
                  <a:moveTo>
                    <a:pt x="0" y="0"/>
                  </a:moveTo>
                  <a:lnTo>
                    <a:pt x="3493008" y="0"/>
                  </a:lnTo>
                  <a:lnTo>
                    <a:pt x="3493008" y="751132"/>
                  </a:lnTo>
                  <a:lnTo>
                    <a:pt x="0" y="7511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351" r="0" b="-36871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3493008" cy="7511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63,089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4530764" y="2980847"/>
            <a:ext cx="2757020" cy="592866"/>
            <a:chOff x="0" y="0"/>
            <a:chExt cx="3493008" cy="75113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493008" cy="751132"/>
            </a:xfrm>
            <a:custGeom>
              <a:avLst/>
              <a:gdLst/>
              <a:ahLst/>
              <a:cxnLst/>
              <a:rect r="r" b="b" t="t" l="l"/>
              <a:pathLst>
                <a:path h="751132" w="3493008">
                  <a:moveTo>
                    <a:pt x="0" y="0"/>
                  </a:moveTo>
                  <a:lnTo>
                    <a:pt x="3493008" y="0"/>
                  </a:lnTo>
                  <a:lnTo>
                    <a:pt x="3493008" y="751132"/>
                  </a:lnTo>
                  <a:lnTo>
                    <a:pt x="0" y="7511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351" r="0" b="-36871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0"/>
              <a:ext cx="3493008" cy="7511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93.91%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064586" y="3563437"/>
            <a:ext cx="2757020" cy="259824"/>
            <a:chOff x="0" y="0"/>
            <a:chExt cx="3493008" cy="329184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493008" cy="329184"/>
            </a:xfrm>
            <a:custGeom>
              <a:avLst/>
              <a:gdLst/>
              <a:ahLst/>
              <a:cxnLst/>
              <a:rect r="r" b="b" t="t" l="l"/>
              <a:pathLst>
                <a:path h="329184" w="3493008">
                  <a:moveTo>
                    <a:pt x="0" y="0"/>
                  </a:moveTo>
                  <a:lnTo>
                    <a:pt x="3493008" y="0"/>
                  </a:lnTo>
                  <a:lnTo>
                    <a:pt x="3493008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6757" r="0" b="-156757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0"/>
              <a:ext cx="3493008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40 Raw Columns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4411676" y="3563437"/>
            <a:ext cx="2757020" cy="259824"/>
            <a:chOff x="0" y="0"/>
            <a:chExt cx="3493008" cy="329184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493008" cy="329184"/>
            </a:xfrm>
            <a:custGeom>
              <a:avLst/>
              <a:gdLst/>
              <a:ahLst/>
              <a:cxnLst/>
              <a:rect r="r" b="b" t="t" l="l"/>
              <a:pathLst>
                <a:path h="329184" w="3493008">
                  <a:moveTo>
                    <a:pt x="0" y="0"/>
                  </a:moveTo>
                  <a:lnTo>
                    <a:pt x="3493008" y="0"/>
                  </a:lnTo>
                  <a:lnTo>
                    <a:pt x="3493008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6757" r="0" b="-156757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0"/>
              <a:ext cx="3493008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36 analytical fields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7811910" y="3563437"/>
            <a:ext cx="2757020" cy="259824"/>
            <a:chOff x="0" y="0"/>
            <a:chExt cx="3493008" cy="329184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3493008" cy="329184"/>
            </a:xfrm>
            <a:custGeom>
              <a:avLst/>
              <a:gdLst/>
              <a:ahLst/>
              <a:cxnLst/>
              <a:rect r="r" b="b" t="t" l="l"/>
              <a:pathLst>
                <a:path h="329184" w="3493008">
                  <a:moveTo>
                    <a:pt x="0" y="0"/>
                  </a:moveTo>
                  <a:lnTo>
                    <a:pt x="3493008" y="0"/>
                  </a:lnTo>
                  <a:lnTo>
                    <a:pt x="3493008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6757" r="0" b="-156757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0"/>
              <a:ext cx="3493008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Validated Order Grain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1174959" y="3563437"/>
            <a:ext cx="2757020" cy="259824"/>
            <a:chOff x="0" y="0"/>
            <a:chExt cx="3493008" cy="329184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493008" cy="329184"/>
            </a:xfrm>
            <a:custGeom>
              <a:avLst/>
              <a:gdLst/>
              <a:ahLst/>
              <a:cxnLst/>
              <a:rect r="r" b="b" t="t" l="l"/>
              <a:pathLst>
                <a:path h="329184" w="3493008">
                  <a:moveTo>
                    <a:pt x="0" y="0"/>
                  </a:moveTo>
                  <a:lnTo>
                    <a:pt x="3493008" y="0"/>
                  </a:lnTo>
                  <a:lnTo>
                    <a:pt x="3493008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6757" r="0" b="-156757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0"/>
              <a:ext cx="3493008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Item movement grain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4530764" y="3563437"/>
            <a:ext cx="2757020" cy="259824"/>
            <a:chOff x="0" y="0"/>
            <a:chExt cx="3493008" cy="329184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493008" cy="329184"/>
            </a:xfrm>
            <a:custGeom>
              <a:avLst/>
              <a:gdLst/>
              <a:ahLst/>
              <a:cxnLst/>
              <a:rect r="r" b="b" t="t" l="l"/>
              <a:pathLst>
                <a:path h="329184" w="3493008">
                  <a:moveTo>
                    <a:pt x="0" y="0"/>
                  </a:moveTo>
                  <a:lnTo>
                    <a:pt x="3493008" y="0"/>
                  </a:lnTo>
                  <a:lnTo>
                    <a:pt x="3493008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6757" r="0" b="-156757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3493008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Network Baseline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115187" y="4571619"/>
            <a:ext cx="2282190" cy="403098"/>
            <a:chOff x="0" y="0"/>
            <a:chExt cx="3042920" cy="537464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042920" cy="537464"/>
            </a:xfrm>
            <a:custGeom>
              <a:avLst/>
              <a:gdLst/>
              <a:ahLst/>
              <a:cxnLst/>
              <a:rect r="r" b="b" t="t" l="l"/>
              <a:pathLst>
                <a:path h="537464" w="3042920">
                  <a:moveTo>
                    <a:pt x="0" y="115189"/>
                  </a:moveTo>
                  <a:cubicBezTo>
                    <a:pt x="0" y="51562"/>
                    <a:pt x="51562" y="0"/>
                    <a:pt x="115189" y="0"/>
                  </a:cubicBezTo>
                  <a:lnTo>
                    <a:pt x="2927731" y="0"/>
                  </a:lnTo>
                  <a:cubicBezTo>
                    <a:pt x="2991358" y="0"/>
                    <a:pt x="3042920" y="51562"/>
                    <a:pt x="3042920" y="115189"/>
                  </a:cubicBezTo>
                  <a:lnTo>
                    <a:pt x="3042920" y="422275"/>
                  </a:lnTo>
                  <a:cubicBezTo>
                    <a:pt x="3042920" y="485902"/>
                    <a:pt x="2991358" y="537464"/>
                    <a:pt x="2927731" y="537464"/>
                  </a:cubicBezTo>
                  <a:lnTo>
                    <a:pt x="115189" y="537464"/>
                  </a:lnTo>
                  <a:cubicBezTo>
                    <a:pt x="51562" y="537464"/>
                    <a:pt x="0" y="485902"/>
                    <a:pt x="0" y="422275"/>
                  </a:cubicBezTo>
                  <a:close/>
                </a:path>
              </a:pathLst>
            </a:custGeom>
            <a:solidFill>
              <a:srgbClr val="2563EB">
                <a:alpha val="1176"/>
              </a:srgbClr>
            </a:solidFill>
            <a:ln w="1905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92" id="92"/>
          <p:cNvGrpSpPr/>
          <p:nvPr/>
        </p:nvGrpSpPr>
        <p:grpSpPr>
          <a:xfrm rot="0">
            <a:off x="6726098" y="4571619"/>
            <a:ext cx="2282190" cy="403098"/>
            <a:chOff x="0" y="0"/>
            <a:chExt cx="3042920" cy="537464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3042920" cy="537464"/>
            </a:xfrm>
            <a:custGeom>
              <a:avLst/>
              <a:gdLst/>
              <a:ahLst/>
              <a:cxnLst/>
              <a:rect r="r" b="b" t="t" l="l"/>
              <a:pathLst>
                <a:path h="537464" w="3042920">
                  <a:moveTo>
                    <a:pt x="0" y="115189"/>
                  </a:moveTo>
                  <a:cubicBezTo>
                    <a:pt x="0" y="51562"/>
                    <a:pt x="51562" y="0"/>
                    <a:pt x="115189" y="0"/>
                  </a:cubicBezTo>
                  <a:lnTo>
                    <a:pt x="2927731" y="0"/>
                  </a:lnTo>
                  <a:cubicBezTo>
                    <a:pt x="2991358" y="0"/>
                    <a:pt x="3042920" y="51562"/>
                    <a:pt x="3042920" y="115189"/>
                  </a:cubicBezTo>
                  <a:lnTo>
                    <a:pt x="3042920" y="422275"/>
                  </a:lnTo>
                  <a:cubicBezTo>
                    <a:pt x="3042920" y="485902"/>
                    <a:pt x="2991358" y="537464"/>
                    <a:pt x="2927731" y="537464"/>
                  </a:cubicBezTo>
                  <a:lnTo>
                    <a:pt x="115189" y="537464"/>
                  </a:lnTo>
                  <a:cubicBezTo>
                    <a:pt x="51562" y="537464"/>
                    <a:pt x="0" y="485902"/>
                    <a:pt x="0" y="422275"/>
                  </a:cubicBezTo>
                  <a:close/>
                </a:path>
              </a:pathLst>
            </a:custGeom>
            <a:solidFill>
              <a:srgbClr val="2563EB">
                <a:alpha val="1176"/>
              </a:srgbClr>
            </a:solidFill>
            <a:ln w="1905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94" id="94"/>
          <p:cNvGrpSpPr/>
          <p:nvPr/>
        </p:nvGrpSpPr>
        <p:grpSpPr>
          <a:xfrm rot="0">
            <a:off x="12285421" y="4571619"/>
            <a:ext cx="2988620" cy="403098"/>
            <a:chOff x="0" y="0"/>
            <a:chExt cx="3984827" cy="537464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3984827" cy="537464"/>
            </a:xfrm>
            <a:custGeom>
              <a:avLst/>
              <a:gdLst/>
              <a:ahLst/>
              <a:cxnLst/>
              <a:rect r="r" b="b" t="t" l="l"/>
              <a:pathLst>
                <a:path h="537464" w="3984827">
                  <a:moveTo>
                    <a:pt x="0" y="115189"/>
                  </a:moveTo>
                  <a:cubicBezTo>
                    <a:pt x="0" y="51562"/>
                    <a:pt x="67523" y="0"/>
                    <a:pt x="150845" y="0"/>
                  </a:cubicBezTo>
                  <a:lnTo>
                    <a:pt x="3833982" y="0"/>
                  </a:lnTo>
                  <a:cubicBezTo>
                    <a:pt x="3917304" y="0"/>
                    <a:pt x="3984827" y="51562"/>
                    <a:pt x="3984827" y="115189"/>
                  </a:cubicBezTo>
                  <a:lnTo>
                    <a:pt x="3984827" y="422275"/>
                  </a:lnTo>
                  <a:cubicBezTo>
                    <a:pt x="3984827" y="485902"/>
                    <a:pt x="3917304" y="537464"/>
                    <a:pt x="3833982" y="537464"/>
                  </a:cubicBezTo>
                  <a:lnTo>
                    <a:pt x="150845" y="537464"/>
                  </a:lnTo>
                  <a:cubicBezTo>
                    <a:pt x="67523" y="537464"/>
                    <a:pt x="0" y="485902"/>
                    <a:pt x="0" y="422275"/>
                  </a:cubicBezTo>
                  <a:close/>
                </a:path>
              </a:pathLst>
            </a:custGeom>
            <a:solidFill>
              <a:srgbClr val="2563EB">
                <a:alpha val="1176"/>
              </a:srgbClr>
            </a:solidFill>
            <a:ln w="1905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96" id="96"/>
          <p:cNvGrpSpPr/>
          <p:nvPr/>
        </p:nvGrpSpPr>
        <p:grpSpPr>
          <a:xfrm rot="0">
            <a:off x="1330452" y="4666619"/>
            <a:ext cx="1851660" cy="213099"/>
            <a:chOff x="0" y="0"/>
            <a:chExt cx="2468880" cy="284131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468880" cy="284131"/>
            </a:xfrm>
            <a:custGeom>
              <a:avLst/>
              <a:gdLst/>
              <a:ahLst/>
              <a:cxnLst/>
              <a:rect r="r" b="b" t="t" l="l"/>
              <a:pathLst>
                <a:path h="284131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284131"/>
                  </a:lnTo>
                  <a:lnTo>
                    <a:pt x="0" y="28413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4254" r="0" b="-114364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0"/>
              <a:ext cx="2468880" cy="284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0"/>
                </a:lnSpc>
              </a:pPr>
              <a:r>
                <a:rPr lang="en-US" b="true" sz="1125" spc="120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BUSINESS PROBLEM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6811022" y="4666619"/>
            <a:ext cx="2112341" cy="213099"/>
            <a:chOff x="0" y="0"/>
            <a:chExt cx="2816455" cy="284131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816455" cy="284131"/>
            </a:xfrm>
            <a:custGeom>
              <a:avLst/>
              <a:gdLst/>
              <a:ahLst/>
              <a:cxnLst/>
              <a:rect r="r" b="b" t="t" l="l"/>
              <a:pathLst>
                <a:path h="284131" w="2816455">
                  <a:moveTo>
                    <a:pt x="0" y="0"/>
                  </a:moveTo>
                  <a:lnTo>
                    <a:pt x="2816455" y="0"/>
                  </a:lnTo>
                  <a:lnTo>
                    <a:pt x="2816455" y="284131"/>
                  </a:lnTo>
                  <a:lnTo>
                    <a:pt x="0" y="28413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4254" r="12340" b="-114364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0"/>
              <a:ext cx="2816455" cy="284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0"/>
                </a:lnSpc>
              </a:pPr>
              <a:r>
                <a:rPr lang="en-US" b="true" sz="1125" spc="120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ANALYTICAL CHALLENGE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2439604" y="4676144"/>
            <a:ext cx="2680255" cy="213099"/>
            <a:chOff x="0" y="0"/>
            <a:chExt cx="3573673" cy="284131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3573673" cy="284131"/>
            </a:xfrm>
            <a:custGeom>
              <a:avLst/>
              <a:gdLst/>
              <a:ahLst/>
              <a:cxnLst/>
              <a:rect r="r" b="b" t="t" l="l"/>
              <a:pathLst>
                <a:path h="284131" w="3573673">
                  <a:moveTo>
                    <a:pt x="0" y="0"/>
                  </a:moveTo>
                  <a:lnTo>
                    <a:pt x="3573673" y="0"/>
                  </a:lnTo>
                  <a:lnTo>
                    <a:pt x="3573673" y="284131"/>
                  </a:lnTo>
                  <a:lnTo>
                    <a:pt x="0" y="28413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4254" r="30914" b="-114364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0"/>
              <a:ext cx="3573673" cy="284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0"/>
                </a:lnSpc>
              </a:pPr>
              <a:r>
                <a:rPr lang="en-US" b="true" sz="1125" spc="120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DECISION SUPPORT OBJECTIVE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9814"/>
            <a:chOff x="0" y="0"/>
            <a:chExt cx="24402453" cy="146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46431"/>
            </a:xfrm>
            <a:custGeom>
              <a:avLst/>
              <a:gdLst/>
              <a:ahLst/>
              <a:cxnLst/>
              <a:rect r="r" b="b" t="t" l="l"/>
              <a:pathLst>
                <a:path h="14643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00B09B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23608" y="301990"/>
            <a:ext cx="10981382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0F766E"/>
                </a:solidFill>
                <a:latin typeface="Aptos Bold"/>
                <a:ea typeface="Aptos Bold"/>
                <a:cs typeface="Aptos Bold"/>
                <a:sym typeface="Aptos Bold"/>
              </a:rPr>
              <a:t>SUPPLY CHAIN VISIBILITY &amp; OPTIMISATION  -  MILESTONE 4 - TEAM 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23608" y="758895"/>
            <a:ext cx="10981382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0F766E"/>
                </a:solidFill>
                <a:latin typeface="Aptos Bold"/>
                <a:ea typeface="Aptos Bold"/>
                <a:cs typeface="Aptos Bold"/>
                <a:sym typeface="Aptos Bold"/>
              </a:rPr>
              <a:t>PROGRESSION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23608" y="1302087"/>
            <a:ext cx="1647206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Project Journey: Milestone 1 -&gt; 2 -&gt; 3 -&gt; 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3608" y="1857032"/>
            <a:ext cx="1647206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Each milestone systematically builds upon the previous foundation to reach executive decision maturity.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23608" y="2470814"/>
            <a:ext cx="3980755" cy="1166774"/>
            <a:chOff x="0" y="0"/>
            <a:chExt cx="5307673" cy="155569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07711" cy="1555750"/>
            </a:xfrm>
            <a:custGeom>
              <a:avLst/>
              <a:gdLst/>
              <a:ahLst/>
              <a:cxnLst/>
              <a:rect r="r" b="b" t="t" l="l"/>
              <a:pathLst>
                <a:path h="1555750" w="5307711">
                  <a:moveTo>
                    <a:pt x="0" y="259334"/>
                  </a:moveTo>
                  <a:cubicBezTo>
                    <a:pt x="0" y="116078"/>
                    <a:pt x="116078" y="0"/>
                    <a:pt x="259334" y="0"/>
                  </a:cubicBezTo>
                  <a:lnTo>
                    <a:pt x="5048377" y="0"/>
                  </a:lnTo>
                  <a:cubicBezTo>
                    <a:pt x="5191633" y="0"/>
                    <a:pt x="5307711" y="116078"/>
                    <a:pt x="5307711" y="259334"/>
                  </a:cubicBezTo>
                  <a:lnTo>
                    <a:pt x="5307711" y="1296416"/>
                  </a:lnTo>
                  <a:cubicBezTo>
                    <a:pt x="5307711" y="1439672"/>
                    <a:pt x="5191633" y="1555750"/>
                    <a:pt x="5048377" y="1555750"/>
                  </a:cubicBezTo>
                  <a:lnTo>
                    <a:pt x="259334" y="1555750"/>
                  </a:lnTo>
                  <a:cubicBezTo>
                    <a:pt x="116078" y="1555750"/>
                    <a:pt x="0" y="1439545"/>
                    <a:pt x="0" y="1296416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60872" y="2484254"/>
            <a:ext cx="3706216" cy="104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6"/>
              </a:lnSpc>
            </a:pPr>
            <a:r>
              <a:rPr lang="en-US" sz="1801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Milestone 1: </a:t>
            </a:r>
          </a:p>
          <a:p>
            <a:pPr algn="l">
              <a:lnSpc>
                <a:spcPts val="3026"/>
              </a:lnSpc>
            </a:pPr>
            <a:r>
              <a:rPr lang="en-US" sz="1801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Data Preparation</a:t>
            </a:r>
          </a:p>
          <a:p>
            <a:pPr algn="l">
              <a:lnSpc>
                <a:spcPts val="2395"/>
              </a:lnSpc>
            </a:pPr>
            <a:r>
              <a:rPr lang="en-US" sz="1426">
                <a:solidFill>
                  <a:srgbClr val="F0FDFA"/>
                </a:solidFill>
                <a:latin typeface="Aptos"/>
                <a:ea typeface="Aptos"/>
                <a:cs typeface="Aptos"/>
                <a:sym typeface="Aptos"/>
              </a:rPr>
              <a:t>MAKE DATA TRUSTWORTHY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28218" y="3765318"/>
            <a:ext cx="3976145" cy="4457538"/>
            <a:chOff x="0" y="0"/>
            <a:chExt cx="5301526" cy="594338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01526" cy="5943385"/>
            </a:xfrm>
            <a:custGeom>
              <a:avLst/>
              <a:gdLst/>
              <a:ahLst/>
              <a:cxnLst/>
              <a:rect r="r" b="b" t="t" l="l"/>
              <a:pathLst>
                <a:path h="5943385" w="5301526">
                  <a:moveTo>
                    <a:pt x="0" y="137861"/>
                  </a:moveTo>
                  <a:cubicBezTo>
                    <a:pt x="0" y="61722"/>
                    <a:pt x="31977" y="0"/>
                    <a:pt x="71424" y="0"/>
                  </a:cubicBezTo>
                  <a:lnTo>
                    <a:pt x="5230102" y="0"/>
                  </a:lnTo>
                  <a:cubicBezTo>
                    <a:pt x="5269549" y="0"/>
                    <a:pt x="5301526" y="61722"/>
                    <a:pt x="5301526" y="137861"/>
                  </a:cubicBezTo>
                  <a:lnTo>
                    <a:pt x="5301526" y="5805524"/>
                  </a:lnTo>
                  <a:cubicBezTo>
                    <a:pt x="5301526" y="5881663"/>
                    <a:pt x="5269549" y="5943385"/>
                    <a:pt x="5230102" y="5943385"/>
                  </a:cubicBezTo>
                  <a:lnTo>
                    <a:pt x="71424" y="5943385"/>
                  </a:lnTo>
                  <a:cubicBezTo>
                    <a:pt x="31977" y="5943384"/>
                    <a:pt x="0" y="5881662"/>
                    <a:pt x="0" y="580552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5040011" y="3765318"/>
            <a:ext cx="3976145" cy="4457538"/>
            <a:chOff x="0" y="0"/>
            <a:chExt cx="5301526" cy="594338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301526" cy="5943385"/>
            </a:xfrm>
            <a:custGeom>
              <a:avLst/>
              <a:gdLst/>
              <a:ahLst/>
              <a:cxnLst/>
              <a:rect r="r" b="b" t="t" l="l"/>
              <a:pathLst>
                <a:path h="5943385" w="5301526">
                  <a:moveTo>
                    <a:pt x="0" y="137861"/>
                  </a:moveTo>
                  <a:cubicBezTo>
                    <a:pt x="0" y="61722"/>
                    <a:pt x="31977" y="0"/>
                    <a:pt x="71424" y="0"/>
                  </a:cubicBezTo>
                  <a:lnTo>
                    <a:pt x="5230102" y="0"/>
                  </a:lnTo>
                  <a:cubicBezTo>
                    <a:pt x="5269549" y="0"/>
                    <a:pt x="5301526" y="61722"/>
                    <a:pt x="5301526" y="137861"/>
                  </a:cubicBezTo>
                  <a:lnTo>
                    <a:pt x="5301526" y="5805524"/>
                  </a:lnTo>
                  <a:cubicBezTo>
                    <a:pt x="5301526" y="5881663"/>
                    <a:pt x="5269549" y="5943385"/>
                    <a:pt x="5230102" y="5943385"/>
                  </a:cubicBezTo>
                  <a:lnTo>
                    <a:pt x="71424" y="5943385"/>
                  </a:lnTo>
                  <a:cubicBezTo>
                    <a:pt x="31977" y="5943384"/>
                    <a:pt x="0" y="5881662"/>
                    <a:pt x="0" y="580552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9248199" y="3765318"/>
            <a:ext cx="3976145" cy="4457538"/>
            <a:chOff x="0" y="0"/>
            <a:chExt cx="5301526" cy="594338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301526" cy="5943385"/>
            </a:xfrm>
            <a:custGeom>
              <a:avLst/>
              <a:gdLst/>
              <a:ahLst/>
              <a:cxnLst/>
              <a:rect r="r" b="b" t="t" l="l"/>
              <a:pathLst>
                <a:path h="5943385" w="5301526">
                  <a:moveTo>
                    <a:pt x="0" y="137861"/>
                  </a:moveTo>
                  <a:cubicBezTo>
                    <a:pt x="0" y="61722"/>
                    <a:pt x="31977" y="0"/>
                    <a:pt x="71424" y="0"/>
                  </a:cubicBezTo>
                  <a:lnTo>
                    <a:pt x="5230102" y="0"/>
                  </a:lnTo>
                  <a:cubicBezTo>
                    <a:pt x="5269549" y="0"/>
                    <a:pt x="5301526" y="61722"/>
                    <a:pt x="5301526" y="137861"/>
                  </a:cubicBezTo>
                  <a:lnTo>
                    <a:pt x="5301526" y="5805524"/>
                  </a:lnTo>
                  <a:cubicBezTo>
                    <a:pt x="5301526" y="5881663"/>
                    <a:pt x="5269549" y="5943385"/>
                    <a:pt x="5230102" y="5943385"/>
                  </a:cubicBezTo>
                  <a:lnTo>
                    <a:pt x="71424" y="5943385"/>
                  </a:lnTo>
                  <a:cubicBezTo>
                    <a:pt x="31977" y="5943384"/>
                    <a:pt x="0" y="5881662"/>
                    <a:pt x="0" y="580552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3452943" y="3765318"/>
            <a:ext cx="3976145" cy="4457538"/>
            <a:chOff x="0" y="0"/>
            <a:chExt cx="5301526" cy="594338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301526" cy="5943385"/>
            </a:xfrm>
            <a:custGeom>
              <a:avLst/>
              <a:gdLst/>
              <a:ahLst/>
              <a:cxnLst/>
              <a:rect r="r" b="b" t="t" l="l"/>
              <a:pathLst>
                <a:path h="5943385" w="5301526">
                  <a:moveTo>
                    <a:pt x="0" y="137861"/>
                  </a:moveTo>
                  <a:cubicBezTo>
                    <a:pt x="0" y="61722"/>
                    <a:pt x="31977" y="0"/>
                    <a:pt x="71424" y="0"/>
                  </a:cubicBezTo>
                  <a:lnTo>
                    <a:pt x="5230102" y="0"/>
                  </a:lnTo>
                  <a:cubicBezTo>
                    <a:pt x="5269549" y="0"/>
                    <a:pt x="5301526" y="61722"/>
                    <a:pt x="5301526" y="137861"/>
                  </a:cubicBezTo>
                  <a:lnTo>
                    <a:pt x="5301526" y="5805524"/>
                  </a:lnTo>
                  <a:cubicBezTo>
                    <a:pt x="5301526" y="5881663"/>
                    <a:pt x="5269549" y="5943385"/>
                    <a:pt x="5230102" y="5943385"/>
                  </a:cubicBezTo>
                  <a:lnTo>
                    <a:pt x="71424" y="5943385"/>
                  </a:lnTo>
                  <a:cubicBezTo>
                    <a:pt x="31977" y="5943384"/>
                    <a:pt x="0" y="5881662"/>
                    <a:pt x="0" y="580552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098137" y="3967020"/>
            <a:ext cx="3500314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Key Deliverables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5037706" y="2470814"/>
            <a:ext cx="3980755" cy="1166774"/>
            <a:chOff x="0" y="0"/>
            <a:chExt cx="5307673" cy="155569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307711" cy="1555750"/>
            </a:xfrm>
            <a:custGeom>
              <a:avLst/>
              <a:gdLst/>
              <a:ahLst/>
              <a:cxnLst/>
              <a:rect r="r" b="b" t="t" l="l"/>
              <a:pathLst>
                <a:path h="1555750" w="5307711">
                  <a:moveTo>
                    <a:pt x="0" y="259334"/>
                  </a:moveTo>
                  <a:cubicBezTo>
                    <a:pt x="0" y="116078"/>
                    <a:pt x="116078" y="0"/>
                    <a:pt x="259334" y="0"/>
                  </a:cubicBezTo>
                  <a:lnTo>
                    <a:pt x="5048377" y="0"/>
                  </a:lnTo>
                  <a:cubicBezTo>
                    <a:pt x="5191633" y="0"/>
                    <a:pt x="5307711" y="116078"/>
                    <a:pt x="5307711" y="259334"/>
                  </a:cubicBezTo>
                  <a:lnTo>
                    <a:pt x="5307711" y="1296416"/>
                  </a:lnTo>
                  <a:cubicBezTo>
                    <a:pt x="5307711" y="1439672"/>
                    <a:pt x="5191633" y="1555750"/>
                    <a:pt x="5048377" y="1555750"/>
                  </a:cubicBezTo>
                  <a:lnTo>
                    <a:pt x="259334" y="1555750"/>
                  </a:lnTo>
                  <a:cubicBezTo>
                    <a:pt x="116078" y="1555750"/>
                    <a:pt x="0" y="1439545"/>
                    <a:pt x="0" y="1296416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5174971" y="2484254"/>
            <a:ext cx="3706216" cy="104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6"/>
              </a:lnSpc>
            </a:pPr>
            <a:r>
              <a:rPr lang="en-US" sz="1801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Milestone 2: </a:t>
            </a:r>
          </a:p>
          <a:p>
            <a:pPr algn="l">
              <a:lnSpc>
                <a:spcPts val="3026"/>
              </a:lnSpc>
            </a:pPr>
            <a:r>
              <a:rPr lang="en-US" sz="1801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Control Tower</a:t>
            </a:r>
          </a:p>
          <a:p>
            <a:pPr algn="l">
              <a:lnSpc>
                <a:spcPts val="2395"/>
              </a:lnSpc>
            </a:pPr>
            <a:r>
              <a:rPr lang="en-US" sz="1426">
                <a:solidFill>
                  <a:srgbClr val="F0FDFA"/>
                </a:solidFill>
                <a:latin typeface="Aptos"/>
                <a:ea typeface="Aptos"/>
                <a:cs typeface="Aptos"/>
                <a:sym typeface="Aptos"/>
              </a:rPr>
              <a:t>MAKE OPERATIONS VISIBLE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312245" y="3967020"/>
            <a:ext cx="3500314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Key Deliverables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251813" y="2470814"/>
            <a:ext cx="3980755" cy="1166774"/>
            <a:chOff x="0" y="0"/>
            <a:chExt cx="5307673" cy="155569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307711" cy="1555750"/>
            </a:xfrm>
            <a:custGeom>
              <a:avLst/>
              <a:gdLst/>
              <a:ahLst/>
              <a:cxnLst/>
              <a:rect r="r" b="b" t="t" l="l"/>
              <a:pathLst>
                <a:path h="1555750" w="5307711">
                  <a:moveTo>
                    <a:pt x="0" y="259334"/>
                  </a:moveTo>
                  <a:cubicBezTo>
                    <a:pt x="0" y="116078"/>
                    <a:pt x="116078" y="0"/>
                    <a:pt x="259334" y="0"/>
                  </a:cubicBezTo>
                  <a:lnTo>
                    <a:pt x="5048377" y="0"/>
                  </a:lnTo>
                  <a:cubicBezTo>
                    <a:pt x="5191633" y="0"/>
                    <a:pt x="5307711" y="116078"/>
                    <a:pt x="5307711" y="259334"/>
                  </a:cubicBezTo>
                  <a:lnTo>
                    <a:pt x="5307711" y="1296416"/>
                  </a:lnTo>
                  <a:cubicBezTo>
                    <a:pt x="5307711" y="1439672"/>
                    <a:pt x="5191633" y="1555750"/>
                    <a:pt x="5048377" y="1555750"/>
                  </a:cubicBezTo>
                  <a:lnTo>
                    <a:pt x="259334" y="1555750"/>
                  </a:lnTo>
                  <a:cubicBezTo>
                    <a:pt x="116078" y="1555750"/>
                    <a:pt x="0" y="1439545"/>
                    <a:pt x="0" y="1296416"/>
                  </a:cubicBezTo>
                  <a:close/>
                </a:path>
              </a:pathLst>
            </a:custGeom>
            <a:solidFill>
              <a:srgbClr val="00B09B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9389078" y="2620804"/>
            <a:ext cx="3706216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Milestone 3:</a:t>
            </a:r>
          </a:p>
          <a:p>
            <a:pPr algn="l">
              <a:lnSpc>
                <a:spcPts val="3026"/>
              </a:lnSpc>
            </a:pPr>
            <a:r>
              <a:rPr lang="en-US" sz="1801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Performance Analytics</a:t>
            </a:r>
          </a:p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F0FDFA"/>
                </a:solidFill>
                <a:latin typeface="Aptos"/>
                <a:ea typeface="Aptos"/>
                <a:cs typeface="Aptos"/>
                <a:sym typeface="Aptos"/>
              </a:rPr>
              <a:t>DIAGNOSE &amp; EVALUATE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526343" y="3967020"/>
            <a:ext cx="3500314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Key Deliverables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3465912" y="2470814"/>
            <a:ext cx="3980755" cy="1166774"/>
            <a:chOff x="0" y="0"/>
            <a:chExt cx="5307673" cy="155569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307711" cy="1555750"/>
            </a:xfrm>
            <a:custGeom>
              <a:avLst/>
              <a:gdLst/>
              <a:ahLst/>
              <a:cxnLst/>
              <a:rect r="r" b="b" t="t" l="l"/>
              <a:pathLst>
                <a:path h="1555750" w="5307711">
                  <a:moveTo>
                    <a:pt x="0" y="259334"/>
                  </a:moveTo>
                  <a:cubicBezTo>
                    <a:pt x="0" y="116078"/>
                    <a:pt x="116078" y="0"/>
                    <a:pt x="259334" y="0"/>
                  </a:cubicBezTo>
                  <a:lnTo>
                    <a:pt x="5048377" y="0"/>
                  </a:lnTo>
                  <a:cubicBezTo>
                    <a:pt x="5191633" y="0"/>
                    <a:pt x="5307711" y="116078"/>
                    <a:pt x="5307711" y="259334"/>
                  </a:cubicBezTo>
                  <a:lnTo>
                    <a:pt x="5307711" y="1296416"/>
                  </a:lnTo>
                  <a:cubicBezTo>
                    <a:pt x="5307711" y="1439672"/>
                    <a:pt x="5191633" y="1555750"/>
                    <a:pt x="5048377" y="1555750"/>
                  </a:cubicBezTo>
                  <a:lnTo>
                    <a:pt x="259334" y="1555750"/>
                  </a:lnTo>
                  <a:cubicBezTo>
                    <a:pt x="116078" y="1555750"/>
                    <a:pt x="0" y="1439545"/>
                    <a:pt x="0" y="1296416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3603186" y="2489026"/>
            <a:ext cx="3706216" cy="104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6"/>
              </a:lnSpc>
            </a:pPr>
            <a:r>
              <a:rPr lang="en-US" sz="1801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Milestone 4:</a:t>
            </a:r>
          </a:p>
          <a:p>
            <a:pPr algn="l">
              <a:lnSpc>
                <a:spcPts val="3026"/>
              </a:lnSpc>
            </a:pPr>
            <a:r>
              <a:rPr lang="en-US" sz="1801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Decision Support</a:t>
            </a:r>
          </a:p>
          <a:p>
            <a:pPr algn="l">
              <a:lnSpc>
                <a:spcPts val="2395"/>
              </a:lnSpc>
            </a:pPr>
            <a:r>
              <a:rPr lang="en-US" sz="1426">
                <a:solidFill>
                  <a:srgbClr val="F0FDFA"/>
                </a:solidFill>
                <a:latin typeface="Aptos"/>
                <a:ea typeface="Aptos"/>
                <a:cs typeface="Aptos"/>
                <a:sym typeface="Aptos"/>
              </a:rPr>
              <a:t>EXECUTIVE OPTIMISATION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740451" y="3967020"/>
            <a:ext cx="3500314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Key Deliverables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814073" y="8432406"/>
            <a:ext cx="16628402" cy="1048569"/>
            <a:chOff x="0" y="0"/>
            <a:chExt cx="22171203" cy="139809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171279" cy="1398143"/>
            </a:xfrm>
            <a:custGeom>
              <a:avLst/>
              <a:gdLst/>
              <a:ahLst/>
              <a:cxnLst/>
              <a:rect r="r" b="b" t="t" l="l"/>
              <a:pathLst>
                <a:path h="1398143" w="22171279">
                  <a:moveTo>
                    <a:pt x="0" y="233045"/>
                  </a:moveTo>
                  <a:cubicBezTo>
                    <a:pt x="0" y="104267"/>
                    <a:pt x="104267" y="0"/>
                    <a:pt x="233045" y="0"/>
                  </a:cubicBezTo>
                  <a:lnTo>
                    <a:pt x="21938235" y="0"/>
                  </a:lnTo>
                  <a:cubicBezTo>
                    <a:pt x="22066886" y="0"/>
                    <a:pt x="22171279" y="104267"/>
                    <a:pt x="22171279" y="233045"/>
                  </a:cubicBezTo>
                  <a:lnTo>
                    <a:pt x="22171279" y="1165098"/>
                  </a:lnTo>
                  <a:cubicBezTo>
                    <a:pt x="22171279" y="1293749"/>
                    <a:pt x="22067013" y="1398143"/>
                    <a:pt x="21938235" y="1398143"/>
                  </a:cubicBezTo>
                  <a:lnTo>
                    <a:pt x="233045" y="1398143"/>
                  </a:lnTo>
                  <a:cubicBezTo>
                    <a:pt x="104267" y="1398143"/>
                    <a:pt x="0" y="1293749"/>
                    <a:pt x="0" y="1165098"/>
                  </a:cubicBezTo>
                  <a:close/>
                </a:path>
              </a:pathLst>
            </a:custGeom>
            <a:solidFill>
              <a:srgbClr val="F0FDFA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823608" y="8441931"/>
            <a:ext cx="109814" cy="1029500"/>
            <a:chOff x="0" y="0"/>
            <a:chExt cx="146418" cy="137266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46431" cy="1372616"/>
            </a:xfrm>
            <a:custGeom>
              <a:avLst/>
              <a:gdLst/>
              <a:ahLst/>
              <a:cxnLst/>
              <a:rect r="r" b="b" t="t" l="l"/>
              <a:pathLst>
                <a:path h="1372616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348232"/>
                  </a:lnTo>
                  <a:cubicBezTo>
                    <a:pt x="146431" y="1361694"/>
                    <a:pt x="135509" y="1372616"/>
                    <a:pt x="122047" y="1372616"/>
                  </a:cubicBezTo>
                  <a:lnTo>
                    <a:pt x="24384" y="1372616"/>
                  </a:lnTo>
                  <a:cubicBezTo>
                    <a:pt x="10922" y="1372616"/>
                    <a:pt x="0" y="1361694"/>
                    <a:pt x="0" y="1348232"/>
                  </a:cubicBezTo>
                  <a:close/>
                </a:path>
              </a:pathLst>
            </a:custGeom>
            <a:solidFill>
              <a:srgbClr val="0F766E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098137" y="8634108"/>
            <a:ext cx="16128902" cy="645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Cumulative Value Creation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The analytical grain, feature engineering, and data-cleaning decisions established in Milestone 1 remain the active, unbroken foundation for every dashboard and recommendation in Milestone 4.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823608" y="9677343"/>
            <a:ext cx="16654634" cy="20593"/>
            <a:chOff x="0" y="0"/>
            <a:chExt cx="22206179" cy="2745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2206204" cy="27432"/>
            </a:xfrm>
            <a:custGeom>
              <a:avLst/>
              <a:gdLst/>
              <a:ahLst/>
              <a:cxnLst/>
              <a:rect r="r" b="b" t="t" l="l"/>
              <a:pathLst>
                <a:path h="27432" w="22206204">
                  <a:moveTo>
                    <a:pt x="0" y="0"/>
                  </a:moveTo>
                  <a:lnTo>
                    <a:pt x="22206204" y="0"/>
                  </a:lnTo>
                  <a:lnTo>
                    <a:pt x="22206204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D8E3F0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823608" y="9773431"/>
            <a:ext cx="5490686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Slide 3 of 20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987546" y="9773431"/>
            <a:ext cx="5490686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11"/>
              </a:lnSpc>
            </a:pPr>
            <a:r>
              <a:rPr lang="en-US" sz="1426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Final Project Presentation | M1-M4 Complete Journey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98137" y="4281345"/>
            <a:ext cx="3434734" cy="2139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2"/>
              </a:lnSpc>
            </a:pPr>
            <a:r>
              <a:rPr lang="en-US" sz="1405" strike="noStrike" u="non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- Ingested 119k raw records</a:t>
            </a:r>
          </a:p>
          <a:p>
            <a:pPr algn="l" marL="0" indent="0" lvl="0">
              <a:lnSpc>
                <a:spcPts val="3512"/>
              </a:lnSpc>
            </a:pPr>
            <a:r>
              <a:rPr lang="en-US" sz="1405" strike="noStrike" u="non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- Python data profiling &amp; type checks</a:t>
            </a:r>
          </a:p>
          <a:p>
            <a:pPr algn="l" marL="0" indent="0" lvl="0">
              <a:lnSpc>
                <a:spcPts val="3512"/>
              </a:lnSpc>
            </a:pPr>
            <a:r>
              <a:rPr lang="en-US" sz="1405" strike="noStrike" u="non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- Handled missing &amp; high-null fields</a:t>
            </a:r>
          </a:p>
          <a:p>
            <a:pPr algn="l" marL="0" indent="0" lvl="0">
              <a:lnSpc>
                <a:spcPts val="3512"/>
              </a:lnSpc>
            </a:pPr>
            <a:r>
              <a:rPr lang="en-US" sz="1405" strike="noStrike" u="non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- IQR outlier filtering (66,039 rows)</a:t>
            </a:r>
          </a:p>
          <a:p>
            <a:pPr algn="l" marL="0" indent="0" lvl="0">
              <a:lnSpc>
                <a:spcPts val="3512"/>
              </a:lnSpc>
            </a:pPr>
            <a:r>
              <a:rPr lang="en-US" sz="1405" strike="noStrike" u="non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- Engineered delivery_delay feature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331295" y="4281345"/>
            <a:ext cx="3434734" cy="2139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2"/>
              </a:lnSpc>
            </a:pPr>
            <a:r>
              <a:rPr lang="en-US" sz="1405" strike="noStrike" u="non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- 5 Power BI interactive pages</a:t>
            </a:r>
          </a:p>
          <a:p>
            <a:pPr algn="l" marL="0" indent="0" lvl="0">
              <a:lnSpc>
                <a:spcPts val="3512"/>
              </a:lnSpc>
            </a:pPr>
            <a:r>
              <a:rPr lang="en-US" sz="1405" strike="noStrike" u="non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- Product movement as inventory proxy</a:t>
            </a:r>
          </a:p>
          <a:p>
            <a:pPr algn="l" marL="0" indent="0" lvl="0">
              <a:lnSpc>
                <a:spcPts val="3512"/>
              </a:lnSpc>
            </a:pPr>
            <a:r>
              <a:rPr lang="en-US" sz="1405" strike="noStrike" u="non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- ABC &amp; FSN classification</a:t>
            </a:r>
          </a:p>
          <a:p>
            <a:pPr algn="l" marL="0" indent="0" lvl="0">
              <a:lnSpc>
                <a:spcPts val="3512"/>
              </a:lnSpc>
            </a:pPr>
            <a:r>
              <a:rPr lang="en-US" sz="1405" strike="noStrike" u="non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- Delivery variance &amp; severity bands</a:t>
            </a:r>
          </a:p>
          <a:p>
            <a:pPr algn="l" marL="0" indent="0" lvl="0">
              <a:lnSpc>
                <a:spcPts val="3512"/>
              </a:lnSpc>
            </a:pPr>
            <a:r>
              <a:rPr lang="en-US" sz="1405" strike="noStrike" u="non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- Duplicate-safe DAX Total Sales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593128" y="4281345"/>
            <a:ext cx="3366743" cy="2139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2"/>
              </a:lnSpc>
            </a:pPr>
            <a:r>
              <a:rPr lang="en-US" sz="1405" strike="noStrike" u="non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- Quartile Seller Scorecards (235 eligible)</a:t>
            </a:r>
          </a:p>
          <a:p>
            <a:pPr algn="l" marL="0" indent="0" lvl="0">
              <a:lnSpc>
                <a:spcPts val="3512"/>
              </a:lnSpc>
            </a:pPr>
            <a:r>
              <a:rPr lang="en-US" sz="1405" strike="noStrike" u="non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- Route &amp; carrier-stage transit days</a:t>
            </a:r>
          </a:p>
          <a:p>
            <a:pPr algn="l" marL="0" indent="0" lvl="0">
              <a:lnSpc>
                <a:spcPts val="3512"/>
              </a:lnSpc>
            </a:pPr>
            <a:r>
              <a:rPr lang="en-US" sz="1405" strike="noStrike" u="non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- Haversine distance (304 routes)</a:t>
            </a:r>
          </a:p>
          <a:p>
            <a:pPr algn="l" marL="0" indent="0" lvl="0">
              <a:lnSpc>
                <a:spcPts val="3512"/>
              </a:lnSpc>
            </a:pPr>
            <a:r>
              <a:rPr lang="en-US" sz="1405" strike="noStrike" u="non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- Freight cost concentration in RJ/MG</a:t>
            </a:r>
          </a:p>
          <a:p>
            <a:pPr algn="l" marL="0" indent="0" lvl="0">
              <a:lnSpc>
                <a:spcPts val="3512"/>
              </a:lnSpc>
            </a:pPr>
            <a:r>
              <a:rPr lang="en-US" sz="1405" strike="noStrike" u="non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- Discovered 98 extreme transit outliers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716046" y="4281345"/>
            <a:ext cx="3510992" cy="2139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2"/>
              </a:lnSpc>
            </a:pPr>
            <a:r>
              <a:rPr lang="en-US" sz="1405" strike="noStrike" u="non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- Executive Overview dashboard</a:t>
            </a:r>
          </a:p>
          <a:p>
            <a:pPr algn="l" marL="0" indent="0" lvl="0">
              <a:lnSpc>
                <a:spcPts val="3512"/>
              </a:lnSpc>
            </a:pPr>
            <a:r>
              <a:rPr lang="en-US" sz="1405" strike="noStrike" u="non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- Delivery Efficiency &amp; seasonal trends</a:t>
            </a:r>
          </a:p>
          <a:p>
            <a:pPr algn="l" marL="0" indent="0" lvl="0">
              <a:lnSpc>
                <a:spcPts val="3512"/>
              </a:lnSpc>
            </a:pPr>
            <a:r>
              <a:rPr lang="en-US" sz="1405" strike="noStrike" u="non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- Transportation cost vs. pricing</a:t>
            </a:r>
          </a:p>
          <a:p>
            <a:pPr algn="l" marL="0" indent="0" lvl="0">
              <a:lnSpc>
                <a:spcPts val="3512"/>
              </a:lnSpc>
            </a:pPr>
            <a:r>
              <a:rPr lang="en-US" sz="1405" strike="noStrike" u="non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- Customer Experience &amp; rating drivers</a:t>
            </a:r>
          </a:p>
          <a:p>
            <a:pPr algn="l" marL="0" indent="0" lvl="0">
              <a:lnSpc>
                <a:spcPts val="3512"/>
              </a:lnSpc>
            </a:pPr>
            <a:r>
              <a:rPr lang="en-US" sz="1405" strike="noStrike" u="non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- Cross-functional operating rhythm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9814"/>
            <a:chOff x="0" y="0"/>
            <a:chExt cx="24402453" cy="146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46431"/>
            </a:xfrm>
            <a:custGeom>
              <a:avLst/>
              <a:gdLst/>
              <a:ahLst/>
              <a:cxnLst/>
              <a:rect r="r" b="b" t="t" l="l"/>
              <a:pathLst>
                <a:path h="14643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00B09B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23608" y="301990"/>
            <a:ext cx="10981382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0F766E"/>
                </a:solidFill>
                <a:latin typeface="Aptos Bold"/>
                <a:ea typeface="Aptos Bold"/>
                <a:cs typeface="Aptos Bold"/>
                <a:sym typeface="Aptos Bold"/>
              </a:rPr>
              <a:t>SUPPLY CHAIN VISIBILITY &amp; OPTIMISATION  -  MILESTONE 4 - TEAM 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23608" y="754971"/>
            <a:ext cx="10981382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0F766E"/>
                </a:solidFill>
                <a:latin typeface="Aptos Bold"/>
                <a:ea typeface="Aptos Bold"/>
                <a:cs typeface="Aptos Bold"/>
                <a:sym typeface="Aptos Bold"/>
              </a:rPr>
              <a:t>MILESTONE 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23608" y="1207499"/>
            <a:ext cx="1647206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Data Preparation &amp; Preprocessing Workflow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3608" y="1813589"/>
            <a:ext cx="1647206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Rigorous Python data engineering transformed 119k messy transactional rows into an analysis-ready foundation.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23608" y="2470814"/>
            <a:ext cx="3921652" cy="1506818"/>
            <a:chOff x="0" y="0"/>
            <a:chExt cx="4968539" cy="19090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968539" cy="1909064"/>
            </a:xfrm>
            <a:custGeom>
              <a:avLst/>
              <a:gdLst/>
              <a:ahLst/>
              <a:cxnLst/>
              <a:rect r="r" b="b" t="t" l="l"/>
              <a:pathLst>
                <a:path h="1909064" w="4968539">
                  <a:moveTo>
                    <a:pt x="0" y="148336"/>
                  </a:moveTo>
                  <a:cubicBezTo>
                    <a:pt x="0" y="66421"/>
                    <a:pt x="83394" y="0"/>
                    <a:pt x="186241" y="0"/>
                  </a:cubicBezTo>
                  <a:lnTo>
                    <a:pt x="4782299" y="0"/>
                  </a:lnTo>
                  <a:cubicBezTo>
                    <a:pt x="4885146" y="0"/>
                    <a:pt x="4968539" y="66421"/>
                    <a:pt x="4968539" y="148336"/>
                  </a:cubicBezTo>
                  <a:lnTo>
                    <a:pt x="4968539" y="1760728"/>
                  </a:lnTo>
                  <a:cubicBezTo>
                    <a:pt x="4968539" y="1842643"/>
                    <a:pt x="4885146" y="1909064"/>
                    <a:pt x="4782299" y="1909064"/>
                  </a:cubicBezTo>
                  <a:lnTo>
                    <a:pt x="186241" y="1909064"/>
                  </a:lnTo>
                  <a:cubicBezTo>
                    <a:pt x="83394" y="1909064"/>
                    <a:pt x="0" y="1842643"/>
                    <a:pt x="0" y="176072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823608" y="2470814"/>
            <a:ext cx="109814" cy="1509941"/>
            <a:chOff x="0" y="0"/>
            <a:chExt cx="146418" cy="201325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6431" cy="2013204"/>
            </a:xfrm>
            <a:custGeom>
              <a:avLst/>
              <a:gdLst/>
              <a:ahLst/>
              <a:cxnLst/>
              <a:rect r="r" b="b" t="t" l="l"/>
              <a:pathLst>
                <a:path h="2013204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988820"/>
                  </a:lnTo>
                  <a:cubicBezTo>
                    <a:pt x="146431" y="2002282"/>
                    <a:pt x="135509" y="2013204"/>
                    <a:pt x="122047" y="2013204"/>
                  </a:cubicBezTo>
                  <a:lnTo>
                    <a:pt x="24384" y="2013204"/>
                  </a:lnTo>
                  <a:cubicBezTo>
                    <a:pt x="10922" y="2013204"/>
                    <a:pt x="0" y="2002282"/>
                    <a:pt x="0" y="1988820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43235" y="2464757"/>
            <a:ext cx="3582676" cy="1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8"/>
              </a:lnSpc>
            </a:pPr>
            <a:r>
              <a:rPr lang="en-US" sz="3152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119,143</a:t>
            </a:r>
          </a:p>
          <a:p>
            <a:pPr algn="l">
              <a:lnSpc>
                <a:spcPts val="2774"/>
              </a:lnSpc>
            </a:pPr>
            <a:r>
              <a:rPr lang="en-US" sz="1576" b="true">
                <a:solidFill>
                  <a:srgbClr val="2563EB"/>
                </a:solidFill>
                <a:latin typeface="Aptos Bold"/>
                <a:ea typeface="Aptos Bold"/>
                <a:cs typeface="Aptos Bold"/>
                <a:sym typeface="Aptos Bold"/>
              </a:rPr>
              <a:t>Raw Records Ingested</a:t>
            </a:r>
          </a:p>
          <a:p>
            <a:pPr algn="l">
              <a:lnSpc>
                <a:spcPts val="2377"/>
              </a:lnSpc>
            </a:pPr>
            <a:r>
              <a:rPr lang="en-US" sz="1351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40 raw operational attributes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010255" y="2470814"/>
            <a:ext cx="3921652" cy="1506818"/>
            <a:chOff x="0" y="0"/>
            <a:chExt cx="4968539" cy="190906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968539" cy="1909064"/>
            </a:xfrm>
            <a:custGeom>
              <a:avLst/>
              <a:gdLst/>
              <a:ahLst/>
              <a:cxnLst/>
              <a:rect r="r" b="b" t="t" l="l"/>
              <a:pathLst>
                <a:path h="1909064" w="4968539">
                  <a:moveTo>
                    <a:pt x="0" y="148336"/>
                  </a:moveTo>
                  <a:cubicBezTo>
                    <a:pt x="0" y="66421"/>
                    <a:pt x="83394" y="0"/>
                    <a:pt x="186241" y="0"/>
                  </a:cubicBezTo>
                  <a:lnTo>
                    <a:pt x="4782299" y="0"/>
                  </a:lnTo>
                  <a:cubicBezTo>
                    <a:pt x="4885146" y="0"/>
                    <a:pt x="4968539" y="66421"/>
                    <a:pt x="4968539" y="148336"/>
                  </a:cubicBezTo>
                  <a:lnTo>
                    <a:pt x="4968539" y="1760728"/>
                  </a:lnTo>
                  <a:cubicBezTo>
                    <a:pt x="4968539" y="1842643"/>
                    <a:pt x="4885146" y="1909064"/>
                    <a:pt x="4782299" y="1909064"/>
                  </a:cubicBezTo>
                  <a:lnTo>
                    <a:pt x="186241" y="1909064"/>
                  </a:lnTo>
                  <a:cubicBezTo>
                    <a:pt x="83394" y="1909064"/>
                    <a:pt x="0" y="1842643"/>
                    <a:pt x="0" y="176072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5010255" y="2470814"/>
            <a:ext cx="109814" cy="1509941"/>
            <a:chOff x="0" y="0"/>
            <a:chExt cx="146418" cy="201325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431" cy="2013204"/>
            </a:xfrm>
            <a:custGeom>
              <a:avLst/>
              <a:gdLst/>
              <a:ahLst/>
              <a:cxnLst/>
              <a:rect r="r" b="b" t="t" l="l"/>
              <a:pathLst>
                <a:path h="2013204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988820"/>
                  </a:lnTo>
                  <a:cubicBezTo>
                    <a:pt x="146431" y="2002282"/>
                    <a:pt x="135509" y="2013204"/>
                    <a:pt x="122047" y="2013204"/>
                  </a:cubicBezTo>
                  <a:lnTo>
                    <a:pt x="24384" y="2013204"/>
                  </a:lnTo>
                  <a:cubicBezTo>
                    <a:pt x="10922" y="2013204"/>
                    <a:pt x="0" y="2002282"/>
                    <a:pt x="0" y="1988820"/>
                  </a:cubicBezTo>
                  <a:close/>
                </a:path>
              </a:pathLst>
            </a:custGeom>
            <a:solidFill>
              <a:srgbClr val="16A34A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5234368" y="2464757"/>
            <a:ext cx="3514363" cy="1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8"/>
              </a:lnSpc>
            </a:pPr>
            <a:r>
              <a:rPr lang="en-US" sz="3152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0</a:t>
            </a:r>
          </a:p>
          <a:p>
            <a:pPr algn="l">
              <a:lnSpc>
                <a:spcPts val="2774"/>
              </a:lnSpc>
            </a:pPr>
            <a:r>
              <a:rPr lang="en-US" sz="1576" b="true">
                <a:solidFill>
                  <a:srgbClr val="16A34A"/>
                </a:solidFill>
                <a:latin typeface="Aptos Bold"/>
                <a:ea typeface="Aptos Bold"/>
                <a:cs typeface="Aptos Bold"/>
                <a:sym typeface="Aptos Bold"/>
              </a:rPr>
              <a:t>Exact Duplicate Rows</a:t>
            </a:r>
          </a:p>
          <a:p>
            <a:pPr algn="l">
              <a:lnSpc>
                <a:spcPts val="2377"/>
              </a:lnSpc>
            </a:pPr>
            <a:r>
              <a:rPr lang="en-US" sz="1351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Verified distinct primary grain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196902" y="2470814"/>
            <a:ext cx="3921652" cy="1506818"/>
            <a:chOff x="0" y="0"/>
            <a:chExt cx="4968539" cy="190906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968539" cy="1909064"/>
            </a:xfrm>
            <a:custGeom>
              <a:avLst/>
              <a:gdLst/>
              <a:ahLst/>
              <a:cxnLst/>
              <a:rect r="r" b="b" t="t" l="l"/>
              <a:pathLst>
                <a:path h="1909064" w="4968539">
                  <a:moveTo>
                    <a:pt x="0" y="148336"/>
                  </a:moveTo>
                  <a:cubicBezTo>
                    <a:pt x="0" y="66421"/>
                    <a:pt x="83394" y="0"/>
                    <a:pt x="186241" y="0"/>
                  </a:cubicBezTo>
                  <a:lnTo>
                    <a:pt x="4782299" y="0"/>
                  </a:lnTo>
                  <a:cubicBezTo>
                    <a:pt x="4885146" y="0"/>
                    <a:pt x="4968539" y="66421"/>
                    <a:pt x="4968539" y="148336"/>
                  </a:cubicBezTo>
                  <a:lnTo>
                    <a:pt x="4968539" y="1760728"/>
                  </a:lnTo>
                  <a:cubicBezTo>
                    <a:pt x="4968539" y="1842643"/>
                    <a:pt x="4885146" y="1909064"/>
                    <a:pt x="4782299" y="1909064"/>
                  </a:cubicBezTo>
                  <a:lnTo>
                    <a:pt x="186241" y="1909064"/>
                  </a:lnTo>
                  <a:cubicBezTo>
                    <a:pt x="83394" y="1909064"/>
                    <a:pt x="0" y="1842643"/>
                    <a:pt x="0" y="176072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196902" y="2470814"/>
            <a:ext cx="109814" cy="1509941"/>
            <a:chOff x="0" y="0"/>
            <a:chExt cx="146418" cy="201325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6431" cy="2013204"/>
            </a:xfrm>
            <a:custGeom>
              <a:avLst/>
              <a:gdLst/>
              <a:ahLst/>
              <a:cxnLst/>
              <a:rect r="r" b="b" t="t" l="l"/>
              <a:pathLst>
                <a:path h="2013204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988820"/>
                  </a:lnTo>
                  <a:cubicBezTo>
                    <a:pt x="146431" y="2002282"/>
                    <a:pt x="135509" y="2013204"/>
                    <a:pt x="122047" y="2013204"/>
                  </a:cubicBezTo>
                  <a:lnTo>
                    <a:pt x="24384" y="2013204"/>
                  </a:lnTo>
                  <a:cubicBezTo>
                    <a:pt x="10922" y="2013204"/>
                    <a:pt x="0" y="2002282"/>
                    <a:pt x="0" y="1988820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421016" y="2464757"/>
            <a:ext cx="3514363" cy="1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8"/>
              </a:lnSpc>
            </a:pPr>
            <a:r>
              <a:rPr lang="en-US" sz="3152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81,170</a:t>
            </a:r>
          </a:p>
          <a:p>
            <a:pPr algn="l">
              <a:lnSpc>
                <a:spcPts val="2774"/>
              </a:lnSpc>
            </a:pPr>
            <a:r>
              <a:rPr lang="en-US" sz="1576" b="true">
                <a:solidFill>
                  <a:srgbClr val="7C3AED"/>
                </a:solidFill>
                <a:latin typeface="Aptos Bold"/>
                <a:ea typeface="Aptos Bold"/>
                <a:cs typeface="Aptos Bold"/>
                <a:sym typeface="Aptos Bold"/>
              </a:rPr>
              <a:t>Pre-Outlier Retained</a:t>
            </a:r>
          </a:p>
          <a:p>
            <a:pPr algn="l">
              <a:lnSpc>
                <a:spcPts val="2377"/>
              </a:lnSpc>
            </a:pPr>
            <a:r>
              <a:rPr lang="en-US" sz="1351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After null/noise treatment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3383558" y="2470814"/>
            <a:ext cx="4094683" cy="1506818"/>
            <a:chOff x="0" y="0"/>
            <a:chExt cx="5187761" cy="190906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187761" cy="1909064"/>
            </a:xfrm>
            <a:custGeom>
              <a:avLst/>
              <a:gdLst/>
              <a:ahLst/>
              <a:cxnLst/>
              <a:rect r="r" b="b" t="t" l="l"/>
              <a:pathLst>
                <a:path h="1909064" w="5187761">
                  <a:moveTo>
                    <a:pt x="0" y="148336"/>
                  </a:moveTo>
                  <a:cubicBezTo>
                    <a:pt x="0" y="66421"/>
                    <a:pt x="87073" y="0"/>
                    <a:pt x="194458" y="0"/>
                  </a:cubicBezTo>
                  <a:lnTo>
                    <a:pt x="4993304" y="0"/>
                  </a:lnTo>
                  <a:cubicBezTo>
                    <a:pt x="5100689" y="0"/>
                    <a:pt x="5187761" y="66421"/>
                    <a:pt x="5187761" y="148336"/>
                  </a:cubicBezTo>
                  <a:lnTo>
                    <a:pt x="5187761" y="1760728"/>
                  </a:lnTo>
                  <a:cubicBezTo>
                    <a:pt x="5187761" y="1842643"/>
                    <a:pt x="5100689" y="1909064"/>
                    <a:pt x="4993304" y="1909064"/>
                  </a:cubicBezTo>
                  <a:lnTo>
                    <a:pt x="194458" y="1909064"/>
                  </a:lnTo>
                  <a:cubicBezTo>
                    <a:pt x="87073" y="1909064"/>
                    <a:pt x="0" y="1842643"/>
                    <a:pt x="0" y="176072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3383558" y="2470814"/>
            <a:ext cx="109814" cy="1509941"/>
            <a:chOff x="0" y="0"/>
            <a:chExt cx="146418" cy="201325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6431" cy="2013204"/>
            </a:xfrm>
            <a:custGeom>
              <a:avLst/>
              <a:gdLst/>
              <a:ahLst/>
              <a:cxnLst/>
              <a:rect r="r" b="b" t="t" l="l"/>
              <a:pathLst>
                <a:path h="2013204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988820"/>
                  </a:lnTo>
                  <a:cubicBezTo>
                    <a:pt x="146431" y="2002282"/>
                    <a:pt x="135509" y="2013204"/>
                    <a:pt x="122047" y="2013204"/>
                  </a:cubicBezTo>
                  <a:lnTo>
                    <a:pt x="24384" y="2013204"/>
                  </a:lnTo>
                  <a:cubicBezTo>
                    <a:pt x="10922" y="2013204"/>
                    <a:pt x="0" y="2002282"/>
                    <a:pt x="0" y="1988820"/>
                  </a:cubicBezTo>
                  <a:close/>
                </a:path>
              </a:pathLst>
            </a:custGeom>
            <a:solidFill>
              <a:srgbClr val="00B09B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3607672" y="2464757"/>
            <a:ext cx="3651628" cy="1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8"/>
              </a:lnSpc>
            </a:pPr>
            <a:r>
              <a:rPr lang="en-US" sz="3152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66,039</a:t>
            </a:r>
          </a:p>
          <a:p>
            <a:pPr algn="l">
              <a:lnSpc>
                <a:spcPts val="2774"/>
              </a:lnSpc>
            </a:pPr>
            <a:r>
              <a:rPr lang="en-US" sz="1576" b="true">
                <a:solidFill>
                  <a:srgbClr val="00B09B"/>
                </a:solidFill>
                <a:latin typeface="Aptos Bold"/>
                <a:ea typeface="Aptos Bold"/>
                <a:cs typeface="Aptos Bold"/>
                <a:sym typeface="Aptos Bold"/>
              </a:rPr>
              <a:t>Final Cleaned Output</a:t>
            </a:r>
          </a:p>
          <a:p>
            <a:pPr algn="l">
              <a:lnSpc>
                <a:spcPts val="2377"/>
              </a:lnSpc>
            </a:pPr>
            <a:r>
              <a:rPr lang="en-US" sz="1351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36 verified analytical fields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814073" y="4180780"/>
            <a:ext cx="7980569" cy="3584353"/>
            <a:chOff x="0" y="0"/>
            <a:chExt cx="10640759" cy="477913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640758" cy="4779137"/>
            </a:xfrm>
            <a:custGeom>
              <a:avLst/>
              <a:gdLst/>
              <a:ahLst/>
              <a:cxnLst/>
              <a:rect r="r" b="b" t="t" l="l"/>
              <a:pathLst>
                <a:path h="4779137" w="10640758">
                  <a:moveTo>
                    <a:pt x="0" y="110855"/>
                  </a:moveTo>
                  <a:cubicBezTo>
                    <a:pt x="0" y="49631"/>
                    <a:pt x="64182" y="0"/>
                    <a:pt x="143355" y="0"/>
                  </a:cubicBezTo>
                  <a:lnTo>
                    <a:pt x="10497403" y="0"/>
                  </a:lnTo>
                  <a:cubicBezTo>
                    <a:pt x="10576577" y="0"/>
                    <a:pt x="10640758" y="49631"/>
                    <a:pt x="10640758" y="110855"/>
                  </a:cubicBezTo>
                  <a:lnTo>
                    <a:pt x="10640758" y="4668282"/>
                  </a:lnTo>
                  <a:cubicBezTo>
                    <a:pt x="10640758" y="4729506"/>
                    <a:pt x="10576577" y="4779137"/>
                    <a:pt x="10497403" y="4779137"/>
                  </a:cubicBezTo>
                  <a:lnTo>
                    <a:pt x="143355" y="4779137"/>
                  </a:lnTo>
                  <a:cubicBezTo>
                    <a:pt x="64182" y="4779137"/>
                    <a:pt x="0" y="4729506"/>
                    <a:pt x="0" y="466828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9059642" y="4180780"/>
            <a:ext cx="8382833" cy="3584353"/>
            <a:chOff x="0" y="0"/>
            <a:chExt cx="11177111" cy="477913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177111" cy="4779137"/>
            </a:xfrm>
            <a:custGeom>
              <a:avLst/>
              <a:gdLst/>
              <a:ahLst/>
              <a:cxnLst/>
              <a:rect r="r" b="b" t="t" l="l"/>
              <a:pathLst>
                <a:path h="4779137" w="11177111">
                  <a:moveTo>
                    <a:pt x="0" y="110855"/>
                  </a:moveTo>
                  <a:cubicBezTo>
                    <a:pt x="0" y="49631"/>
                    <a:pt x="67417" y="0"/>
                    <a:pt x="150581" y="0"/>
                  </a:cubicBezTo>
                  <a:lnTo>
                    <a:pt x="11026530" y="0"/>
                  </a:lnTo>
                  <a:cubicBezTo>
                    <a:pt x="11109695" y="0"/>
                    <a:pt x="11177111" y="49631"/>
                    <a:pt x="11177111" y="110855"/>
                  </a:cubicBezTo>
                  <a:lnTo>
                    <a:pt x="11177111" y="4668282"/>
                  </a:lnTo>
                  <a:cubicBezTo>
                    <a:pt x="11177111" y="4729506"/>
                    <a:pt x="11109695" y="4779137"/>
                    <a:pt x="11026530" y="4779137"/>
                  </a:cubicBezTo>
                  <a:lnTo>
                    <a:pt x="150581" y="4779137"/>
                  </a:lnTo>
                  <a:cubicBezTo>
                    <a:pt x="67417" y="4779137"/>
                    <a:pt x="0" y="4729506"/>
                    <a:pt x="0" y="466828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1098137" y="4516088"/>
            <a:ext cx="7481068" cy="2807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6-Stage Preprocessing Pipeline</a:t>
            </a:r>
          </a:p>
          <a:p>
            <a:pPr algn="l">
              <a:lnSpc>
                <a:spcPts val="3482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1. Data Profiling: Evaluated missingness patterns, field cardinality, and data types.</a:t>
            </a:r>
          </a:p>
          <a:p>
            <a:pPr algn="l">
              <a:lnSpc>
                <a:spcPts val="3482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2. Noise Elimination: Removed high-null columns and non-operational attributes.</a:t>
            </a:r>
          </a:p>
          <a:p>
            <a:pPr algn="l">
              <a:lnSpc>
                <a:spcPts val="3482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3. Integrity Checks: Validated numeric bounds on product dimensions, price, and freight.</a:t>
            </a:r>
          </a:p>
          <a:p>
            <a:pPr algn="l">
              <a:lnSpc>
                <a:spcPts val="3482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4. Date Harmonization: Converted raw timestamps into standardized date formats.</a:t>
            </a:r>
          </a:p>
          <a:p>
            <a:pPr algn="l">
              <a:lnSpc>
                <a:spcPts val="3482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5. Feature Engineering: Computed delivery delta (actual vs. estimated date).</a:t>
            </a:r>
          </a:p>
          <a:p>
            <a:pPr algn="l">
              <a:lnSpc>
                <a:spcPts val="3482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6. Outlier Handling: Applied statistical IQR filtering to exclude extreme noise.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279265" y="4399855"/>
            <a:ext cx="7934049" cy="30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0F766E"/>
                </a:solidFill>
                <a:latin typeface="Aptos Bold"/>
                <a:ea typeface="Aptos Bold"/>
                <a:cs typeface="Aptos Bold"/>
                <a:sym typeface="Aptos Bold"/>
              </a:rPr>
              <a:t>PYTHON LOGIC — FEATURE ENGINEERING &amp; OUTLIER RULE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279265" y="4734601"/>
            <a:ext cx="7934049" cy="2911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# Feature Engineering: Delivery Delay (Days)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df['delivery_delay'] = (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    pd.to_datetime(df['order_delivered_customer_date'])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    - pd.to_datetime(df['order_estimated_delivery_date'])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).dt.total_seconds() / (24 * 3600)</a:t>
            </a:r>
          </a:p>
          <a:p>
            <a:pPr algn="l">
              <a:lnSpc>
                <a:spcPts val="1621"/>
              </a:lnSpc>
            </a:pP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# Statistical Outlier Filtering via IQR Method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Q1 = df['delivery_delay'].quantile(0.25)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Q3 = df['delivery_delay'].quantile(0.75)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IQR = Q3 - Q1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lower_bound = Q1 - 1.5 * IQR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upper_bound = Q3 + 1.5 * IQR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cleaned_df = df[(df['delivery_delay'] &gt;= lower_bound) &amp; 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                (df['delivery_delay'] &lt;= upper_bound)] # 66,039 rows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814073" y="7951965"/>
            <a:ext cx="16628402" cy="1460373"/>
            <a:chOff x="0" y="0"/>
            <a:chExt cx="22171203" cy="194716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2171152" cy="1947164"/>
            </a:xfrm>
            <a:custGeom>
              <a:avLst/>
              <a:gdLst/>
              <a:ahLst/>
              <a:cxnLst/>
              <a:rect r="r" b="b" t="t" l="l"/>
              <a:pathLst>
                <a:path h="1947164" w="22171152">
                  <a:moveTo>
                    <a:pt x="0" y="324485"/>
                  </a:moveTo>
                  <a:cubicBezTo>
                    <a:pt x="0" y="145288"/>
                    <a:pt x="145288" y="0"/>
                    <a:pt x="324485" y="0"/>
                  </a:cubicBezTo>
                  <a:lnTo>
                    <a:pt x="21846667" y="0"/>
                  </a:lnTo>
                  <a:cubicBezTo>
                    <a:pt x="22025863" y="0"/>
                    <a:pt x="22171152" y="145288"/>
                    <a:pt x="22171152" y="324485"/>
                  </a:cubicBezTo>
                  <a:lnTo>
                    <a:pt x="22171152" y="1622679"/>
                  </a:lnTo>
                  <a:cubicBezTo>
                    <a:pt x="22171152" y="1801876"/>
                    <a:pt x="22025863" y="1947164"/>
                    <a:pt x="21846667" y="1947164"/>
                  </a:cubicBezTo>
                  <a:lnTo>
                    <a:pt x="324485" y="1947164"/>
                  </a:lnTo>
                  <a:cubicBezTo>
                    <a:pt x="145288" y="1947164"/>
                    <a:pt x="0" y="1801876"/>
                    <a:pt x="0" y="1622679"/>
                  </a:cubicBezTo>
                  <a:close/>
                </a:path>
              </a:pathLst>
            </a:custGeom>
            <a:solidFill>
              <a:srgbClr val="F0FDFA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823608" y="7961500"/>
            <a:ext cx="109814" cy="1441304"/>
            <a:chOff x="0" y="0"/>
            <a:chExt cx="146418" cy="192173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46431" cy="1921764"/>
            </a:xfrm>
            <a:custGeom>
              <a:avLst/>
              <a:gdLst/>
              <a:ahLst/>
              <a:cxnLst/>
              <a:rect r="r" b="b" t="t" l="l"/>
              <a:pathLst>
                <a:path h="1921764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897380"/>
                  </a:lnTo>
                  <a:cubicBezTo>
                    <a:pt x="146431" y="1910842"/>
                    <a:pt x="135509" y="1921764"/>
                    <a:pt x="122047" y="1921764"/>
                  </a:cubicBezTo>
                  <a:lnTo>
                    <a:pt x="24384" y="1921764"/>
                  </a:lnTo>
                  <a:cubicBezTo>
                    <a:pt x="10922" y="1921764"/>
                    <a:pt x="0" y="1910842"/>
                    <a:pt x="0" y="1897380"/>
                  </a:cubicBezTo>
                  <a:close/>
                </a:path>
              </a:pathLst>
            </a:custGeom>
            <a:solidFill>
              <a:srgbClr val="00B09B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098137" y="8153676"/>
            <a:ext cx="16128902" cy="1056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Analytical Impact of Cleaning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Removing skewed outliers and extreme unfulfilled orders ensured that baseline fulfillment figures (such as 93.91% on-time delivery) reflect genuine operational performance rather than corrupted data logging.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823608" y="9677343"/>
            <a:ext cx="16654634" cy="20593"/>
            <a:chOff x="0" y="0"/>
            <a:chExt cx="22206179" cy="2745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2206204" cy="27432"/>
            </a:xfrm>
            <a:custGeom>
              <a:avLst/>
              <a:gdLst/>
              <a:ahLst/>
              <a:cxnLst/>
              <a:rect r="r" b="b" t="t" l="l"/>
              <a:pathLst>
                <a:path h="27432" w="22206204">
                  <a:moveTo>
                    <a:pt x="0" y="0"/>
                  </a:moveTo>
                  <a:lnTo>
                    <a:pt x="22206204" y="0"/>
                  </a:lnTo>
                  <a:lnTo>
                    <a:pt x="22206204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D8E3F0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823608" y="9773431"/>
            <a:ext cx="5490686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Slide 4 of 20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987546" y="9773431"/>
            <a:ext cx="5490686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11"/>
              </a:lnSpc>
            </a:pPr>
            <a:r>
              <a:rPr lang="en-US" sz="1426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Final Project Presentation | M1-M4 Complete Journey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9814"/>
            <a:chOff x="0" y="0"/>
            <a:chExt cx="24402453" cy="146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46431"/>
            </a:xfrm>
            <a:custGeom>
              <a:avLst/>
              <a:gdLst/>
              <a:ahLst/>
              <a:cxnLst/>
              <a:rect r="r" b="b" t="t" l="l"/>
              <a:pathLst>
                <a:path h="14643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00B09B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23608" y="301990"/>
            <a:ext cx="10981382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0F766E"/>
                </a:solidFill>
                <a:latin typeface="Aptos Bold"/>
                <a:ea typeface="Aptos Bold"/>
                <a:cs typeface="Aptos Bold"/>
                <a:sym typeface="Aptos Bold"/>
              </a:rPr>
              <a:t>SUPPLY CHAIN VISIBILITY &amp; OPTIMISATION  -  MILESTONE 4 - TEAM 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23608" y="754971"/>
            <a:ext cx="10981382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0F766E"/>
                </a:solidFill>
                <a:latin typeface="Aptos Bold"/>
                <a:ea typeface="Aptos Bold"/>
                <a:cs typeface="Aptos Bold"/>
                <a:sym typeface="Aptos Bold"/>
              </a:rPr>
              <a:t>MILESTONE 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23608" y="1228935"/>
            <a:ext cx="1647206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Establishing the Correct Analytical Grain &amp; Movement Key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3608" y="1851679"/>
            <a:ext cx="1647206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Solving the multi-item order inflation trap through unique movement-grain modeling.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14073" y="2461279"/>
            <a:ext cx="3931177" cy="1529001"/>
            <a:chOff x="0" y="0"/>
            <a:chExt cx="5241569" cy="20386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41544" cy="2038604"/>
            </a:xfrm>
            <a:custGeom>
              <a:avLst/>
              <a:gdLst/>
              <a:ahLst/>
              <a:cxnLst/>
              <a:rect r="r" b="b" t="t" l="l"/>
              <a:pathLst>
                <a:path h="2038604" w="5241544">
                  <a:moveTo>
                    <a:pt x="0" y="339725"/>
                  </a:moveTo>
                  <a:cubicBezTo>
                    <a:pt x="0" y="152146"/>
                    <a:pt x="152146" y="0"/>
                    <a:pt x="339725" y="0"/>
                  </a:cubicBezTo>
                  <a:lnTo>
                    <a:pt x="4901819" y="0"/>
                  </a:lnTo>
                  <a:cubicBezTo>
                    <a:pt x="5089525" y="0"/>
                    <a:pt x="5241544" y="152146"/>
                    <a:pt x="5241544" y="339725"/>
                  </a:cubicBezTo>
                  <a:lnTo>
                    <a:pt x="5241544" y="1698879"/>
                  </a:lnTo>
                  <a:cubicBezTo>
                    <a:pt x="5241544" y="1886585"/>
                    <a:pt x="5089398" y="2038604"/>
                    <a:pt x="4901819" y="2038604"/>
                  </a:cubicBezTo>
                  <a:lnTo>
                    <a:pt x="339725" y="2038604"/>
                  </a:lnTo>
                  <a:cubicBezTo>
                    <a:pt x="152146" y="2038731"/>
                    <a:pt x="0" y="1886585"/>
                    <a:pt x="0" y="169887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823608" y="2470814"/>
            <a:ext cx="109814" cy="1509941"/>
            <a:chOff x="0" y="0"/>
            <a:chExt cx="146418" cy="201325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6431" cy="2013204"/>
            </a:xfrm>
            <a:custGeom>
              <a:avLst/>
              <a:gdLst/>
              <a:ahLst/>
              <a:cxnLst/>
              <a:rect r="r" b="b" t="t" l="l"/>
              <a:pathLst>
                <a:path h="2013204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988820"/>
                  </a:lnTo>
                  <a:cubicBezTo>
                    <a:pt x="146431" y="2002282"/>
                    <a:pt x="135509" y="2013204"/>
                    <a:pt x="122047" y="2013204"/>
                  </a:cubicBezTo>
                  <a:lnTo>
                    <a:pt x="24384" y="2013204"/>
                  </a:lnTo>
                  <a:cubicBezTo>
                    <a:pt x="10922" y="2013204"/>
                    <a:pt x="0" y="2002282"/>
                    <a:pt x="0" y="1988820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43235" y="2436628"/>
            <a:ext cx="3582676" cy="1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8"/>
              </a:lnSpc>
            </a:pPr>
            <a:r>
              <a:rPr lang="en-US" sz="3152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66,039</a:t>
            </a:r>
          </a:p>
          <a:p>
            <a:pPr algn="l">
              <a:lnSpc>
                <a:spcPts val="2774"/>
              </a:lnSpc>
            </a:pPr>
            <a:r>
              <a:rPr lang="en-US" sz="1576" b="true">
                <a:solidFill>
                  <a:srgbClr val="2563EB"/>
                </a:solidFill>
                <a:latin typeface="Aptos Bold"/>
                <a:ea typeface="Aptos Bold"/>
                <a:cs typeface="Aptos Bold"/>
                <a:sym typeface="Aptos Bold"/>
              </a:rPr>
              <a:t>CSV Cleaned Rows</a:t>
            </a:r>
          </a:p>
          <a:p>
            <a:pPr algn="l">
              <a:lnSpc>
                <a:spcPts val="2377"/>
              </a:lnSpc>
            </a:pPr>
            <a:r>
              <a:rPr lang="en-US" sz="1351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Raw merged line items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000720" y="2461279"/>
            <a:ext cx="3931177" cy="1529001"/>
            <a:chOff x="0" y="0"/>
            <a:chExt cx="5241569" cy="203866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241544" cy="2038604"/>
            </a:xfrm>
            <a:custGeom>
              <a:avLst/>
              <a:gdLst/>
              <a:ahLst/>
              <a:cxnLst/>
              <a:rect r="r" b="b" t="t" l="l"/>
              <a:pathLst>
                <a:path h="2038604" w="5241544">
                  <a:moveTo>
                    <a:pt x="0" y="339725"/>
                  </a:moveTo>
                  <a:cubicBezTo>
                    <a:pt x="0" y="152146"/>
                    <a:pt x="152146" y="0"/>
                    <a:pt x="339725" y="0"/>
                  </a:cubicBezTo>
                  <a:lnTo>
                    <a:pt x="4901819" y="0"/>
                  </a:lnTo>
                  <a:cubicBezTo>
                    <a:pt x="5089525" y="0"/>
                    <a:pt x="5241544" y="152146"/>
                    <a:pt x="5241544" y="339725"/>
                  </a:cubicBezTo>
                  <a:lnTo>
                    <a:pt x="5241544" y="1698879"/>
                  </a:lnTo>
                  <a:cubicBezTo>
                    <a:pt x="5241544" y="1886585"/>
                    <a:pt x="5089398" y="2038604"/>
                    <a:pt x="4901819" y="2038604"/>
                  </a:cubicBezTo>
                  <a:lnTo>
                    <a:pt x="339725" y="2038604"/>
                  </a:lnTo>
                  <a:cubicBezTo>
                    <a:pt x="152146" y="2038731"/>
                    <a:pt x="0" y="1886585"/>
                    <a:pt x="0" y="169887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5010255" y="2470814"/>
            <a:ext cx="109814" cy="1509941"/>
            <a:chOff x="0" y="0"/>
            <a:chExt cx="146418" cy="201325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431" cy="2013204"/>
            </a:xfrm>
            <a:custGeom>
              <a:avLst/>
              <a:gdLst/>
              <a:ahLst/>
              <a:cxnLst/>
              <a:rect r="r" b="b" t="t" l="l"/>
              <a:pathLst>
                <a:path h="2013204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988820"/>
                  </a:lnTo>
                  <a:cubicBezTo>
                    <a:pt x="146431" y="2002282"/>
                    <a:pt x="135509" y="2013204"/>
                    <a:pt x="122047" y="2013204"/>
                  </a:cubicBezTo>
                  <a:lnTo>
                    <a:pt x="24384" y="2013204"/>
                  </a:lnTo>
                  <a:cubicBezTo>
                    <a:pt x="10922" y="2013204"/>
                    <a:pt x="0" y="2002282"/>
                    <a:pt x="0" y="1988820"/>
                  </a:cubicBezTo>
                  <a:close/>
                </a:path>
              </a:pathLst>
            </a:custGeom>
            <a:solidFill>
              <a:srgbClr val="00B09B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5229882" y="2436628"/>
            <a:ext cx="3582676" cy="1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8"/>
              </a:lnSpc>
            </a:pPr>
            <a:r>
              <a:rPr lang="en-US" sz="3152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63,089</a:t>
            </a:r>
          </a:p>
          <a:p>
            <a:pPr algn="l">
              <a:lnSpc>
                <a:spcPts val="2774"/>
              </a:lnSpc>
            </a:pPr>
            <a:r>
              <a:rPr lang="en-US" sz="1576" b="true">
                <a:solidFill>
                  <a:srgbClr val="00B09B"/>
                </a:solidFill>
                <a:latin typeface="Aptos Bold"/>
                <a:ea typeface="Aptos Bold"/>
                <a:cs typeface="Aptos Bold"/>
                <a:sym typeface="Aptos Bold"/>
              </a:rPr>
              <a:t>Movement Lines</a:t>
            </a:r>
          </a:p>
          <a:p>
            <a:pPr algn="l">
              <a:lnSpc>
                <a:spcPts val="2377"/>
              </a:lnSpc>
            </a:pPr>
            <a:r>
              <a:rPr lang="en-US" sz="1351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order_id + order_item_id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187377" y="2461279"/>
            <a:ext cx="3931177" cy="1529001"/>
            <a:chOff x="0" y="0"/>
            <a:chExt cx="5241569" cy="20386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41544" cy="2038604"/>
            </a:xfrm>
            <a:custGeom>
              <a:avLst/>
              <a:gdLst/>
              <a:ahLst/>
              <a:cxnLst/>
              <a:rect r="r" b="b" t="t" l="l"/>
              <a:pathLst>
                <a:path h="2038604" w="5241544">
                  <a:moveTo>
                    <a:pt x="0" y="339725"/>
                  </a:moveTo>
                  <a:cubicBezTo>
                    <a:pt x="0" y="152146"/>
                    <a:pt x="152146" y="0"/>
                    <a:pt x="339725" y="0"/>
                  </a:cubicBezTo>
                  <a:lnTo>
                    <a:pt x="4901819" y="0"/>
                  </a:lnTo>
                  <a:cubicBezTo>
                    <a:pt x="5089525" y="0"/>
                    <a:pt x="5241544" y="152146"/>
                    <a:pt x="5241544" y="339725"/>
                  </a:cubicBezTo>
                  <a:lnTo>
                    <a:pt x="5241544" y="1698879"/>
                  </a:lnTo>
                  <a:cubicBezTo>
                    <a:pt x="5241544" y="1886585"/>
                    <a:pt x="5089398" y="2038604"/>
                    <a:pt x="4901819" y="2038604"/>
                  </a:cubicBezTo>
                  <a:lnTo>
                    <a:pt x="339725" y="2038604"/>
                  </a:lnTo>
                  <a:cubicBezTo>
                    <a:pt x="152146" y="2038731"/>
                    <a:pt x="0" y="1886585"/>
                    <a:pt x="0" y="169887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196902" y="2470814"/>
            <a:ext cx="109814" cy="1509941"/>
            <a:chOff x="0" y="0"/>
            <a:chExt cx="146418" cy="201325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6431" cy="2013204"/>
            </a:xfrm>
            <a:custGeom>
              <a:avLst/>
              <a:gdLst/>
              <a:ahLst/>
              <a:cxnLst/>
              <a:rect r="r" b="b" t="t" l="l"/>
              <a:pathLst>
                <a:path h="2013204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988820"/>
                  </a:lnTo>
                  <a:cubicBezTo>
                    <a:pt x="146431" y="2002282"/>
                    <a:pt x="135509" y="2013204"/>
                    <a:pt x="122047" y="2013204"/>
                  </a:cubicBezTo>
                  <a:lnTo>
                    <a:pt x="24384" y="2013204"/>
                  </a:lnTo>
                  <a:cubicBezTo>
                    <a:pt x="10922" y="2013204"/>
                    <a:pt x="0" y="2002282"/>
                    <a:pt x="0" y="1988820"/>
                  </a:cubicBezTo>
                  <a:close/>
                </a:path>
              </a:pathLst>
            </a:custGeom>
            <a:solidFill>
              <a:srgbClr val="DC2626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416529" y="2436628"/>
            <a:ext cx="3582676" cy="1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8"/>
              </a:lnSpc>
            </a:pPr>
            <a:r>
              <a:rPr lang="en-US" sz="3152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1.0446x</a:t>
            </a:r>
          </a:p>
          <a:p>
            <a:pPr algn="l">
              <a:lnSpc>
                <a:spcPts val="2774"/>
              </a:lnSpc>
            </a:pPr>
            <a:r>
              <a:rPr lang="en-US" sz="1576" b="true">
                <a:solidFill>
                  <a:srgbClr val="DC2626"/>
                </a:solidFill>
                <a:latin typeface="Aptos Bold"/>
                <a:ea typeface="Aptos Bold"/>
                <a:cs typeface="Aptos Bold"/>
                <a:sym typeface="Aptos Bold"/>
              </a:rPr>
              <a:t>Duplicate Inflation</a:t>
            </a:r>
          </a:p>
          <a:p>
            <a:pPr algn="l">
              <a:lnSpc>
                <a:spcPts val="2377"/>
              </a:lnSpc>
            </a:pPr>
            <a:r>
              <a:rPr lang="en-US" sz="1351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Unsafe raw sum distortion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3374024" y="2461279"/>
            <a:ext cx="4068451" cy="1529001"/>
            <a:chOff x="0" y="0"/>
            <a:chExt cx="5424602" cy="203866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424551" cy="2038604"/>
            </a:xfrm>
            <a:custGeom>
              <a:avLst/>
              <a:gdLst/>
              <a:ahLst/>
              <a:cxnLst/>
              <a:rect r="r" b="b" t="t" l="l"/>
              <a:pathLst>
                <a:path h="2038604" w="5424551">
                  <a:moveTo>
                    <a:pt x="0" y="339725"/>
                  </a:moveTo>
                  <a:cubicBezTo>
                    <a:pt x="0" y="152146"/>
                    <a:pt x="152146" y="0"/>
                    <a:pt x="339725" y="0"/>
                  </a:cubicBezTo>
                  <a:lnTo>
                    <a:pt x="5084826" y="0"/>
                  </a:lnTo>
                  <a:cubicBezTo>
                    <a:pt x="5272532" y="0"/>
                    <a:pt x="5424551" y="152146"/>
                    <a:pt x="5424551" y="339725"/>
                  </a:cubicBezTo>
                  <a:lnTo>
                    <a:pt x="5424551" y="1698879"/>
                  </a:lnTo>
                  <a:cubicBezTo>
                    <a:pt x="5424551" y="1886585"/>
                    <a:pt x="5272405" y="2038604"/>
                    <a:pt x="5084826" y="2038604"/>
                  </a:cubicBezTo>
                  <a:lnTo>
                    <a:pt x="339725" y="2038604"/>
                  </a:lnTo>
                  <a:cubicBezTo>
                    <a:pt x="152146" y="2038731"/>
                    <a:pt x="0" y="1886585"/>
                    <a:pt x="0" y="169887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3383558" y="2470814"/>
            <a:ext cx="109814" cy="1509941"/>
            <a:chOff x="0" y="0"/>
            <a:chExt cx="146418" cy="201325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6431" cy="2013204"/>
            </a:xfrm>
            <a:custGeom>
              <a:avLst/>
              <a:gdLst/>
              <a:ahLst/>
              <a:cxnLst/>
              <a:rect r="r" b="b" t="t" l="l"/>
              <a:pathLst>
                <a:path h="2013204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988820"/>
                  </a:lnTo>
                  <a:cubicBezTo>
                    <a:pt x="146431" y="2002282"/>
                    <a:pt x="135509" y="2013204"/>
                    <a:pt x="122047" y="2013204"/>
                  </a:cubicBezTo>
                  <a:lnTo>
                    <a:pt x="24384" y="2013204"/>
                  </a:lnTo>
                  <a:cubicBezTo>
                    <a:pt x="10922" y="2013204"/>
                    <a:pt x="0" y="2002282"/>
                    <a:pt x="0" y="1988820"/>
                  </a:cubicBezTo>
                  <a:close/>
                </a:path>
              </a:pathLst>
            </a:custGeom>
            <a:solidFill>
              <a:srgbClr val="16A34A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3603186" y="2436628"/>
            <a:ext cx="3719941" cy="1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8"/>
              </a:lnSpc>
            </a:pPr>
            <a:r>
              <a:rPr lang="en-US" sz="3152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R$ 4.10M</a:t>
            </a:r>
          </a:p>
          <a:p>
            <a:pPr algn="l">
              <a:lnSpc>
                <a:spcPts val="2774"/>
              </a:lnSpc>
            </a:pPr>
            <a:r>
              <a:rPr lang="en-US" sz="1576" b="true">
                <a:solidFill>
                  <a:srgbClr val="16A34A"/>
                </a:solidFill>
                <a:latin typeface="Aptos Bold"/>
                <a:ea typeface="Aptos Bold"/>
                <a:cs typeface="Aptos Bold"/>
                <a:sym typeface="Aptos Bold"/>
              </a:rPr>
              <a:t>Safe Movement Value</a:t>
            </a:r>
          </a:p>
          <a:p>
            <a:pPr algn="l">
              <a:lnSpc>
                <a:spcPts val="2377"/>
              </a:lnSpc>
            </a:pPr>
            <a:r>
              <a:rPr lang="en-US" sz="1351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Raw SUM was R$ 4.28M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814073" y="4314387"/>
            <a:ext cx="7980569" cy="3450746"/>
            <a:chOff x="0" y="0"/>
            <a:chExt cx="10640759" cy="460099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640758" cy="4600994"/>
            </a:xfrm>
            <a:custGeom>
              <a:avLst/>
              <a:gdLst/>
              <a:ahLst/>
              <a:cxnLst/>
              <a:rect r="r" b="b" t="t" l="l"/>
              <a:pathLst>
                <a:path h="4600994" w="10640758">
                  <a:moveTo>
                    <a:pt x="0" y="106723"/>
                  </a:moveTo>
                  <a:cubicBezTo>
                    <a:pt x="0" y="47781"/>
                    <a:pt x="64182" y="0"/>
                    <a:pt x="143355" y="0"/>
                  </a:cubicBezTo>
                  <a:lnTo>
                    <a:pt x="10497403" y="0"/>
                  </a:lnTo>
                  <a:cubicBezTo>
                    <a:pt x="10576577" y="0"/>
                    <a:pt x="10640758" y="47781"/>
                    <a:pt x="10640758" y="106723"/>
                  </a:cubicBezTo>
                  <a:lnTo>
                    <a:pt x="10640758" y="4494271"/>
                  </a:lnTo>
                  <a:cubicBezTo>
                    <a:pt x="10640758" y="4553214"/>
                    <a:pt x="10576577" y="4600994"/>
                    <a:pt x="10497403" y="4600994"/>
                  </a:cubicBezTo>
                  <a:lnTo>
                    <a:pt x="143355" y="4600994"/>
                  </a:lnTo>
                  <a:cubicBezTo>
                    <a:pt x="64182" y="4600994"/>
                    <a:pt x="0" y="4553213"/>
                    <a:pt x="0" y="4494271"/>
                  </a:cubicBezTo>
                  <a:close/>
                </a:path>
              </a:pathLst>
            </a:custGeom>
            <a:solidFill>
              <a:srgbClr val="FEF2F2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9050103" y="4314387"/>
            <a:ext cx="8382824" cy="3450746"/>
            <a:chOff x="0" y="0"/>
            <a:chExt cx="11177099" cy="460099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177098" cy="4600994"/>
            </a:xfrm>
            <a:custGeom>
              <a:avLst/>
              <a:gdLst/>
              <a:ahLst/>
              <a:cxnLst/>
              <a:rect r="r" b="b" t="t" l="l"/>
              <a:pathLst>
                <a:path h="4600994" w="11177098">
                  <a:moveTo>
                    <a:pt x="0" y="106723"/>
                  </a:moveTo>
                  <a:cubicBezTo>
                    <a:pt x="0" y="47781"/>
                    <a:pt x="67417" y="0"/>
                    <a:pt x="150581" y="0"/>
                  </a:cubicBezTo>
                  <a:lnTo>
                    <a:pt x="11026517" y="0"/>
                  </a:lnTo>
                  <a:cubicBezTo>
                    <a:pt x="11109682" y="0"/>
                    <a:pt x="11177098" y="47781"/>
                    <a:pt x="11177098" y="106723"/>
                  </a:cubicBezTo>
                  <a:lnTo>
                    <a:pt x="11177098" y="4494271"/>
                  </a:lnTo>
                  <a:cubicBezTo>
                    <a:pt x="11177098" y="4553214"/>
                    <a:pt x="11109682" y="4600994"/>
                    <a:pt x="11026517" y="4600994"/>
                  </a:cubicBezTo>
                  <a:lnTo>
                    <a:pt x="150581" y="4600994"/>
                  </a:lnTo>
                  <a:cubicBezTo>
                    <a:pt x="67417" y="4600994"/>
                    <a:pt x="0" y="4553213"/>
                    <a:pt x="0" y="4494271"/>
                  </a:cubicBezTo>
                  <a:close/>
                </a:path>
              </a:pathLst>
            </a:custGeom>
            <a:solidFill>
              <a:srgbClr val="F8FAFC"/>
            </a:solidFill>
            <a:ln w="19065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823608" y="4323921"/>
            <a:ext cx="109814" cy="3431677"/>
            <a:chOff x="0" y="0"/>
            <a:chExt cx="146418" cy="457556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46431" cy="4575556"/>
            </a:xfrm>
            <a:custGeom>
              <a:avLst/>
              <a:gdLst/>
              <a:ahLst/>
              <a:cxnLst/>
              <a:rect r="r" b="b" t="t" l="l"/>
              <a:pathLst>
                <a:path h="4575556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4551172"/>
                  </a:lnTo>
                  <a:cubicBezTo>
                    <a:pt x="146431" y="4564634"/>
                    <a:pt x="135509" y="4575556"/>
                    <a:pt x="122047" y="4575556"/>
                  </a:cubicBezTo>
                  <a:lnTo>
                    <a:pt x="24384" y="4575556"/>
                  </a:lnTo>
                  <a:cubicBezTo>
                    <a:pt x="10922" y="4575556"/>
                    <a:pt x="0" y="4564634"/>
                    <a:pt x="0" y="4551172"/>
                  </a:cubicBezTo>
                  <a:close/>
                </a:path>
              </a:pathLst>
            </a:custGeom>
            <a:solidFill>
              <a:srgbClr val="DC2626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098137" y="4316063"/>
            <a:ext cx="7481068" cy="3135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5"/>
              </a:lnSpc>
            </a:pPr>
            <a:r>
              <a:rPr lang="en-US" sz="1876" b="true">
                <a:solidFill>
                  <a:srgbClr val="DC2626"/>
                </a:solidFill>
                <a:latin typeface="Aptos Bold"/>
                <a:ea typeface="Aptos Bold"/>
                <a:cs typeface="Aptos Bold"/>
                <a:sym typeface="Aptos Bold"/>
              </a:rPr>
              <a:t>The Data-Grain Duplication Trap</a:t>
            </a:r>
          </a:p>
          <a:p>
            <a:pPr algn="l">
              <a:lnSpc>
                <a:spcPts val="3452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- Root Cause: Merged e-commerce tables have one-to-many relationships (multiple payments or installments per order, multiple items per order).</a:t>
            </a:r>
          </a:p>
          <a:p>
            <a:pPr algn="l">
              <a:lnSpc>
                <a:spcPts val="3452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- The Risk: Blindly running SUM(price) or SUM(freight_value) counts payments and items redundantly, artificially inflating revenue by ~4.46% (R$ 182,577 overstatement).</a:t>
            </a:r>
          </a:p>
          <a:p>
            <a:pPr algn="l">
              <a:lnSpc>
                <a:spcPts val="3452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- Solution: Engineered Movement Line Key (order_id + order_item_id) as the atomic unit of product movement across the supply chain.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279265" y="4433735"/>
            <a:ext cx="7934049" cy="30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0F766E"/>
                </a:solidFill>
                <a:latin typeface="Aptos Bold"/>
                <a:ea typeface="Aptos Bold"/>
                <a:cs typeface="Aptos Bold"/>
                <a:sym typeface="Aptos Bold"/>
              </a:rPr>
              <a:t>DAX IMPLEMENTATION — DUPLICATE-SAFE MEASURES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279265" y="4734601"/>
            <a:ext cx="7934049" cy="2911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-- 1. Duplicate-Safe Total Sales / Movement Value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Total Sales =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SUMX(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    VALUES('Supply_Chain_Cleaned_Dataset'[Movement Line Key]),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    CALCULATE(MAX('Supply_Chain_Cleaned_Dataset'[price]))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</a:p>
          <a:p>
            <a:pPr algn="l">
              <a:lnSpc>
                <a:spcPts val="1621"/>
              </a:lnSpc>
            </a:pP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-- 2. Duplicate-Safe Units Moved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Units Moved =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DISTINCTCOUNT('Supply_Chain_Cleaned_Dataset'[Movement Line Key])</a:t>
            </a:r>
          </a:p>
          <a:p>
            <a:pPr algn="l">
              <a:lnSpc>
                <a:spcPts val="1621"/>
              </a:lnSpc>
            </a:pP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-- 3. Duplicate-Safe Distinct Orders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Total Orders =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DISTINCTCOUNT('Supply_Chain_Cleaned_Dataset'[order_id])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814073" y="7951965"/>
            <a:ext cx="16628402" cy="1460373"/>
            <a:chOff x="0" y="0"/>
            <a:chExt cx="22171203" cy="194716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2171152" cy="1947164"/>
            </a:xfrm>
            <a:custGeom>
              <a:avLst/>
              <a:gdLst/>
              <a:ahLst/>
              <a:cxnLst/>
              <a:rect r="r" b="b" t="t" l="l"/>
              <a:pathLst>
                <a:path h="1947164" w="22171152">
                  <a:moveTo>
                    <a:pt x="0" y="324485"/>
                  </a:moveTo>
                  <a:cubicBezTo>
                    <a:pt x="0" y="145288"/>
                    <a:pt x="145288" y="0"/>
                    <a:pt x="324485" y="0"/>
                  </a:cubicBezTo>
                  <a:lnTo>
                    <a:pt x="21846667" y="0"/>
                  </a:lnTo>
                  <a:cubicBezTo>
                    <a:pt x="22025863" y="0"/>
                    <a:pt x="22171152" y="145288"/>
                    <a:pt x="22171152" y="324485"/>
                  </a:cubicBezTo>
                  <a:lnTo>
                    <a:pt x="22171152" y="1622679"/>
                  </a:lnTo>
                  <a:cubicBezTo>
                    <a:pt x="22171152" y="1801876"/>
                    <a:pt x="22025863" y="1947164"/>
                    <a:pt x="21846667" y="1947164"/>
                  </a:cubicBezTo>
                  <a:lnTo>
                    <a:pt x="324485" y="1947164"/>
                  </a:lnTo>
                  <a:cubicBezTo>
                    <a:pt x="145288" y="1947164"/>
                    <a:pt x="0" y="1801876"/>
                    <a:pt x="0" y="1622679"/>
                  </a:cubicBezTo>
                  <a:close/>
                </a:path>
              </a:pathLst>
            </a:custGeom>
            <a:solidFill>
              <a:srgbClr val="F0FDFA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823608" y="7961500"/>
            <a:ext cx="109814" cy="1441304"/>
            <a:chOff x="0" y="0"/>
            <a:chExt cx="146418" cy="192173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46431" cy="1921764"/>
            </a:xfrm>
            <a:custGeom>
              <a:avLst/>
              <a:gdLst/>
              <a:ahLst/>
              <a:cxnLst/>
              <a:rect r="r" b="b" t="t" l="l"/>
              <a:pathLst>
                <a:path h="1921764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897380"/>
                  </a:lnTo>
                  <a:cubicBezTo>
                    <a:pt x="146431" y="1910842"/>
                    <a:pt x="135509" y="1921764"/>
                    <a:pt x="122047" y="1921764"/>
                  </a:cubicBezTo>
                  <a:lnTo>
                    <a:pt x="24384" y="1921764"/>
                  </a:lnTo>
                  <a:cubicBezTo>
                    <a:pt x="10922" y="1921764"/>
                    <a:pt x="0" y="1910842"/>
                    <a:pt x="0" y="1897380"/>
                  </a:cubicBezTo>
                  <a:close/>
                </a:path>
              </a:pathLst>
            </a:custGeom>
            <a:solidFill>
              <a:srgbClr val="0F766E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1098137" y="8039376"/>
            <a:ext cx="16128902" cy="1095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1876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Modelling Principle</a:t>
            </a:r>
          </a:p>
          <a:p>
            <a:pPr algn="l">
              <a:lnSpc>
                <a:spcPts val="2732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Why this matters: Business analytics are only defensible when the mathematical grain matches the physical operational process. All downstream KPIs in Milestones 2, 3, and 4 rely strictly on this grain-safe formulation.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823608" y="9677343"/>
            <a:ext cx="16654634" cy="20593"/>
            <a:chOff x="0" y="0"/>
            <a:chExt cx="22206179" cy="27457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2206204" cy="27432"/>
            </a:xfrm>
            <a:custGeom>
              <a:avLst/>
              <a:gdLst/>
              <a:ahLst/>
              <a:cxnLst/>
              <a:rect r="r" b="b" t="t" l="l"/>
              <a:pathLst>
                <a:path h="27432" w="22206204">
                  <a:moveTo>
                    <a:pt x="0" y="0"/>
                  </a:moveTo>
                  <a:lnTo>
                    <a:pt x="22206204" y="0"/>
                  </a:lnTo>
                  <a:lnTo>
                    <a:pt x="22206204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D8E3F0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823608" y="9773431"/>
            <a:ext cx="5490686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Slide 5 of 20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987546" y="9773431"/>
            <a:ext cx="5490686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11"/>
              </a:lnSpc>
            </a:pPr>
            <a:r>
              <a:rPr lang="en-US" sz="1426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Final Project Presentation | M1-M4 Complete Journey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9814"/>
            <a:chOff x="0" y="0"/>
            <a:chExt cx="24402453" cy="146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46431"/>
            </a:xfrm>
            <a:custGeom>
              <a:avLst/>
              <a:gdLst/>
              <a:ahLst/>
              <a:cxnLst/>
              <a:rect r="r" b="b" t="t" l="l"/>
              <a:pathLst>
                <a:path h="14643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00B09B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23608" y="301990"/>
            <a:ext cx="10981382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0F766E"/>
                </a:solidFill>
                <a:latin typeface="Aptos Bold"/>
                <a:ea typeface="Aptos Bold"/>
                <a:cs typeface="Aptos Bold"/>
                <a:sym typeface="Aptos Bold"/>
              </a:rPr>
              <a:t>SUPPLY CHAIN VISIBILITY &amp; OPTIMISATION  -  MILESTONE 4 - TEAM 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23608" y="754971"/>
            <a:ext cx="10981382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0F766E"/>
                </a:solidFill>
                <a:latin typeface="Aptos Bold"/>
                <a:ea typeface="Aptos Bold"/>
                <a:cs typeface="Aptos Bold"/>
                <a:sym typeface="Aptos Bold"/>
              </a:rPr>
              <a:t>MILESTONE 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23608" y="1325613"/>
            <a:ext cx="1647206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Supply Chain Control Tower Overview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3608" y="1948358"/>
            <a:ext cx="1647206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Deploying an interactive 5-page diagnostic intelligence system for full network visibility.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23608" y="2467185"/>
            <a:ext cx="8785108" cy="5216157"/>
            <a:chOff x="0" y="0"/>
            <a:chExt cx="11713477" cy="6954876"/>
          </a:xfrm>
        </p:grpSpPr>
        <p:sp>
          <p:nvSpPr>
            <p:cNvPr name="Freeform 9" id="9" descr="image5.png"/>
            <p:cNvSpPr/>
            <p:nvPr/>
          </p:nvSpPr>
          <p:spPr>
            <a:xfrm flipH="false" flipV="false" rot="0">
              <a:off x="0" y="0"/>
              <a:ext cx="11713464" cy="6954901"/>
            </a:xfrm>
            <a:custGeom>
              <a:avLst/>
              <a:gdLst/>
              <a:ahLst/>
              <a:cxnLst/>
              <a:rect r="r" b="b" t="t" l="l"/>
              <a:pathLst>
                <a:path h="6954901" w="11713464">
                  <a:moveTo>
                    <a:pt x="0" y="0"/>
                  </a:moveTo>
                  <a:lnTo>
                    <a:pt x="11713464" y="0"/>
                  </a:lnTo>
                  <a:lnTo>
                    <a:pt x="11713464" y="6954901"/>
                  </a:lnTo>
                  <a:lnTo>
                    <a:pt x="0" y="6954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334" t="0" r="-1334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883245" y="2461279"/>
            <a:ext cx="7559230" cy="5262677"/>
            <a:chOff x="0" y="0"/>
            <a:chExt cx="10078974" cy="701690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078974" cy="7016903"/>
            </a:xfrm>
            <a:custGeom>
              <a:avLst/>
              <a:gdLst/>
              <a:ahLst/>
              <a:cxnLst/>
              <a:rect r="r" b="b" t="t" l="l"/>
              <a:pathLst>
                <a:path h="7016903" w="10078974">
                  <a:moveTo>
                    <a:pt x="0" y="162762"/>
                  </a:moveTo>
                  <a:cubicBezTo>
                    <a:pt x="0" y="72870"/>
                    <a:pt x="60793" y="0"/>
                    <a:pt x="135787" y="0"/>
                  </a:cubicBezTo>
                  <a:lnTo>
                    <a:pt x="9943187" y="0"/>
                  </a:lnTo>
                  <a:cubicBezTo>
                    <a:pt x="10018181" y="0"/>
                    <a:pt x="10078974" y="72870"/>
                    <a:pt x="10078974" y="162762"/>
                  </a:cubicBezTo>
                  <a:lnTo>
                    <a:pt x="10078974" y="6854141"/>
                  </a:lnTo>
                  <a:cubicBezTo>
                    <a:pt x="10078974" y="6944033"/>
                    <a:pt x="10018181" y="7016903"/>
                    <a:pt x="9943187" y="7016903"/>
                  </a:cubicBezTo>
                  <a:lnTo>
                    <a:pt x="135787" y="7016903"/>
                  </a:lnTo>
                  <a:cubicBezTo>
                    <a:pt x="60793" y="7016902"/>
                    <a:pt x="0" y="6944032"/>
                    <a:pt x="0" y="685414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883245" y="2470814"/>
            <a:ext cx="109814" cy="5216157"/>
            <a:chOff x="0" y="0"/>
            <a:chExt cx="146418" cy="695487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431" cy="6954901"/>
            </a:xfrm>
            <a:custGeom>
              <a:avLst/>
              <a:gdLst/>
              <a:ahLst/>
              <a:cxnLst/>
              <a:rect r="r" b="b" t="t" l="l"/>
              <a:pathLst>
                <a:path h="6954901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6930517"/>
                  </a:lnTo>
                  <a:cubicBezTo>
                    <a:pt x="146431" y="6943979"/>
                    <a:pt x="135509" y="6954901"/>
                    <a:pt x="122047" y="6954901"/>
                  </a:cubicBezTo>
                  <a:lnTo>
                    <a:pt x="24384" y="6954901"/>
                  </a:lnTo>
                  <a:cubicBezTo>
                    <a:pt x="10922" y="6954901"/>
                    <a:pt x="0" y="6943979"/>
                    <a:pt x="0" y="6930517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157774" y="2567730"/>
            <a:ext cx="7069264" cy="4919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8"/>
              </a:lnSpc>
            </a:pPr>
            <a:r>
              <a:rPr lang="en-US" sz="1876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The 5 Core Control Tower Dashboards</a:t>
            </a:r>
          </a:p>
          <a:p>
            <a:pPr algn="l">
              <a:lnSpc>
                <a:spcPts val="2567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1. Executive Supply Chain Overview: High-level KPI pulse tracking orders (56K), units moved (63K), total sales (R$ 4.10M), and on-time delivery (93.91%).</a:t>
            </a:r>
          </a:p>
          <a:p>
            <a:pPr algn="l">
              <a:lnSpc>
                <a:spcPts val="2567"/>
              </a:lnSpc>
            </a:pPr>
          </a:p>
          <a:p>
            <a:pPr algn="l">
              <a:lnSpc>
                <a:spcPts val="2567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2. Inventory Movement Intelligence: Velocity analytics across 18K active products, demand variability (58.65%), and ABC/FSN movement matrices.</a:t>
            </a:r>
          </a:p>
          <a:p>
            <a:pPr algn="l">
              <a:lnSpc>
                <a:spcPts val="2567"/>
              </a:lnSpc>
            </a:pPr>
          </a:p>
          <a:p>
            <a:pPr algn="l">
              <a:lnSpc>
                <a:spcPts val="2567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3. Delivery Performance: Delivery variance (-11.81 days), early vs. late breakdown, and severity classification (1-3d, 4-7d, 8+d).</a:t>
            </a:r>
          </a:p>
          <a:p>
            <a:pPr algn="l">
              <a:lnSpc>
                <a:spcPts val="2567"/>
              </a:lnSpc>
            </a:pPr>
          </a:p>
          <a:p>
            <a:pPr algn="l">
              <a:lnSpc>
                <a:spcPts val="2567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4. Region &amp; Product Drilldown: 5-level operational hierarchies connecting Region -&gt; State -&gt; City -&gt; Category -&gt; Product.</a:t>
            </a:r>
          </a:p>
          <a:p>
            <a:pPr algn="l">
              <a:lnSpc>
                <a:spcPts val="2567"/>
              </a:lnSpc>
            </a:pPr>
          </a:p>
          <a:p>
            <a:pPr algn="l">
              <a:lnSpc>
                <a:spcPts val="2567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5. Trends &amp; Variance Analysis: Month-over-Month (MoM) performance tracking using robust REMOVEFILTERS date evaluation.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14073" y="7951965"/>
            <a:ext cx="16628402" cy="1460373"/>
            <a:chOff x="0" y="0"/>
            <a:chExt cx="22171203" cy="194716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171152" cy="1947164"/>
            </a:xfrm>
            <a:custGeom>
              <a:avLst/>
              <a:gdLst/>
              <a:ahLst/>
              <a:cxnLst/>
              <a:rect r="r" b="b" t="t" l="l"/>
              <a:pathLst>
                <a:path h="1947164" w="22171152">
                  <a:moveTo>
                    <a:pt x="0" y="324485"/>
                  </a:moveTo>
                  <a:cubicBezTo>
                    <a:pt x="0" y="145288"/>
                    <a:pt x="145288" y="0"/>
                    <a:pt x="324485" y="0"/>
                  </a:cubicBezTo>
                  <a:lnTo>
                    <a:pt x="21846667" y="0"/>
                  </a:lnTo>
                  <a:cubicBezTo>
                    <a:pt x="22025863" y="0"/>
                    <a:pt x="22171152" y="145288"/>
                    <a:pt x="22171152" y="324485"/>
                  </a:cubicBezTo>
                  <a:lnTo>
                    <a:pt x="22171152" y="1622679"/>
                  </a:lnTo>
                  <a:cubicBezTo>
                    <a:pt x="22171152" y="1801876"/>
                    <a:pt x="22025863" y="1947164"/>
                    <a:pt x="21846667" y="1947164"/>
                  </a:cubicBezTo>
                  <a:lnTo>
                    <a:pt x="324485" y="1947164"/>
                  </a:lnTo>
                  <a:cubicBezTo>
                    <a:pt x="145288" y="1947164"/>
                    <a:pt x="0" y="1801876"/>
                    <a:pt x="0" y="1622679"/>
                  </a:cubicBezTo>
                  <a:close/>
                </a:path>
              </a:pathLst>
            </a:custGeom>
            <a:solidFill>
              <a:srgbClr val="FEF3C7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823608" y="7961500"/>
            <a:ext cx="109814" cy="1441304"/>
            <a:chOff x="0" y="0"/>
            <a:chExt cx="146418" cy="192173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6431" cy="1921764"/>
            </a:xfrm>
            <a:custGeom>
              <a:avLst/>
              <a:gdLst/>
              <a:ahLst/>
              <a:cxnLst/>
              <a:rect r="r" b="b" t="t" l="l"/>
              <a:pathLst>
                <a:path h="1921764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897380"/>
                  </a:lnTo>
                  <a:cubicBezTo>
                    <a:pt x="146431" y="1910842"/>
                    <a:pt x="135509" y="1921764"/>
                    <a:pt x="122047" y="1921764"/>
                  </a:cubicBezTo>
                  <a:lnTo>
                    <a:pt x="24384" y="1921764"/>
                  </a:lnTo>
                  <a:cubicBezTo>
                    <a:pt x="10922" y="1921764"/>
                    <a:pt x="0" y="1910842"/>
                    <a:pt x="0" y="1897380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098137" y="8029851"/>
            <a:ext cx="16128902" cy="1143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4"/>
              </a:lnSpc>
            </a:pPr>
            <a:r>
              <a:rPr lang="en-US" sz="1876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Critical Inventory Proxy Guardrail</a:t>
            </a:r>
          </a:p>
          <a:p>
            <a:pPr algn="l">
              <a:lnSpc>
                <a:spcPts val="2867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The Olist dataset does NOT contain physical warehouse stock balances or bin-level on-hand inventory. All inventory metrics are transparently framed as 'Product Movement Intelligence' acting as an inventory flow proxy.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23608" y="9677343"/>
            <a:ext cx="16654634" cy="20593"/>
            <a:chOff x="0" y="0"/>
            <a:chExt cx="22206179" cy="2745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206204" cy="27432"/>
            </a:xfrm>
            <a:custGeom>
              <a:avLst/>
              <a:gdLst/>
              <a:ahLst/>
              <a:cxnLst/>
              <a:rect r="r" b="b" t="t" l="l"/>
              <a:pathLst>
                <a:path h="27432" w="22206204">
                  <a:moveTo>
                    <a:pt x="0" y="0"/>
                  </a:moveTo>
                  <a:lnTo>
                    <a:pt x="22206204" y="0"/>
                  </a:lnTo>
                  <a:lnTo>
                    <a:pt x="22206204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D8E3F0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823608" y="9773431"/>
            <a:ext cx="5490686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Slide 6 of 20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987546" y="9773431"/>
            <a:ext cx="5490686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11"/>
              </a:lnSpc>
            </a:pPr>
            <a:r>
              <a:rPr lang="en-US" sz="1426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Final Project Presentation | M1-M4 Complete Journey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9814"/>
            <a:chOff x="0" y="0"/>
            <a:chExt cx="24402453" cy="146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46431"/>
            </a:xfrm>
            <a:custGeom>
              <a:avLst/>
              <a:gdLst/>
              <a:ahLst/>
              <a:cxnLst/>
              <a:rect r="r" b="b" t="t" l="l"/>
              <a:pathLst>
                <a:path h="14643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00B09B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23608" y="301990"/>
            <a:ext cx="10981382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0F766E"/>
                </a:solidFill>
                <a:latin typeface="Aptos Bold"/>
                <a:ea typeface="Aptos Bold"/>
                <a:cs typeface="Aptos Bold"/>
                <a:sym typeface="Aptos Bold"/>
              </a:rPr>
              <a:t>SUPPLY CHAIN VISIBILITY &amp; OPTIMISATION  -  MILESTONE 4 - TEAM 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23608" y="754971"/>
            <a:ext cx="10981382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0F766E"/>
                </a:solidFill>
                <a:latin typeface="Aptos Bold"/>
                <a:ea typeface="Aptos Bold"/>
                <a:cs typeface="Aptos Bold"/>
                <a:sym typeface="Aptos Bold"/>
              </a:rPr>
              <a:t>MILESTONE 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23608" y="1325613"/>
            <a:ext cx="1647206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Inventory Movement Intelligence — ABC &amp; FSN Dynamics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3608" y="1948358"/>
            <a:ext cx="1647206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Segmenting product movement velocity and revenue contribution without assuming physical stock.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14073" y="2461279"/>
            <a:ext cx="3931177" cy="1529001"/>
            <a:chOff x="0" y="0"/>
            <a:chExt cx="5241569" cy="20386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41544" cy="2038604"/>
            </a:xfrm>
            <a:custGeom>
              <a:avLst/>
              <a:gdLst/>
              <a:ahLst/>
              <a:cxnLst/>
              <a:rect r="r" b="b" t="t" l="l"/>
              <a:pathLst>
                <a:path h="2038604" w="5241544">
                  <a:moveTo>
                    <a:pt x="0" y="339725"/>
                  </a:moveTo>
                  <a:cubicBezTo>
                    <a:pt x="0" y="152146"/>
                    <a:pt x="152146" y="0"/>
                    <a:pt x="339725" y="0"/>
                  </a:cubicBezTo>
                  <a:lnTo>
                    <a:pt x="4901819" y="0"/>
                  </a:lnTo>
                  <a:cubicBezTo>
                    <a:pt x="5089525" y="0"/>
                    <a:pt x="5241544" y="152146"/>
                    <a:pt x="5241544" y="339725"/>
                  </a:cubicBezTo>
                  <a:lnTo>
                    <a:pt x="5241544" y="1698879"/>
                  </a:lnTo>
                  <a:cubicBezTo>
                    <a:pt x="5241544" y="1886585"/>
                    <a:pt x="5089398" y="2038604"/>
                    <a:pt x="4901819" y="2038604"/>
                  </a:cubicBezTo>
                  <a:lnTo>
                    <a:pt x="339725" y="2038604"/>
                  </a:lnTo>
                  <a:cubicBezTo>
                    <a:pt x="152146" y="2038731"/>
                    <a:pt x="0" y="1886585"/>
                    <a:pt x="0" y="169887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823608" y="2470814"/>
            <a:ext cx="109814" cy="1509941"/>
            <a:chOff x="0" y="0"/>
            <a:chExt cx="146418" cy="201325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6431" cy="2013204"/>
            </a:xfrm>
            <a:custGeom>
              <a:avLst/>
              <a:gdLst/>
              <a:ahLst/>
              <a:cxnLst/>
              <a:rect r="r" b="b" t="t" l="l"/>
              <a:pathLst>
                <a:path h="2013204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988820"/>
                  </a:lnTo>
                  <a:cubicBezTo>
                    <a:pt x="146431" y="2002282"/>
                    <a:pt x="135509" y="2013204"/>
                    <a:pt x="122047" y="2013204"/>
                  </a:cubicBezTo>
                  <a:lnTo>
                    <a:pt x="24384" y="2013204"/>
                  </a:lnTo>
                  <a:cubicBezTo>
                    <a:pt x="10922" y="2013204"/>
                    <a:pt x="0" y="2002282"/>
                    <a:pt x="0" y="1988820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43235" y="2507171"/>
            <a:ext cx="3582676" cy="1294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64"/>
              </a:lnSpc>
            </a:pPr>
            <a:r>
              <a:rPr lang="en-US" sz="3152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63K</a:t>
            </a:r>
          </a:p>
          <a:p>
            <a:pPr algn="l">
              <a:lnSpc>
                <a:spcPts val="2632"/>
              </a:lnSpc>
            </a:pPr>
            <a:r>
              <a:rPr lang="en-US" sz="1576" b="true">
                <a:solidFill>
                  <a:srgbClr val="2563EB"/>
                </a:solidFill>
                <a:latin typeface="Aptos Bold"/>
                <a:ea typeface="Aptos Bold"/>
                <a:cs typeface="Aptos Bold"/>
                <a:sym typeface="Aptos Bold"/>
              </a:rPr>
              <a:t>Units Moved</a:t>
            </a:r>
          </a:p>
          <a:p>
            <a:pPr algn="l">
              <a:lnSpc>
                <a:spcPts val="2256"/>
              </a:lnSpc>
            </a:pPr>
            <a:r>
              <a:rPr lang="en-US" sz="1351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Total items in circulation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000720" y="2461279"/>
            <a:ext cx="3931177" cy="1529001"/>
            <a:chOff x="0" y="0"/>
            <a:chExt cx="5241569" cy="203866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241544" cy="2038604"/>
            </a:xfrm>
            <a:custGeom>
              <a:avLst/>
              <a:gdLst/>
              <a:ahLst/>
              <a:cxnLst/>
              <a:rect r="r" b="b" t="t" l="l"/>
              <a:pathLst>
                <a:path h="2038604" w="5241544">
                  <a:moveTo>
                    <a:pt x="0" y="339725"/>
                  </a:moveTo>
                  <a:cubicBezTo>
                    <a:pt x="0" y="152146"/>
                    <a:pt x="152146" y="0"/>
                    <a:pt x="339725" y="0"/>
                  </a:cubicBezTo>
                  <a:lnTo>
                    <a:pt x="4901819" y="0"/>
                  </a:lnTo>
                  <a:cubicBezTo>
                    <a:pt x="5089525" y="0"/>
                    <a:pt x="5241544" y="152146"/>
                    <a:pt x="5241544" y="339725"/>
                  </a:cubicBezTo>
                  <a:lnTo>
                    <a:pt x="5241544" y="1698879"/>
                  </a:lnTo>
                  <a:cubicBezTo>
                    <a:pt x="5241544" y="1886585"/>
                    <a:pt x="5089398" y="2038604"/>
                    <a:pt x="4901819" y="2038604"/>
                  </a:cubicBezTo>
                  <a:lnTo>
                    <a:pt x="339725" y="2038604"/>
                  </a:lnTo>
                  <a:cubicBezTo>
                    <a:pt x="152146" y="2038731"/>
                    <a:pt x="0" y="1886585"/>
                    <a:pt x="0" y="169887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5010255" y="2470814"/>
            <a:ext cx="109814" cy="1509941"/>
            <a:chOff x="0" y="0"/>
            <a:chExt cx="146418" cy="201325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431" cy="2013204"/>
            </a:xfrm>
            <a:custGeom>
              <a:avLst/>
              <a:gdLst/>
              <a:ahLst/>
              <a:cxnLst/>
              <a:rect r="r" b="b" t="t" l="l"/>
              <a:pathLst>
                <a:path h="2013204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988820"/>
                  </a:lnTo>
                  <a:cubicBezTo>
                    <a:pt x="146431" y="2002282"/>
                    <a:pt x="135509" y="2013204"/>
                    <a:pt x="122047" y="2013204"/>
                  </a:cubicBezTo>
                  <a:lnTo>
                    <a:pt x="24384" y="2013204"/>
                  </a:lnTo>
                  <a:cubicBezTo>
                    <a:pt x="10922" y="2013204"/>
                    <a:pt x="0" y="2002282"/>
                    <a:pt x="0" y="1988820"/>
                  </a:cubicBezTo>
                  <a:close/>
                </a:path>
              </a:pathLst>
            </a:custGeom>
            <a:solidFill>
              <a:srgbClr val="00B09B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5229882" y="2507171"/>
            <a:ext cx="3582676" cy="1294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64"/>
              </a:lnSpc>
            </a:pPr>
            <a:r>
              <a:rPr lang="en-US" sz="3152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18K</a:t>
            </a:r>
          </a:p>
          <a:p>
            <a:pPr algn="l">
              <a:lnSpc>
                <a:spcPts val="2632"/>
              </a:lnSpc>
            </a:pPr>
            <a:r>
              <a:rPr lang="en-US" sz="1576" b="true">
                <a:solidFill>
                  <a:srgbClr val="00B09B"/>
                </a:solidFill>
                <a:latin typeface="Aptos Bold"/>
                <a:ea typeface="Aptos Bold"/>
                <a:cs typeface="Aptos Bold"/>
                <a:sym typeface="Aptos Bold"/>
              </a:rPr>
              <a:t>Active Products</a:t>
            </a:r>
          </a:p>
          <a:p>
            <a:pPr algn="l">
              <a:lnSpc>
                <a:spcPts val="2256"/>
              </a:lnSpc>
            </a:pPr>
            <a:r>
              <a:rPr lang="en-US" sz="1351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Catalog items with sales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187377" y="2461279"/>
            <a:ext cx="3931177" cy="1529001"/>
            <a:chOff x="0" y="0"/>
            <a:chExt cx="5241569" cy="20386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41544" cy="2038604"/>
            </a:xfrm>
            <a:custGeom>
              <a:avLst/>
              <a:gdLst/>
              <a:ahLst/>
              <a:cxnLst/>
              <a:rect r="r" b="b" t="t" l="l"/>
              <a:pathLst>
                <a:path h="2038604" w="5241544">
                  <a:moveTo>
                    <a:pt x="0" y="339725"/>
                  </a:moveTo>
                  <a:cubicBezTo>
                    <a:pt x="0" y="152146"/>
                    <a:pt x="152146" y="0"/>
                    <a:pt x="339725" y="0"/>
                  </a:cubicBezTo>
                  <a:lnTo>
                    <a:pt x="4901819" y="0"/>
                  </a:lnTo>
                  <a:cubicBezTo>
                    <a:pt x="5089525" y="0"/>
                    <a:pt x="5241544" y="152146"/>
                    <a:pt x="5241544" y="339725"/>
                  </a:cubicBezTo>
                  <a:lnTo>
                    <a:pt x="5241544" y="1698879"/>
                  </a:lnTo>
                  <a:cubicBezTo>
                    <a:pt x="5241544" y="1886585"/>
                    <a:pt x="5089398" y="2038604"/>
                    <a:pt x="4901819" y="2038604"/>
                  </a:cubicBezTo>
                  <a:lnTo>
                    <a:pt x="339725" y="2038604"/>
                  </a:lnTo>
                  <a:cubicBezTo>
                    <a:pt x="152146" y="2038731"/>
                    <a:pt x="0" y="1886585"/>
                    <a:pt x="0" y="169887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196902" y="2470814"/>
            <a:ext cx="109814" cy="1509941"/>
            <a:chOff x="0" y="0"/>
            <a:chExt cx="146418" cy="201325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6431" cy="2013204"/>
            </a:xfrm>
            <a:custGeom>
              <a:avLst/>
              <a:gdLst/>
              <a:ahLst/>
              <a:cxnLst/>
              <a:rect r="r" b="b" t="t" l="l"/>
              <a:pathLst>
                <a:path h="2013204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988820"/>
                  </a:lnTo>
                  <a:cubicBezTo>
                    <a:pt x="146431" y="2002282"/>
                    <a:pt x="135509" y="2013204"/>
                    <a:pt x="122047" y="2013204"/>
                  </a:cubicBezTo>
                  <a:lnTo>
                    <a:pt x="24384" y="2013204"/>
                  </a:lnTo>
                  <a:cubicBezTo>
                    <a:pt x="10922" y="2013204"/>
                    <a:pt x="0" y="2002282"/>
                    <a:pt x="0" y="1988820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416529" y="2507171"/>
            <a:ext cx="3582676" cy="1294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64"/>
              </a:lnSpc>
            </a:pPr>
            <a:r>
              <a:rPr lang="en-US" sz="3152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0.15</a:t>
            </a:r>
          </a:p>
          <a:p>
            <a:pPr algn="l">
              <a:lnSpc>
                <a:spcPts val="2632"/>
              </a:lnSpc>
            </a:pPr>
            <a:r>
              <a:rPr lang="en-US" sz="1576" b="true">
                <a:solidFill>
                  <a:srgbClr val="7C3AED"/>
                </a:solidFill>
                <a:latin typeface="Aptos Bold"/>
                <a:ea typeface="Aptos Bold"/>
                <a:cs typeface="Aptos Bold"/>
                <a:sym typeface="Aptos Bold"/>
              </a:rPr>
              <a:t>Product Velocity</a:t>
            </a:r>
          </a:p>
          <a:p>
            <a:pPr algn="l">
              <a:lnSpc>
                <a:spcPts val="2256"/>
              </a:lnSpc>
            </a:pPr>
            <a:r>
              <a:rPr lang="en-US" sz="1351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Units / (Products x Months)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3374024" y="2461279"/>
            <a:ext cx="4068451" cy="1529001"/>
            <a:chOff x="0" y="0"/>
            <a:chExt cx="5424602" cy="203866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424551" cy="2038604"/>
            </a:xfrm>
            <a:custGeom>
              <a:avLst/>
              <a:gdLst/>
              <a:ahLst/>
              <a:cxnLst/>
              <a:rect r="r" b="b" t="t" l="l"/>
              <a:pathLst>
                <a:path h="2038604" w="5424551">
                  <a:moveTo>
                    <a:pt x="0" y="339725"/>
                  </a:moveTo>
                  <a:cubicBezTo>
                    <a:pt x="0" y="152146"/>
                    <a:pt x="152146" y="0"/>
                    <a:pt x="339725" y="0"/>
                  </a:cubicBezTo>
                  <a:lnTo>
                    <a:pt x="5084826" y="0"/>
                  </a:lnTo>
                  <a:cubicBezTo>
                    <a:pt x="5272532" y="0"/>
                    <a:pt x="5424551" y="152146"/>
                    <a:pt x="5424551" y="339725"/>
                  </a:cubicBezTo>
                  <a:lnTo>
                    <a:pt x="5424551" y="1698879"/>
                  </a:lnTo>
                  <a:cubicBezTo>
                    <a:pt x="5424551" y="1886585"/>
                    <a:pt x="5272405" y="2038604"/>
                    <a:pt x="5084826" y="2038604"/>
                  </a:cubicBezTo>
                  <a:lnTo>
                    <a:pt x="339725" y="2038604"/>
                  </a:lnTo>
                  <a:cubicBezTo>
                    <a:pt x="152146" y="2038731"/>
                    <a:pt x="0" y="1886585"/>
                    <a:pt x="0" y="169887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3383558" y="2470814"/>
            <a:ext cx="109814" cy="1509941"/>
            <a:chOff x="0" y="0"/>
            <a:chExt cx="146418" cy="201325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6431" cy="2013204"/>
            </a:xfrm>
            <a:custGeom>
              <a:avLst/>
              <a:gdLst/>
              <a:ahLst/>
              <a:cxnLst/>
              <a:rect r="r" b="b" t="t" l="l"/>
              <a:pathLst>
                <a:path h="2013204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988820"/>
                  </a:lnTo>
                  <a:cubicBezTo>
                    <a:pt x="146431" y="2002282"/>
                    <a:pt x="135509" y="2013204"/>
                    <a:pt x="122047" y="2013204"/>
                  </a:cubicBezTo>
                  <a:lnTo>
                    <a:pt x="24384" y="2013204"/>
                  </a:lnTo>
                  <a:cubicBezTo>
                    <a:pt x="10922" y="2013204"/>
                    <a:pt x="0" y="2002282"/>
                    <a:pt x="0" y="1988820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3603186" y="2507171"/>
            <a:ext cx="3719941" cy="1294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64"/>
              </a:lnSpc>
            </a:pPr>
            <a:r>
              <a:rPr lang="en-US" sz="3152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58.65%</a:t>
            </a:r>
          </a:p>
          <a:p>
            <a:pPr algn="l">
              <a:lnSpc>
                <a:spcPts val="2632"/>
              </a:lnSpc>
            </a:pPr>
            <a:r>
              <a:rPr lang="en-US" sz="1576" b="true">
                <a:solidFill>
                  <a:srgbClr val="F59E0B"/>
                </a:solidFill>
                <a:latin typeface="Aptos Bold"/>
                <a:ea typeface="Aptos Bold"/>
                <a:cs typeface="Aptos Bold"/>
                <a:sym typeface="Aptos Bold"/>
              </a:rPr>
              <a:t>Demand Variability</a:t>
            </a:r>
          </a:p>
          <a:p>
            <a:pPr algn="l">
              <a:lnSpc>
                <a:spcPts val="2256"/>
              </a:lnSpc>
            </a:pPr>
            <a:r>
              <a:rPr lang="en-US" sz="1351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STDEV / AVERAGE movement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814073" y="4291413"/>
            <a:ext cx="7980569" cy="3584353"/>
            <a:chOff x="0" y="0"/>
            <a:chExt cx="10640759" cy="477913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640758" cy="4779137"/>
            </a:xfrm>
            <a:custGeom>
              <a:avLst/>
              <a:gdLst/>
              <a:ahLst/>
              <a:cxnLst/>
              <a:rect r="r" b="b" t="t" l="l"/>
              <a:pathLst>
                <a:path h="4779137" w="10640758">
                  <a:moveTo>
                    <a:pt x="0" y="110855"/>
                  </a:moveTo>
                  <a:cubicBezTo>
                    <a:pt x="0" y="49631"/>
                    <a:pt x="64182" y="0"/>
                    <a:pt x="143355" y="0"/>
                  </a:cubicBezTo>
                  <a:lnTo>
                    <a:pt x="10497403" y="0"/>
                  </a:lnTo>
                  <a:cubicBezTo>
                    <a:pt x="10576577" y="0"/>
                    <a:pt x="10640758" y="49631"/>
                    <a:pt x="10640758" y="110855"/>
                  </a:cubicBezTo>
                  <a:lnTo>
                    <a:pt x="10640758" y="4668282"/>
                  </a:lnTo>
                  <a:cubicBezTo>
                    <a:pt x="10640758" y="4729506"/>
                    <a:pt x="10576577" y="4779137"/>
                    <a:pt x="10497403" y="4779137"/>
                  </a:cubicBezTo>
                  <a:lnTo>
                    <a:pt x="143355" y="4779137"/>
                  </a:lnTo>
                  <a:cubicBezTo>
                    <a:pt x="64182" y="4779137"/>
                    <a:pt x="0" y="4729506"/>
                    <a:pt x="0" y="466828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823608" y="4323921"/>
            <a:ext cx="109814" cy="3431677"/>
            <a:chOff x="0" y="0"/>
            <a:chExt cx="146418" cy="457556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46431" cy="4575556"/>
            </a:xfrm>
            <a:custGeom>
              <a:avLst/>
              <a:gdLst/>
              <a:ahLst/>
              <a:cxnLst/>
              <a:rect r="r" b="b" t="t" l="l"/>
              <a:pathLst>
                <a:path h="4575556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4551172"/>
                  </a:lnTo>
                  <a:cubicBezTo>
                    <a:pt x="146431" y="4564634"/>
                    <a:pt x="135509" y="4575556"/>
                    <a:pt x="122047" y="4575556"/>
                  </a:cubicBezTo>
                  <a:lnTo>
                    <a:pt x="24384" y="4575556"/>
                  </a:lnTo>
                  <a:cubicBezTo>
                    <a:pt x="10922" y="4575556"/>
                    <a:pt x="0" y="4564634"/>
                    <a:pt x="0" y="4551172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098137" y="4439888"/>
            <a:ext cx="7481068" cy="3112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1"/>
              </a:lnSpc>
            </a:pPr>
            <a:r>
              <a:rPr lang="en-US" sz="1876" b="true">
                <a:solidFill>
                  <a:srgbClr val="2563EB"/>
                </a:solidFill>
                <a:latin typeface="Aptos Bold"/>
                <a:ea typeface="Aptos Bold"/>
                <a:cs typeface="Aptos Bold"/>
                <a:sym typeface="Aptos Bold"/>
              </a:rPr>
              <a:t>Movement Categorization Methodology</a:t>
            </a:r>
          </a:p>
          <a:p>
            <a:pPr algn="l">
              <a:lnSpc>
                <a:spcPts val="2416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- ABC Value Analysis (Cumulative Movement Value):</a:t>
            </a:r>
          </a:p>
          <a:p>
            <a:pPr algn="l">
              <a:lnSpc>
                <a:spcPts val="2416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   - Class A: Top 80% cumulative value (high-priority revenue drivers).</a:t>
            </a:r>
          </a:p>
          <a:p>
            <a:pPr algn="l">
              <a:lnSpc>
                <a:spcPts val="2416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   - Class B: Next 15% cumulative value (80% to 95%).</a:t>
            </a:r>
          </a:p>
          <a:p>
            <a:pPr algn="l">
              <a:lnSpc>
                <a:spcPts val="2416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   - Class C: Final 5% cumulative value (tail products, 95% to 100%).</a:t>
            </a:r>
          </a:p>
          <a:p>
            <a:pPr algn="l">
              <a:lnSpc>
                <a:spcPts val="2416"/>
              </a:lnSpc>
            </a:pPr>
          </a:p>
          <a:p>
            <a:pPr algn="l">
              <a:lnSpc>
                <a:spcPts val="2416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- FSN Velocity Analysis (Order Frequency Percentiles):</a:t>
            </a:r>
          </a:p>
          <a:p>
            <a:pPr algn="l">
              <a:lnSpc>
                <a:spcPts val="2416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   - Fast Moving: &gt;= 67th percentile of order frequency.</a:t>
            </a:r>
          </a:p>
          <a:p>
            <a:pPr algn="l">
              <a:lnSpc>
                <a:spcPts val="2416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   - Moderate Moving: 33rd to 67th percentile.</a:t>
            </a:r>
          </a:p>
          <a:p>
            <a:pPr algn="l">
              <a:lnSpc>
                <a:spcPts val="2416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   - Slow Moving: &lt;= 33rd percentile (NO 'Non-Moving' class exists).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059642" y="4314387"/>
            <a:ext cx="8382833" cy="3450746"/>
            <a:chOff x="0" y="0"/>
            <a:chExt cx="11177111" cy="460099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177111" cy="4600994"/>
            </a:xfrm>
            <a:custGeom>
              <a:avLst/>
              <a:gdLst/>
              <a:ahLst/>
              <a:cxnLst/>
              <a:rect r="r" b="b" t="t" l="l"/>
              <a:pathLst>
                <a:path h="4600994" w="11177111">
                  <a:moveTo>
                    <a:pt x="0" y="106723"/>
                  </a:moveTo>
                  <a:cubicBezTo>
                    <a:pt x="0" y="47781"/>
                    <a:pt x="67417" y="0"/>
                    <a:pt x="150581" y="0"/>
                  </a:cubicBezTo>
                  <a:lnTo>
                    <a:pt x="11026530" y="0"/>
                  </a:lnTo>
                  <a:cubicBezTo>
                    <a:pt x="11109695" y="0"/>
                    <a:pt x="11177111" y="47781"/>
                    <a:pt x="11177111" y="106723"/>
                  </a:cubicBezTo>
                  <a:lnTo>
                    <a:pt x="11177111" y="4494271"/>
                  </a:lnTo>
                  <a:cubicBezTo>
                    <a:pt x="11177111" y="4553214"/>
                    <a:pt x="11109695" y="4600994"/>
                    <a:pt x="11026530" y="4600994"/>
                  </a:cubicBezTo>
                  <a:lnTo>
                    <a:pt x="150581" y="4600994"/>
                  </a:lnTo>
                  <a:cubicBezTo>
                    <a:pt x="67417" y="4600994"/>
                    <a:pt x="0" y="4553213"/>
                    <a:pt x="0" y="4494271"/>
                  </a:cubicBezTo>
                  <a:close/>
                </a:path>
              </a:pathLst>
            </a:custGeom>
            <a:solidFill>
              <a:srgbClr val="F8FAFC"/>
            </a:solidFill>
            <a:ln w="19065" cap="sq">
              <a:solidFill>
                <a:srgbClr val="CBD5E1"/>
              </a:solidFill>
              <a:prstDash val="solid"/>
              <a:miter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9279265" y="4524351"/>
            <a:ext cx="7934049" cy="30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0F766E"/>
                </a:solidFill>
                <a:latin typeface="Aptos Bold"/>
                <a:ea typeface="Aptos Bold"/>
                <a:cs typeface="Aptos Bold"/>
                <a:sym typeface="Aptos Bold"/>
              </a:rPr>
              <a:t>DAX FORMULAS — INVENTORY MOVEMENT &amp; VELOCITY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279265" y="4873966"/>
            <a:ext cx="7934049" cy="2911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-- Improved Product Velocity (Normalized by active breadth &amp; time)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Product Velocity =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DIVIDE(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    [Units Moved],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    [Active Products] * [Active Movement Months]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</a:p>
          <a:p>
            <a:pPr algn="l">
              <a:lnSpc>
                <a:spcPts val="1621"/>
              </a:lnSpc>
            </a:pP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-- Demand Variability (Coefficient of Variation)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Demand Variability =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DIVIDE(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    STDEV.S('Monthly_Movement'[Units Moved]),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    AVERAGE('Monthly_Movement'[Units Moved])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814073" y="7951965"/>
            <a:ext cx="16628402" cy="1460373"/>
            <a:chOff x="0" y="0"/>
            <a:chExt cx="22171203" cy="194716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2171152" cy="1947164"/>
            </a:xfrm>
            <a:custGeom>
              <a:avLst/>
              <a:gdLst/>
              <a:ahLst/>
              <a:cxnLst/>
              <a:rect r="r" b="b" t="t" l="l"/>
              <a:pathLst>
                <a:path h="1947164" w="22171152">
                  <a:moveTo>
                    <a:pt x="0" y="324485"/>
                  </a:moveTo>
                  <a:cubicBezTo>
                    <a:pt x="0" y="145288"/>
                    <a:pt x="145288" y="0"/>
                    <a:pt x="324485" y="0"/>
                  </a:cubicBezTo>
                  <a:lnTo>
                    <a:pt x="21846667" y="0"/>
                  </a:lnTo>
                  <a:cubicBezTo>
                    <a:pt x="22025863" y="0"/>
                    <a:pt x="22171152" y="145288"/>
                    <a:pt x="22171152" y="324485"/>
                  </a:cubicBezTo>
                  <a:lnTo>
                    <a:pt x="22171152" y="1622679"/>
                  </a:lnTo>
                  <a:cubicBezTo>
                    <a:pt x="22171152" y="1801876"/>
                    <a:pt x="22025863" y="1947164"/>
                    <a:pt x="21846667" y="1947164"/>
                  </a:cubicBezTo>
                  <a:lnTo>
                    <a:pt x="324485" y="1947164"/>
                  </a:lnTo>
                  <a:cubicBezTo>
                    <a:pt x="145288" y="1947164"/>
                    <a:pt x="0" y="1801876"/>
                    <a:pt x="0" y="1622679"/>
                  </a:cubicBezTo>
                  <a:close/>
                </a:path>
              </a:pathLst>
            </a:custGeom>
            <a:solidFill>
              <a:srgbClr val="F0FDFA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823608" y="7961500"/>
            <a:ext cx="109814" cy="1441304"/>
            <a:chOff x="0" y="0"/>
            <a:chExt cx="146418" cy="192173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46431" cy="1921764"/>
            </a:xfrm>
            <a:custGeom>
              <a:avLst/>
              <a:gdLst/>
              <a:ahLst/>
              <a:cxnLst/>
              <a:rect r="r" b="b" t="t" l="l"/>
              <a:pathLst>
                <a:path h="1921764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897380"/>
                  </a:lnTo>
                  <a:cubicBezTo>
                    <a:pt x="146431" y="1910842"/>
                    <a:pt x="135509" y="1921764"/>
                    <a:pt x="122047" y="1921764"/>
                  </a:cubicBezTo>
                  <a:lnTo>
                    <a:pt x="24384" y="1921764"/>
                  </a:lnTo>
                  <a:cubicBezTo>
                    <a:pt x="10922" y="1921764"/>
                    <a:pt x="0" y="1910842"/>
                    <a:pt x="0" y="1897380"/>
                  </a:cubicBezTo>
                  <a:close/>
                </a:path>
              </a:pathLst>
            </a:custGeom>
            <a:solidFill>
              <a:srgbClr val="00B09B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1098137" y="8039376"/>
            <a:ext cx="16128902" cy="1095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1876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Operational Takeaway</a:t>
            </a:r>
          </a:p>
          <a:p>
            <a:pPr algn="l">
              <a:lnSpc>
                <a:spcPts val="2732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Health &amp; Beauty, Computer Accessories, and Bed/Bath/Table represent the primary Class A / Fast-Moving volume drivers. Supply chain optimization must prioritize lane capacity and supplier SLAs for these high-throughput categories.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823608" y="9677343"/>
            <a:ext cx="16654634" cy="20593"/>
            <a:chOff x="0" y="0"/>
            <a:chExt cx="22206179" cy="27457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2206204" cy="27432"/>
            </a:xfrm>
            <a:custGeom>
              <a:avLst/>
              <a:gdLst/>
              <a:ahLst/>
              <a:cxnLst/>
              <a:rect r="r" b="b" t="t" l="l"/>
              <a:pathLst>
                <a:path h="27432" w="22206204">
                  <a:moveTo>
                    <a:pt x="0" y="0"/>
                  </a:moveTo>
                  <a:lnTo>
                    <a:pt x="22206204" y="0"/>
                  </a:lnTo>
                  <a:lnTo>
                    <a:pt x="22206204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D8E3F0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823608" y="9773431"/>
            <a:ext cx="5490686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Slide 7 of 20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987546" y="9773431"/>
            <a:ext cx="5490686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11"/>
              </a:lnSpc>
            </a:pPr>
            <a:r>
              <a:rPr lang="en-US" sz="1426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Final Project Presentation | M1-M4 Complete Journey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9814"/>
            <a:chOff x="0" y="0"/>
            <a:chExt cx="24402453" cy="146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46431"/>
            </a:xfrm>
            <a:custGeom>
              <a:avLst/>
              <a:gdLst/>
              <a:ahLst/>
              <a:cxnLst/>
              <a:rect r="r" b="b" t="t" l="l"/>
              <a:pathLst>
                <a:path h="14643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00B09B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23608" y="301990"/>
            <a:ext cx="10981382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0F766E"/>
                </a:solidFill>
                <a:latin typeface="Aptos Bold"/>
                <a:ea typeface="Aptos Bold"/>
                <a:cs typeface="Aptos Bold"/>
                <a:sym typeface="Aptos Bold"/>
              </a:rPr>
              <a:t>SUPPLY CHAIN VISIBILITY &amp; OPTIMISATION  -  MILESTONE 4 - TEAM 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23608" y="754971"/>
            <a:ext cx="10981382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0F766E"/>
                </a:solidFill>
                <a:latin typeface="Aptos Bold"/>
                <a:ea typeface="Aptos Bold"/>
                <a:cs typeface="Aptos Bold"/>
                <a:sym typeface="Aptos Bold"/>
              </a:rPr>
              <a:t>MILESTONE 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23608" y="1325613"/>
            <a:ext cx="1647206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Delivery Performance &amp; Regional Drilldown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3608" y="1948358"/>
            <a:ext cx="1647206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Measuring delivery variance, late-order severity, and multi-tier geographic hierarchies.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14073" y="2461279"/>
            <a:ext cx="3931177" cy="1529001"/>
            <a:chOff x="0" y="0"/>
            <a:chExt cx="5241569" cy="20386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41544" cy="2038604"/>
            </a:xfrm>
            <a:custGeom>
              <a:avLst/>
              <a:gdLst/>
              <a:ahLst/>
              <a:cxnLst/>
              <a:rect r="r" b="b" t="t" l="l"/>
              <a:pathLst>
                <a:path h="2038604" w="5241544">
                  <a:moveTo>
                    <a:pt x="0" y="339725"/>
                  </a:moveTo>
                  <a:cubicBezTo>
                    <a:pt x="0" y="152146"/>
                    <a:pt x="152146" y="0"/>
                    <a:pt x="339725" y="0"/>
                  </a:cubicBezTo>
                  <a:lnTo>
                    <a:pt x="4901819" y="0"/>
                  </a:lnTo>
                  <a:cubicBezTo>
                    <a:pt x="5089525" y="0"/>
                    <a:pt x="5241544" y="152146"/>
                    <a:pt x="5241544" y="339725"/>
                  </a:cubicBezTo>
                  <a:lnTo>
                    <a:pt x="5241544" y="1698879"/>
                  </a:lnTo>
                  <a:cubicBezTo>
                    <a:pt x="5241544" y="1886585"/>
                    <a:pt x="5089398" y="2038604"/>
                    <a:pt x="4901819" y="2038604"/>
                  </a:cubicBezTo>
                  <a:lnTo>
                    <a:pt x="339725" y="2038604"/>
                  </a:lnTo>
                  <a:cubicBezTo>
                    <a:pt x="152146" y="2038731"/>
                    <a:pt x="0" y="1886585"/>
                    <a:pt x="0" y="169887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823608" y="2470814"/>
            <a:ext cx="109814" cy="1509941"/>
            <a:chOff x="0" y="0"/>
            <a:chExt cx="146418" cy="201325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6431" cy="2013204"/>
            </a:xfrm>
            <a:custGeom>
              <a:avLst/>
              <a:gdLst/>
              <a:ahLst/>
              <a:cxnLst/>
              <a:rect r="r" b="b" t="t" l="l"/>
              <a:pathLst>
                <a:path h="2013204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988820"/>
                  </a:lnTo>
                  <a:cubicBezTo>
                    <a:pt x="146431" y="2002282"/>
                    <a:pt x="135509" y="2013204"/>
                    <a:pt x="122047" y="2013204"/>
                  </a:cubicBezTo>
                  <a:lnTo>
                    <a:pt x="24384" y="2013204"/>
                  </a:lnTo>
                  <a:cubicBezTo>
                    <a:pt x="10922" y="2013204"/>
                    <a:pt x="0" y="2002282"/>
                    <a:pt x="0" y="1988820"/>
                  </a:cubicBezTo>
                  <a:close/>
                </a:path>
              </a:pathLst>
            </a:custGeom>
            <a:solidFill>
              <a:srgbClr val="16A34A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43235" y="2519993"/>
            <a:ext cx="3582676" cy="1327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2"/>
              </a:lnSpc>
            </a:pPr>
            <a:r>
              <a:rPr lang="en-US" b="true" sz="3152">
                <a:solidFill>
                  <a:srgbClr val="16A34A"/>
                </a:solidFill>
                <a:latin typeface="Aptos Bold"/>
                <a:ea typeface="Aptos Bold"/>
                <a:cs typeface="Aptos Bold"/>
                <a:sym typeface="Aptos Bold"/>
              </a:rPr>
              <a:t>93.91%</a:t>
            </a:r>
          </a:p>
          <a:p>
            <a:pPr algn="l">
              <a:lnSpc>
                <a:spcPts val="2711"/>
              </a:lnSpc>
            </a:pPr>
            <a:r>
              <a:rPr lang="en-US" b="true" sz="1576">
                <a:solidFill>
                  <a:srgbClr val="16A34A"/>
                </a:solidFill>
                <a:latin typeface="Aptos Bold"/>
                <a:ea typeface="Aptos Bold"/>
                <a:cs typeface="Aptos Bold"/>
                <a:sym typeface="Aptos Bold"/>
              </a:rPr>
              <a:t>On-Time Delivery</a:t>
            </a:r>
          </a:p>
          <a:p>
            <a:pPr algn="l">
              <a:lnSpc>
                <a:spcPts val="2323"/>
              </a:lnSpc>
            </a:pPr>
            <a:r>
              <a:rPr lang="en-US" sz="1351">
                <a:solidFill>
                  <a:srgbClr val="16A34A"/>
                </a:solidFill>
                <a:latin typeface="Aptos"/>
                <a:ea typeface="Aptos"/>
                <a:cs typeface="Aptos"/>
                <a:sym typeface="Aptos"/>
              </a:rPr>
              <a:t>Orders on or before ETA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000720" y="2461279"/>
            <a:ext cx="3931177" cy="1529001"/>
            <a:chOff x="0" y="0"/>
            <a:chExt cx="5241569" cy="203866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241544" cy="2038604"/>
            </a:xfrm>
            <a:custGeom>
              <a:avLst/>
              <a:gdLst/>
              <a:ahLst/>
              <a:cxnLst/>
              <a:rect r="r" b="b" t="t" l="l"/>
              <a:pathLst>
                <a:path h="2038604" w="5241544">
                  <a:moveTo>
                    <a:pt x="0" y="339725"/>
                  </a:moveTo>
                  <a:cubicBezTo>
                    <a:pt x="0" y="152146"/>
                    <a:pt x="152146" y="0"/>
                    <a:pt x="339725" y="0"/>
                  </a:cubicBezTo>
                  <a:lnTo>
                    <a:pt x="4901819" y="0"/>
                  </a:lnTo>
                  <a:cubicBezTo>
                    <a:pt x="5089525" y="0"/>
                    <a:pt x="5241544" y="152146"/>
                    <a:pt x="5241544" y="339725"/>
                  </a:cubicBezTo>
                  <a:lnTo>
                    <a:pt x="5241544" y="1698879"/>
                  </a:lnTo>
                  <a:cubicBezTo>
                    <a:pt x="5241544" y="1886585"/>
                    <a:pt x="5089398" y="2038604"/>
                    <a:pt x="4901819" y="2038604"/>
                  </a:cubicBezTo>
                  <a:lnTo>
                    <a:pt x="339725" y="2038604"/>
                  </a:lnTo>
                  <a:cubicBezTo>
                    <a:pt x="152146" y="2038731"/>
                    <a:pt x="0" y="1886585"/>
                    <a:pt x="0" y="169887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5010255" y="2470814"/>
            <a:ext cx="109814" cy="1509941"/>
            <a:chOff x="0" y="0"/>
            <a:chExt cx="146418" cy="201325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431" cy="2013204"/>
            </a:xfrm>
            <a:custGeom>
              <a:avLst/>
              <a:gdLst/>
              <a:ahLst/>
              <a:cxnLst/>
              <a:rect r="r" b="b" t="t" l="l"/>
              <a:pathLst>
                <a:path h="2013204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988820"/>
                  </a:lnTo>
                  <a:cubicBezTo>
                    <a:pt x="146431" y="2002282"/>
                    <a:pt x="135509" y="2013204"/>
                    <a:pt x="122047" y="2013204"/>
                  </a:cubicBezTo>
                  <a:lnTo>
                    <a:pt x="24384" y="2013204"/>
                  </a:lnTo>
                  <a:cubicBezTo>
                    <a:pt x="10922" y="2013204"/>
                    <a:pt x="0" y="2002282"/>
                    <a:pt x="0" y="1988820"/>
                  </a:cubicBezTo>
                  <a:close/>
                </a:path>
              </a:pathLst>
            </a:custGeom>
            <a:solidFill>
              <a:srgbClr val="DC2626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5229882" y="2519993"/>
            <a:ext cx="3582676" cy="1327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2"/>
              </a:lnSpc>
            </a:pPr>
            <a:r>
              <a:rPr lang="en-US" b="true" sz="3152">
                <a:solidFill>
                  <a:srgbClr val="DC2626"/>
                </a:solidFill>
                <a:latin typeface="Aptos Bold"/>
                <a:ea typeface="Aptos Bold"/>
                <a:cs typeface="Aptos Bold"/>
                <a:sym typeface="Aptos Bold"/>
              </a:rPr>
              <a:t>6.09%</a:t>
            </a:r>
          </a:p>
          <a:p>
            <a:pPr algn="l">
              <a:lnSpc>
                <a:spcPts val="2711"/>
              </a:lnSpc>
            </a:pPr>
            <a:r>
              <a:rPr lang="en-US" b="true" sz="1576">
                <a:solidFill>
                  <a:srgbClr val="DC2626"/>
                </a:solidFill>
                <a:latin typeface="Aptos Bold"/>
                <a:ea typeface="Aptos Bold"/>
                <a:cs typeface="Aptos Bold"/>
                <a:sym typeface="Aptos Bold"/>
              </a:rPr>
              <a:t>Late Delivery %</a:t>
            </a:r>
          </a:p>
          <a:p>
            <a:pPr algn="l">
              <a:lnSpc>
                <a:spcPts val="2323"/>
              </a:lnSpc>
            </a:pPr>
            <a:r>
              <a:rPr lang="en-US" sz="1351">
                <a:solidFill>
                  <a:srgbClr val="DC2626"/>
                </a:solidFill>
                <a:latin typeface="Aptos"/>
                <a:ea typeface="Aptos"/>
                <a:cs typeface="Aptos"/>
                <a:sym typeface="Aptos"/>
              </a:rPr>
              <a:t>Orders breaching promised ETA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187377" y="2461279"/>
            <a:ext cx="3931177" cy="1529001"/>
            <a:chOff x="0" y="0"/>
            <a:chExt cx="5241569" cy="20386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41544" cy="2038604"/>
            </a:xfrm>
            <a:custGeom>
              <a:avLst/>
              <a:gdLst/>
              <a:ahLst/>
              <a:cxnLst/>
              <a:rect r="r" b="b" t="t" l="l"/>
              <a:pathLst>
                <a:path h="2038604" w="5241544">
                  <a:moveTo>
                    <a:pt x="0" y="339725"/>
                  </a:moveTo>
                  <a:cubicBezTo>
                    <a:pt x="0" y="152146"/>
                    <a:pt x="152146" y="0"/>
                    <a:pt x="339725" y="0"/>
                  </a:cubicBezTo>
                  <a:lnTo>
                    <a:pt x="4901819" y="0"/>
                  </a:lnTo>
                  <a:cubicBezTo>
                    <a:pt x="5089525" y="0"/>
                    <a:pt x="5241544" y="152146"/>
                    <a:pt x="5241544" y="339725"/>
                  </a:cubicBezTo>
                  <a:lnTo>
                    <a:pt x="5241544" y="1698879"/>
                  </a:lnTo>
                  <a:cubicBezTo>
                    <a:pt x="5241544" y="1886585"/>
                    <a:pt x="5089398" y="2038604"/>
                    <a:pt x="4901819" y="2038604"/>
                  </a:cubicBezTo>
                  <a:lnTo>
                    <a:pt x="339725" y="2038604"/>
                  </a:lnTo>
                  <a:cubicBezTo>
                    <a:pt x="152146" y="2038731"/>
                    <a:pt x="0" y="1886585"/>
                    <a:pt x="0" y="169887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196902" y="2470814"/>
            <a:ext cx="109814" cy="1509941"/>
            <a:chOff x="0" y="0"/>
            <a:chExt cx="146418" cy="201325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6431" cy="2013204"/>
            </a:xfrm>
            <a:custGeom>
              <a:avLst/>
              <a:gdLst/>
              <a:ahLst/>
              <a:cxnLst/>
              <a:rect r="r" b="b" t="t" l="l"/>
              <a:pathLst>
                <a:path h="2013204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988820"/>
                  </a:lnTo>
                  <a:cubicBezTo>
                    <a:pt x="146431" y="2002282"/>
                    <a:pt x="135509" y="2013204"/>
                    <a:pt x="122047" y="2013204"/>
                  </a:cubicBezTo>
                  <a:lnTo>
                    <a:pt x="24384" y="2013204"/>
                  </a:lnTo>
                  <a:cubicBezTo>
                    <a:pt x="10922" y="2013204"/>
                    <a:pt x="0" y="2002282"/>
                    <a:pt x="0" y="1988820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416529" y="2519993"/>
            <a:ext cx="3582676" cy="1327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2"/>
              </a:lnSpc>
            </a:pPr>
            <a:r>
              <a:rPr lang="en-US" b="true" sz="3152">
                <a:solidFill>
                  <a:srgbClr val="2563EB"/>
                </a:solidFill>
                <a:latin typeface="Aptos Bold"/>
                <a:ea typeface="Aptos Bold"/>
                <a:cs typeface="Aptos Bold"/>
                <a:sym typeface="Aptos Bold"/>
              </a:rPr>
              <a:t>11.52 Days</a:t>
            </a:r>
          </a:p>
          <a:p>
            <a:pPr algn="l">
              <a:lnSpc>
                <a:spcPts val="2711"/>
              </a:lnSpc>
            </a:pPr>
            <a:r>
              <a:rPr lang="en-US" b="true" sz="1576">
                <a:solidFill>
                  <a:srgbClr val="2563EB"/>
                </a:solidFill>
                <a:latin typeface="Aptos Bold"/>
                <a:ea typeface="Aptos Bold"/>
                <a:cs typeface="Aptos Bold"/>
                <a:sym typeface="Aptos Bold"/>
              </a:rPr>
              <a:t>Avg Delivery Time</a:t>
            </a:r>
          </a:p>
          <a:p>
            <a:pPr algn="l">
              <a:lnSpc>
                <a:spcPts val="2323"/>
              </a:lnSpc>
            </a:pPr>
            <a:r>
              <a:rPr lang="en-US" sz="1351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rPr>
              <a:t>Total fulfillment lead time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3374024" y="2461279"/>
            <a:ext cx="4068451" cy="1529001"/>
            <a:chOff x="0" y="0"/>
            <a:chExt cx="5424602" cy="203866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424551" cy="2038604"/>
            </a:xfrm>
            <a:custGeom>
              <a:avLst/>
              <a:gdLst/>
              <a:ahLst/>
              <a:cxnLst/>
              <a:rect r="r" b="b" t="t" l="l"/>
              <a:pathLst>
                <a:path h="2038604" w="5424551">
                  <a:moveTo>
                    <a:pt x="0" y="339725"/>
                  </a:moveTo>
                  <a:cubicBezTo>
                    <a:pt x="0" y="152146"/>
                    <a:pt x="152146" y="0"/>
                    <a:pt x="339725" y="0"/>
                  </a:cubicBezTo>
                  <a:lnTo>
                    <a:pt x="5084826" y="0"/>
                  </a:lnTo>
                  <a:cubicBezTo>
                    <a:pt x="5272532" y="0"/>
                    <a:pt x="5424551" y="152146"/>
                    <a:pt x="5424551" y="339725"/>
                  </a:cubicBezTo>
                  <a:lnTo>
                    <a:pt x="5424551" y="1698879"/>
                  </a:lnTo>
                  <a:cubicBezTo>
                    <a:pt x="5424551" y="1886585"/>
                    <a:pt x="5272405" y="2038604"/>
                    <a:pt x="5084826" y="2038604"/>
                  </a:cubicBezTo>
                  <a:lnTo>
                    <a:pt x="339725" y="2038604"/>
                  </a:lnTo>
                  <a:cubicBezTo>
                    <a:pt x="152146" y="2038731"/>
                    <a:pt x="0" y="1886585"/>
                    <a:pt x="0" y="169887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3383558" y="2470814"/>
            <a:ext cx="109814" cy="1509941"/>
            <a:chOff x="0" y="0"/>
            <a:chExt cx="146418" cy="201325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6431" cy="2013204"/>
            </a:xfrm>
            <a:custGeom>
              <a:avLst/>
              <a:gdLst/>
              <a:ahLst/>
              <a:cxnLst/>
              <a:rect r="r" b="b" t="t" l="l"/>
              <a:pathLst>
                <a:path h="2013204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988820"/>
                  </a:lnTo>
                  <a:cubicBezTo>
                    <a:pt x="146431" y="2002282"/>
                    <a:pt x="135509" y="2013204"/>
                    <a:pt x="122047" y="2013204"/>
                  </a:cubicBezTo>
                  <a:lnTo>
                    <a:pt x="24384" y="2013204"/>
                  </a:lnTo>
                  <a:cubicBezTo>
                    <a:pt x="10922" y="2013204"/>
                    <a:pt x="0" y="2002282"/>
                    <a:pt x="0" y="1988820"/>
                  </a:cubicBezTo>
                  <a:close/>
                </a:path>
              </a:pathLst>
            </a:custGeom>
            <a:solidFill>
              <a:srgbClr val="00B09B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3603186" y="2519993"/>
            <a:ext cx="3719941" cy="1327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2"/>
              </a:lnSpc>
            </a:pPr>
            <a:r>
              <a:rPr lang="en-US" sz="3152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-11.81 Days</a:t>
            </a:r>
          </a:p>
          <a:p>
            <a:pPr algn="l">
              <a:lnSpc>
                <a:spcPts val="2711"/>
              </a:lnSpc>
            </a:pPr>
            <a:r>
              <a:rPr lang="en-US" sz="1576" b="true">
                <a:solidFill>
                  <a:srgbClr val="00B09B"/>
                </a:solidFill>
                <a:latin typeface="Aptos Bold"/>
                <a:ea typeface="Aptos Bold"/>
                <a:cs typeface="Aptos Bold"/>
                <a:sym typeface="Aptos Bold"/>
              </a:rPr>
              <a:t>Avg Delivery Variance</a:t>
            </a:r>
          </a:p>
          <a:p>
            <a:pPr algn="l">
              <a:lnSpc>
                <a:spcPts val="2323"/>
              </a:lnSpc>
            </a:pPr>
            <a:r>
              <a:rPr lang="en-US" sz="1351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Negative indicates early arrival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814073" y="4342705"/>
            <a:ext cx="7980569" cy="3422428"/>
            <a:chOff x="0" y="0"/>
            <a:chExt cx="10640759" cy="456323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640758" cy="4563237"/>
            </a:xfrm>
            <a:custGeom>
              <a:avLst/>
              <a:gdLst/>
              <a:ahLst/>
              <a:cxnLst/>
              <a:rect r="r" b="b" t="t" l="l"/>
              <a:pathLst>
                <a:path h="4563237" w="10640758">
                  <a:moveTo>
                    <a:pt x="0" y="105847"/>
                  </a:moveTo>
                  <a:cubicBezTo>
                    <a:pt x="0" y="47389"/>
                    <a:pt x="64182" y="0"/>
                    <a:pt x="143355" y="0"/>
                  </a:cubicBezTo>
                  <a:lnTo>
                    <a:pt x="10497403" y="0"/>
                  </a:lnTo>
                  <a:cubicBezTo>
                    <a:pt x="10576577" y="0"/>
                    <a:pt x="10640758" y="47389"/>
                    <a:pt x="10640758" y="105847"/>
                  </a:cubicBezTo>
                  <a:lnTo>
                    <a:pt x="10640758" y="4457390"/>
                  </a:lnTo>
                  <a:cubicBezTo>
                    <a:pt x="10640758" y="4515848"/>
                    <a:pt x="10576577" y="4563237"/>
                    <a:pt x="10497403" y="4563237"/>
                  </a:cubicBezTo>
                  <a:lnTo>
                    <a:pt x="143355" y="4563237"/>
                  </a:lnTo>
                  <a:cubicBezTo>
                    <a:pt x="64182" y="4563237"/>
                    <a:pt x="0" y="4515848"/>
                    <a:pt x="0" y="445739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823608" y="4323921"/>
            <a:ext cx="109814" cy="3431677"/>
            <a:chOff x="0" y="0"/>
            <a:chExt cx="146418" cy="457556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46431" cy="4575556"/>
            </a:xfrm>
            <a:custGeom>
              <a:avLst/>
              <a:gdLst/>
              <a:ahLst/>
              <a:cxnLst/>
              <a:rect r="r" b="b" t="t" l="l"/>
              <a:pathLst>
                <a:path h="4575556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4551172"/>
                  </a:lnTo>
                  <a:cubicBezTo>
                    <a:pt x="146431" y="4564634"/>
                    <a:pt x="135509" y="4575556"/>
                    <a:pt x="122047" y="4575556"/>
                  </a:cubicBezTo>
                  <a:lnTo>
                    <a:pt x="24384" y="4575556"/>
                  </a:lnTo>
                  <a:cubicBezTo>
                    <a:pt x="10922" y="4575556"/>
                    <a:pt x="0" y="4564634"/>
                    <a:pt x="0" y="4551172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098137" y="4363688"/>
            <a:ext cx="7481068" cy="3125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7"/>
              </a:lnSpc>
            </a:pPr>
            <a:r>
              <a:rPr lang="en-US" sz="1876" b="true">
                <a:solidFill>
                  <a:srgbClr val="2563EB"/>
                </a:solidFill>
                <a:latin typeface="Aptos Bold"/>
                <a:ea typeface="Aptos Bold"/>
                <a:cs typeface="Aptos Bold"/>
                <a:sym typeface="Aptos Bold"/>
              </a:rPr>
              <a:t>Delivery Severity &amp; Geographic Hierarchies</a:t>
            </a:r>
          </a:p>
          <a:p>
            <a:pPr algn="l">
              <a:lnSpc>
                <a:spcPts val="3062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- Reframing 'Delay' to 'Delivery Variance': A negative variance represents orders arriving ahead of promised schedule (average -11.81 days early).</a:t>
            </a:r>
          </a:p>
          <a:p>
            <a:pPr algn="l">
              <a:lnSpc>
                <a:spcPts val="3062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- Severity Tiers: Early (majority), On Time, 1-3 Days Late (minor lag), 4-7 Days Late (moderate disruption), 8+ Days Late (critical failure).</a:t>
            </a:r>
          </a:p>
          <a:p>
            <a:pPr algn="l">
              <a:lnSpc>
                <a:spcPts val="3062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- Multi-Level Customer Hierarchy:</a:t>
            </a:r>
          </a:p>
          <a:p>
            <a:pPr algn="l">
              <a:lnSpc>
                <a:spcPts val="3062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   Customer Region -&gt; Customer State -&gt; Customer City -&gt; Product Category -&gt; Product ID</a:t>
            </a:r>
          </a:p>
          <a:p>
            <a:pPr algn="l">
              <a:lnSpc>
                <a:spcPts val="3062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- Seller Hierarchy: Seller State -&gt; Seller City -&gt; Seller ID -&gt; Category.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059642" y="4314387"/>
            <a:ext cx="8382833" cy="3450746"/>
            <a:chOff x="0" y="0"/>
            <a:chExt cx="11177111" cy="460099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177111" cy="4600994"/>
            </a:xfrm>
            <a:custGeom>
              <a:avLst/>
              <a:gdLst/>
              <a:ahLst/>
              <a:cxnLst/>
              <a:rect r="r" b="b" t="t" l="l"/>
              <a:pathLst>
                <a:path h="4600994" w="11177111">
                  <a:moveTo>
                    <a:pt x="0" y="106723"/>
                  </a:moveTo>
                  <a:cubicBezTo>
                    <a:pt x="0" y="47781"/>
                    <a:pt x="67417" y="0"/>
                    <a:pt x="150581" y="0"/>
                  </a:cubicBezTo>
                  <a:lnTo>
                    <a:pt x="11026530" y="0"/>
                  </a:lnTo>
                  <a:cubicBezTo>
                    <a:pt x="11109695" y="0"/>
                    <a:pt x="11177111" y="47781"/>
                    <a:pt x="11177111" y="106723"/>
                  </a:cubicBezTo>
                  <a:lnTo>
                    <a:pt x="11177111" y="4494271"/>
                  </a:lnTo>
                  <a:cubicBezTo>
                    <a:pt x="11177111" y="4553214"/>
                    <a:pt x="11109695" y="4600994"/>
                    <a:pt x="11026530" y="4600994"/>
                  </a:cubicBezTo>
                  <a:lnTo>
                    <a:pt x="150581" y="4600994"/>
                  </a:lnTo>
                  <a:cubicBezTo>
                    <a:pt x="67417" y="4600994"/>
                    <a:pt x="0" y="4553213"/>
                    <a:pt x="0" y="4494271"/>
                  </a:cubicBezTo>
                  <a:close/>
                </a:path>
              </a:pathLst>
            </a:custGeom>
            <a:solidFill>
              <a:srgbClr val="F8FAFC"/>
            </a:solidFill>
            <a:ln w="19065" cap="sq">
              <a:solidFill>
                <a:srgbClr val="CBD5E1"/>
              </a:solidFill>
              <a:prstDash val="solid"/>
              <a:miter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9279265" y="4433735"/>
            <a:ext cx="7934049" cy="30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0F766E"/>
                </a:solidFill>
                <a:latin typeface="Aptos Bold"/>
                <a:ea typeface="Aptos Bold"/>
                <a:cs typeface="Aptos Bold"/>
                <a:sym typeface="Aptos Bold"/>
              </a:rPr>
              <a:t>DAX FORMULAS — SERVICE RELIABILITY &amp; SEVERITY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279265" y="4734601"/>
            <a:ext cx="7934049" cy="2911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-- 1. On-Time Delivery Percentage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On-Time Delivery % =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DIVIDE(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    CALCULATE(DISTINCTCOUNT('Dataset'[order_id]), 'Dataset'[delivery_delay] &lt;= 0),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    DISTINCTCOUNT('Dataset'[order_id])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</a:p>
          <a:p>
            <a:pPr algn="l">
              <a:lnSpc>
                <a:spcPts val="1621"/>
              </a:lnSpc>
            </a:pP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-- 2. Average Delivery Variance (Days)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Average Delivery Variance =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AVERAGE('Dataset'[delivery_delay])</a:t>
            </a:r>
          </a:p>
          <a:p>
            <a:pPr algn="l">
              <a:lnSpc>
                <a:spcPts val="1621"/>
              </a:lnSpc>
            </a:pP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-- 3. Average Early Delivery Days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Avg Early Delivery Days =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CALCULATE(ABS(AVERAGE('Dataset'[delivery_delay])), 'Dataset'[delivery_delay] &lt; 0)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814073" y="7951965"/>
            <a:ext cx="16628402" cy="1460373"/>
            <a:chOff x="0" y="0"/>
            <a:chExt cx="22171203" cy="194716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2171152" cy="1947164"/>
            </a:xfrm>
            <a:custGeom>
              <a:avLst/>
              <a:gdLst/>
              <a:ahLst/>
              <a:cxnLst/>
              <a:rect r="r" b="b" t="t" l="l"/>
              <a:pathLst>
                <a:path h="1947164" w="22171152">
                  <a:moveTo>
                    <a:pt x="0" y="324485"/>
                  </a:moveTo>
                  <a:cubicBezTo>
                    <a:pt x="0" y="145288"/>
                    <a:pt x="145288" y="0"/>
                    <a:pt x="324485" y="0"/>
                  </a:cubicBezTo>
                  <a:lnTo>
                    <a:pt x="21846667" y="0"/>
                  </a:lnTo>
                  <a:cubicBezTo>
                    <a:pt x="22025863" y="0"/>
                    <a:pt x="22171152" y="145288"/>
                    <a:pt x="22171152" y="324485"/>
                  </a:cubicBezTo>
                  <a:lnTo>
                    <a:pt x="22171152" y="1622679"/>
                  </a:lnTo>
                  <a:cubicBezTo>
                    <a:pt x="22171152" y="1801876"/>
                    <a:pt x="22025863" y="1947164"/>
                    <a:pt x="21846667" y="1947164"/>
                  </a:cubicBezTo>
                  <a:lnTo>
                    <a:pt x="324485" y="1947164"/>
                  </a:lnTo>
                  <a:cubicBezTo>
                    <a:pt x="145288" y="1947164"/>
                    <a:pt x="0" y="1801876"/>
                    <a:pt x="0" y="1622679"/>
                  </a:cubicBezTo>
                  <a:close/>
                </a:path>
              </a:pathLst>
            </a:custGeom>
            <a:solidFill>
              <a:srgbClr val="F5F3FF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823608" y="7961500"/>
            <a:ext cx="109814" cy="1441304"/>
            <a:chOff x="0" y="0"/>
            <a:chExt cx="146418" cy="192173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46431" cy="1921764"/>
            </a:xfrm>
            <a:custGeom>
              <a:avLst/>
              <a:gdLst/>
              <a:ahLst/>
              <a:cxnLst/>
              <a:rect r="r" b="b" t="t" l="l"/>
              <a:pathLst>
                <a:path h="1921764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897380"/>
                  </a:lnTo>
                  <a:cubicBezTo>
                    <a:pt x="146431" y="1910842"/>
                    <a:pt x="135509" y="1921764"/>
                    <a:pt x="122047" y="1921764"/>
                  </a:cubicBezTo>
                  <a:lnTo>
                    <a:pt x="24384" y="1921764"/>
                  </a:lnTo>
                  <a:cubicBezTo>
                    <a:pt x="10922" y="1921764"/>
                    <a:pt x="0" y="1910842"/>
                    <a:pt x="0" y="1897380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1098137" y="8029851"/>
            <a:ext cx="16128902" cy="1130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7"/>
              </a:lnSpc>
            </a:pPr>
            <a:r>
              <a:rPr lang="en-US" sz="1876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Geographic Concentration Insight</a:t>
            </a:r>
          </a:p>
          <a:p>
            <a:pPr algn="l">
              <a:lnSpc>
                <a:spcPts val="2822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Southeast region dominates demand (São Paulo alone generates ~45k movement units). However, remote North and Northeast regions experience longer average lead times and lower on-time delivery percentages.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823608" y="9677343"/>
            <a:ext cx="16654634" cy="20593"/>
            <a:chOff x="0" y="0"/>
            <a:chExt cx="22206179" cy="27457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2206204" cy="27432"/>
            </a:xfrm>
            <a:custGeom>
              <a:avLst/>
              <a:gdLst/>
              <a:ahLst/>
              <a:cxnLst/>
              <a:rect r="r" b="b" t="t" l="l"/>
              <a:pathLst>
                <a:path h="27432" w="22206204">
                  <a:moveTo>
                    <a:pt x="0" y="0"/>
                  </a:moveTo>
                  <a:lnTo>
                    <a:pt x="22206204" y="0"/>
                  </a:lnTo>
                  <a:lnTo>
                    <a:pt x="22206204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D8E3F0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823608" y="9773431"/>
            <a:ext cx="5490686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Slide 8 of 20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987546" y="9773431"/>
            <a:ext cx="5490686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11"/>
              </a:lnSpc>
            </a:pPr>
            <a:r>
              <a:rPr lang="en-US" sz="1426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Final Project Presentation | M1-M4 Complete Journey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9814"/>
            <a:chOff x="0" y="0"/>
            <a:chExt cx="24402453" cy="146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46431"/>
            </a:xfrm>
            <a:custGeom>
              <a:avLst/>
              <a:gdLst/>
              <a:ahLst/>
              <a:cxnLst/>
              <a:rect r="r" b="b" t="t" l="l"/>
              <a:pathLst>
                <a:path h="14643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00B09B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23608" y="301990"/>
            <a:ext cx="10981382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0F766E"/>
                </a:solidFill>
                <a:latin typeface="Aptos Bold"/>
                <a:ea typeface="Aptos Bold"/>
                <a:cs typeface="Aptos Bold"/>
                <a:sym typeface="Aptos Bold"/>
              </a:rPr>
              <a:t>SUPPLY CHAIN VISIBILITY &amp; OPTIMISATION  -  MILESTONE 4 - TEAM 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23608" y="754971"/>
            <a:ext cx="10981382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0F766E"/>
                </a:solidFill>
                <a:latin typeface="Aptos Bold"/>
                <a:ea typeface="Aptos Bold"/>
                <a:cs typeface="Aptos Bold"/>
                <a:sym typeface="Aptos Bold"/>
              </a:rPr>
              <a:t>MILESTONE 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23608" y="1325613"/>
            <a:ext cx="1647206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Trends &amp; Month-over-Month (MoM) Dynamics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3608" y="1948358"/>
            <a:ext cx="1647206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Uncovering growth trends, seasonality patterns, and time-intelligence variance calculations.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14073" y="2461279"/>
            <a:ext cx="3107579" cy="1529001"/>
            <a:chOff x="0" y="0"/>
            <a:chExt cx="4143438" cy="20386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43375" cy="2038604"/>
            </a:xfrm>
            <a:custGeom>
              <a:avLst/>
              <a:gdLst/>
              <a:ahLst/>
              <a:cxnLst/>
              <a:rect r="r" b="b" t="t" l="l"/>
              <a:pathLst>
                <a:path h="2038604" w="4143375">
                  <a:moveTo>
                    <a:pt x="0" y="339725"/>
                  </a:moveTo>
                  <a:cubicBezTo>
                    <a:pt x="0" y="152146"/>
                    <a:pt x="152146" y="0"/>
                    <a:pt x="339725" y="0"/>
                  </a:cubicBezTo>
                  <a:lnTo>
                    <a:pt x="3803650" y="0"/>
                  </a:lnTo>
                  <a:cubicBezTo>
                    <a:pt x="3991356" y="0"/>
                    <a:pt x="4143375" y="152146"/>
                    <a:pt x="4143375" y="339725"/>
                  </a:cubicBezTo>
                  <a:lnTo>
                    <a:pt x="4143375" y="1698879"/>
                  </a:lnTo>
                  <a:cubicBezTo>
                    <a:pt x="4143375" y="1886585"/>
                    <a:pt x="3991229" y="2038604"/>
                    <a:pt x="3803650" y="2038604"/>
                  </a:cubicBezTo>
                  <a:lnTo>
                    <a:pt x="339725" y="2038604"/>
                  </a:lnTo>
                  <a:cubicBezTo>
                    <a:pt x="152146" y="2038731"/>
                    <a:pt x="0" y="1886585"/>
                    <a:pt x="0" y="169887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823608" y="2470814"/>
            <a:ext cx="109814" cy="1509941"/>
            <a:chOff x="0" y="0"/>
            <a:chExt cx="146418" cy="201325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6431" cy="2013204"/>
            </a:xfrm>
            <a:custGeom>
              <a:avLst/>
              <a:gdLst/>
              <a:ahLst/>
              <a:cxnLst/>
              <a:rect r="r" b="b" t="t" l="l"/>
              <a:pathLst>
                <a:path h="2013204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988820"/>
                  </a:lnTo>
                  <a:cubicBezTo>
                    <a:pt x="146431" y="2002282"/>
                    <a:pt x="135509" y="2013204"/>
                    <a:pt x="122047" y="2013204"/>
                  </a:cubicBezTo>
                  <a:lnTo>
                    <a:pt x="24384" y="2013204"/>
                  </a:lnTo>
                  <a:cubicBezTo>
                    <a:pt x="10922" y="2013204"/>
                    <a:pt x="0" y="2002282"/>
                    <a:pt x="0" y="1988820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43235" y="2436628"/>
            <a:ext cx="2759069" cy="1347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6"/>
              </a:lnSpc>
            </a:pPr>
            <a:r>
              <a:rPr lang="en-US" sz="3152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+6.66%</a:t>
            </a:r>
          </a:p>
          <a:p>
            <a:pPr algn="l">
              <a:lnSpc>
                <a:spcPts val="2758"/>
              </a:lnSpc>
            </a:pPr>
            <a:r>
              <a:rPr lang="en-US" sz="1576" b="true">
                <a:solidFill>
                  <a:srgbClr val="1F2937"/>
                </a:solidFill>
                <a:latin typeface="Aptos Bold"/>
                <a:ea typeface="Aptos Bold"/>
                <a:cs typeface="Aptos Bold"/>
                <a:sym typeface="Aptos Bold"/>
              </a:rPr>
              <a:t>Units MoM Var %</a:t>
            </a:r>
          </a:p>
          <a:p>
            <a:pPr algn="l">
              <a:lnSpc>
                <a:spcPts val="2364"/>
              </a:lnSpc>
            </a:pPr>
            <a:r>
              <a:rPr lang="en-US" sz="1351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Monthly volume trend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4177122" y="2461279"/>
            <a:ext cx="3107579" cy="1529001"/>
            <a:chOff x="0" y="0"/>
            <a:chExt cx="4143438" cy="203866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143375" cy="2038604"/>
            </a:xfrm>
            <a:custGeom>
              <a:avLst/>
              <a:gdLst/>
              <a:ahLst/>
              <a:cxnLst/>
              <a:rect r="r" b="b" t="t" l="l"/>
              <a:pathLst>
                <a:path h="2038604" w="4143375">
                  <a:moveTo>
                    <a:pt x="0" y="339725"/>
                  </a:moveTo>
                  <a:cubicBezTo>
                    <a:pt x="0" y="152146"/>
                    <a:pt x="152146" y="0"/>
                    <a:pt x="339725" y="0"/>
                  </a:cubicBezTo>
                  <a:lnTo>
                    <a:pt x="3803650" y="0"/>
                  </a:lnTo>
                  <a:cubicBezTo>
                    <a:pt x="3991356" y="0"/>
                    <a:pt x="4143375" y="152146"/>
                    <a:pt x="4143375" y="339725"/>
                  </a:cubicBezTo>
                  <a:lnTo>
                    <a:pt x="4143375" y="1698879"/>
                  </a:lnTo>
                  <a:cubicBezTo>
                    <a:pt x="4143375" y="1886585"/>
                    <a:pt x="3991229" y="2038604"/>
                    <a:pt x="3803650" y="2038604"/>
                  </a:cubicBezTo>
                  <a:lnTo>
                    <a:pt x="339725" y="2038604"/>
                  </a:lnTo>
                  <a:cubicBezTo>
                    <a:pt x="152146" y="2038731"/>
                    <a:pt x="0" y="1886585"/>
                    <a:pt x="0" y="169887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4186647" y="2470814"/>
            <a:ext cx="109814" cy="1509941"/>
            <a:chOff x="0" y="0"/>
            <a:chExt cx="146418" cy="201325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431" cy="2013204"/>
            </a:xfrm>
            <a:custGeom>
              <a:avLst/>
              <a:gdLst/>
              <a:ahLst/>
              <a:cxnLst/>
              <a:rect r="r" b="b" t="t" l="l"/>
              <a:pathLst>
                <a:path h="2013204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988820"/>
                  </a:lnTo>
                  <a:cubicBezTo>
                    <a:pt x="146431" y="2002282"/>
                    <a:pt x="135509" y="2013204"/>
                    <a:pt x="122047" y="2013204"/>
                  </a:cubicBezTo>
                  <a:lnTo>
                    <a:pt x="24384" y="2013204"/>
                  </a:lnTo>
                  <a:cubicBezTo>
                    <a:pt x="10922" y="2013204"/>
                    <a:pt x="0" y="2002282"/>
                    <a:pt x="0" y="1988820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4406275" y="2436628"/>
            <a:ext cx="2759069" cy="1347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6"/>
              </a:lnSpc>
            </a:pPr>
            <a:r>
              <a:rPr lang="en-US" sz="3152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+4.88%</a:t>
            </a:r>
          </a:p>
          <a:p>
            <a:pPr algn="l">
              <a:lnSpc>
                <a:spcPts val="2758"/>
              </a:lnSpc>
            </a:pPr>
            <a:r>
              <a:rPr lang="en-US" sz="1576" b="true">
                <a:solidFill>
                  <a:srgbClr val="1F2937"/>
                </a:solidFill>
                <a:latin typeface="Aptos Bold"/>
                <a:ea typeface="Aptos Bold"/>
                <a:cs typeface="Aptos Bold"/>
                <a:sym typeface="Aptos Bold"/>
              </a:rPr>
              <a:t>Sales MoM Var %</a:t>
            </a:r>
          </a:p>
          <a:p>
            <a:pPr algn="l">
              <a:lnSpc>
                <a:spcPts val="2364"/>
              </a:lnSpc>
            </a:pPr>
            <a:r>
              <a:rPr lang="en-US" sz="1351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Monthly value growth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540161" y="2461279"/>
            <a:ext cx="3107579" cy="1529001"/>
            <a:chOff x="0" y="0"/>
            <a:chExt cx="4143438" cy="20386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143375" cy="2038604"/>
            </a:xfrm>
            <a:custGeom>
              <a:avLst/>
              <a:gdLst/>
              <a:ahLst/>
              <a:cxnLst/>
              <a:rect r="r" b="b" t="t" l="l"/>
              <a:pathLst>
                <a:path h="2038604" w="4143375">
                  <a:moveTo>
                    <a:pt x="0" y="339725"/>
                  </a:moveTo>
                  <a:cubicBezTo>
                    <a:pt x="0" y="152146"/>
                    <a:pt x="152146" y="0"/>
                    <a:pt x="339725" y="0"/>
                  </a:cubicBezTo>
                  <a:lnTo>
                    <a:pt x="3803650" y="0"/>
                  </a:lnTo>
                  <a:cubicBezTo>
                    <a:pt x="3991356" y="0"/>
                    <a:pt x="4143375" y="152146"/>
                    <a:pt x="4143375" y="339725"/>
                  </a:cubicBezTo>
                  <a:lnTo>
                    <a:pt x="4143375" y="1698879"/>
                  </a:lnTo>
                  <a:cubicBezTo>
                    <a:pt x="4143375" y="1886585"/>
                    <a:pt x="3991229" y="2038604"/>
                    <a:pt x="3803650" y="2038604"/>
                  </a:cubicBezTo>
                  <a:lnTo>
                    <a:pt x="339725" y="2038604"/>
                  </a:lnTo>
                  <a:cubicBezTo>
                    <a:pt x="152146" y="2038731"/>
                    <a:pt x="0" y="1886585"/>
                    <a:pt x="0" y="169887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7549696" y="2470814"/>
            <a:ext cx="109814" cy="1509941"/>
            <a:chOff x="0" y="0"/>
            <a:chExt cx="146418" cy="201325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6431" cy="2013204"/>
            </a:xfrm>
            <a:custGeom>
              <a:avLst/>
              <a:gdLst/>
              <a:ahLst/>
              <a:cxnLst/>
              <a:rect r="r" b="b" t="t" l="l"/>
              <a:pathLst>
                <a:path h="2013204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988820"/>
                  </a:lnTo>
                  <a:cubicBezTo>
                    <a:pt x="146431" y="2002282"/>
                    <a:pt x="135509" y="2013204"/>
                    <a:pt x="122047" y="2013204"/>
                  </a:cubicBezTo>
                  <a:lnTo>
                    <a:pt x="24384" y="2013204"/>
                  </a:lnTo>
                  <a:cubicBezTo>
                    <a:pt x="10922" y="2013204"/>
                    <a:pt x="0" y="2002282"/>
                    <a:pt x="0" y="1988820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7769323" y="2436628"/>
            <a:ext cx="2759069" cy="1347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6"/>
              </a:lnSpc>
            </a:pPr>
            <a:r>
              <a:rPr lang="en-US" sz="3152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+0.99%</a:t>
            </a:r>
          </a:p>
          <a:p>
            <a:pPr algn="l">
              <a:lnSpc>
                <a:spcPts val="2758"/>
              </a:lnSpc>
            </a:pPr>
            <a:r>
              <a:rPr lang="en-US" sz="1576" b="true">
                <a:solidFill>
                  <a:srgbClr val="1F2937"/>
                </a:solidFill>
                <a:latin typeface="Aptos Bold"/>
                <a:ea typeface="Aptos Bold"/>
                <a:cs typeface="Aptos Bold"/>
                <a:sym typeface="Aptos Bold"/>
              </a:rPr>
              <a:t>Freight MoM Var %</a:t>
            </a:r>
          </a:p>
          <a:p>
            <a:pPr algn="l">
              <a:lnSpc>
                <a:spcPts val="2364"/>
              </a:lnSpc>
            </a:pPr>
            <a:r>
              <a:rPr lang="en-US" sz="1351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Freight spend change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903210" y="2461279"/>
            <a:ext cx="3107579" cy="1529001"/>
            <a:chOff x="0" y="0"/>
            <a:chExt cx="4143438" cy="203866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143375" cy="2038604"/>
            </a:xfrm>
            <a:custGeom>
              <a:avLst/>
              <a:gdLst/>
              <a:ahLst/>
              <a:cxnLst/>
              <a:rect r="r" b="b" t="t" l="l"/>
              <a:pathLst>
                <a:path h="2038604" w="4143375">
                  <a:moveTo>
                    <a:pt x="0" y="339725"/>
                  </a:moveTo>
                  <a:cubicBezTo>
                    <a:pt x="0" y="152146"/>
                    <a:pt x="152146" y="0"/>
                    <a:pt x="339725" y="0"/>
                  </a:cubicBezTo>
                  <a:lnTo>
                    <a:pt x="3803650" y="0"/>
                  </a:lnTo>
                  <a:cubicBezTo>
                    <a:pt x="3991356" y="0"/>
                    <a:pt x="4143375" y="152146"/>
                    <a:pt x="4143375" y="339725"/>
                  </a:cubicBezTo>
                  <a:lnTo>
                    <a:pt x="4143375" y="1698879"/>
                  </a:lnTo>
                  <a:cubicBezTo>
                    <a:pt x="4143375" y="1886585"/>
                    <a:pt x="3991229" y="2038604"/>
                    <a:pt x="3803650" y="2038604"/>
                  </a:cubicBezTo>
                  <a:lnTo>
                    <a:pt x="339725" y="2038604"/>
                  </a:lnTo>
                  <a:cubicBezTo>
                    <a:pt x="152146" y="2038731"/>
                    <a:pt x="0" y="1886585"/>
                    <a:pt x="0" y="169887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0912745" y="2470814"/>
            <a:ext cx="109814" cy="1509941"/>
            <a:chOff x="0" y="0"/>
            <a:chExt cx="146418" cy="201325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6431" cy="2013204"/>
            </a:xfrm>
            <a:custGeom>
              <a:avLst/>
              <a:gdLst/>
              <a:ahLst/>
              <a:cxnLst/>
              <a:rect r="r" b="b" t="t" l="l"/>
              <a:pathLst>
                <a:path h="2013204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988820"/>
                  </a:lnTo>
                  <a:cubicBezTo>
                    <a:pt x="146431" y="2002282"/>
                    <a:pt x="135509" y="2013204"/>
                    <a:pt x="122047" y="2013204"/>
                  </a:cubicBezTo>
                  <a:lnTo>
                    <a:pt x="24384" y="2013204"/>
                  </a:lnTo>
                  <a:cubicBezTo>
                    <a:pt x="10922" y="2013204"/>
                    <a:pt x="0" y="2002282"/>
                    <a:pt x="0" y="1988820"/>
                  </a:cubicBezTo>
                  <a:close/>
                </a:path>
              </a:pathLst>
            </a:custGeom>
            <a:solidFill>
              <a:srgbClr val="DC2626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1132372" y="2436628"/>
            <a:ext cx="2759069" cy="1347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6"/>
              </a:lnSpc>
            </a:pPr>
            <a:r>
              <a:rPr lang="en-US" sz="3152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-2.89 pp</a:t>
            </a:r>
          </a:p>
          <a:p>
            <a:pPr algn="l">
              <a:lnSpc>
                <a:spcPts val="2758"/>
              </a:lnSpc>
            </a:pPr>
            <a:r>
              <a:rPr lang="en-US" sz="1576" b="true">
                <a:solidFill>
                  <a:srgbClr val="1F2937"/>
                </a:solidFill>
                <a:latin typeface="Aptos Bold"/>
                <a:ea typeface="Aptos Bold"/>
                <a:cs typeface="Aptos Bold"/>
                <a:sym typeface="Aptos Bold"/>
              </a:rPr>
              <a:t>On-Time MoM Var</a:t>
            </a:r>
          </a:p>
          <a:p>
            <a:pPr algn="l">
              <a:lnSpc>
                <a:spcPts val="2364"/>
              </a:lnSpc>
            </a:pPr>
            <a:r>
              <a:rPr lang="en-US" sz="1351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Service percentage points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4266259" y="2461279"/>
            <a:ext cx="3176216" cy="1529001"/>
            <a:chOff x="0" y="0"/>
            <a:chExt cx="4234955" cy="203866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234942" cy="2038604"/>
            </a:xfrm>
            <a:custGeom>
              <a:avLst/>
              <a:gdLst/>
              <a:ahLst/>
              <a:cxnLst/>
              <a:rect r="r" b="b" t="t" l="l"/>
              <a:pathLst>
                <a:path h="2038604" w="4234942">
                  <a:moveTo>
                    <a:pt x="0" y="339725"/>
                  </a:moveTo>
                  <a:cubicBezTo>
                    <a:pt x="0" y="152146"/>
                    <a:pt x="152146" y="0"/>
                    <a:pt x="339725" y="0"/>
                  </a:cubicBezTo>
                  <a:lnTo>
                    <a:pt x="3895217" y="0"/>
                  </a:lnTo>
                  <a:cubicBezTo>
                    <a:pt x="4082923" y="0"/>
                    <a:pt x="4234942" y="152146"/>
                    <a:pt x="4234942" y="339725"/>
                  </a:cubicBezTo>
                  <a:lnTo>
                    <a:pt x="4234942" y="1698879"/>
                  </a:lnTo>
                  <a:cubicBezTo>
                    <a:pt x="4234942" y="1886585"/>
                    <a:pt x="4082796" y="2038604"/>
                    <a:pt x="3895217" y="2038604"/>
                  </a:cubicBezTo>
                  <a:lnTo>
                    <a:pt x="339725" y="2038604"/>
                  </a:lnTo>
                  <a:cubicBezTo>
                    <a:pt x="152146" y="2038731"/>
                    <a:pt x="0" y="1886585"/>
                    <a:pt x="0" y="169887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4275794" y="2470814"/>
            <a:ext cx="109814" cy="1509941"/>
            <a:chOff x="0" y="0"/>
            <a:chExt cx="146418" cy="201325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46431" cy="2013204"/>
            </a:xfrm>
            <a:custGeom>
              <a:avLst/>
              <a:gdLst/>
              <a:ahLst/>
              <a:cxnLst/>
              <a:rect r="r" b="b" t="t" l="l"/>
              <a:pathLst>
                <a:path h="2013204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988820"/>
                  </a:lnTo>
                  <a:cubicBezTo>
                    <a:pt x="146431" y="2002282"/>
                    <a:pt x="135509" y="2013204"/>
                    <a:pt x="122047" y="2013204"/>
                  </a:cubicBezTo>
                  <a:lnTo>
                    <a:pt x="24384" y="2013204"/>
                  </a:lnTo>
                  <a:cubicBezTo>
                    <a:pt x="10922" y="2013204"/>
                    <a:pt x="0" y="2002282"/>
                    <a:pt x="0" y="1988820"/>
                  </a:cubicBezTo>
                  <a:close/>
                </a:path>
              </a:pathLst>
            </a:custGeom>
            <a:solidFill>
              <a:srgbClr val="00B09B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4495421" y="2436628"/>
            <a:ext cx="2827706" cy="1347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6"/>
              </a:lnSpc>
            </a:pPr>
            <a:r>
              <a:rPr lang="en-US" sz="3152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58.65%</a:t>
            </a:r>
          </a:p>
          <a:p>
            <a:pPr algn="l">
              <a:lnSpc>
                <a:spcPts val="2758"/>
              </a:lnSpc>
            </a:pPr>
            <a:r>
              <a:rPr lang="en-US" sz="1576" b="true">
                <a:solidFill>
                  <a:srgbClr val="1F2937"/>
                </a:solidFill>
                <a:latin typeface="Aptos Bold"/>
                <a:ea typeface="Aptos Bold"/>
                <a:cs typeface="Aptos Bold"/>
                <a:sym typeface="Aptos Bold"/>
              </a:rPr>
              <a:t>Demand Volatility</a:t>
            </a:r>
          </a:p>
          <a:p>
            <a:pPr algn="l">
              <a:lnSpc>
                <a:spcPts val="2364"/>
              </a:lnSpc>
            </a:pPr>
            <a:r>
              <a:rPr lang="en-US" sz="1351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Monthly CV coefficient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814073" y="4342705"/>
            <a:ext cx="7980569" cy="3422428"/>
            <a:chOff x="0" y="0"/>
            <a:chExt cx="10640759" cy="456323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640758" cy="4563237"/>
            </a:xfrm>
            <a:custGeom>
              <a:avLst/>
              <a:gdLst/>
              <a:ahLst/>
              <a:cxnLst/>
              <a:rect r="r" b="b" t="t" l="l"/>
              <a:pathLst>
                <a:path h="4563237" w="10640758">
                  <a:moveTo>
                    <a:pt x="0" y="105847"/>
                  </a:moveTo>
                  <a:cubicBezTo>
                    <a:pt x="0" y="47389"/>
                    <a:pt x="64182" y="0"/>
                    <a:pt x="143355" y="0"/>
                  </a:cubicBezTo>
                  <a:lnTo>
                    <a:pt x="10497403" y="0"/>
                  </a:lnTo>
                  <a:cubicBezTo>
                    <a:pt x="10576577" y="0"/>
                    <a:pt x="10640758" y="47389"/>
                    <a:pt x="10640758" y="105847"/>
                  </a:cubicBezTo>
                  <a:lnTo>
                    <a:pt x="10640758" y="4457390"/>
                  </a:lnTo>
                  <a:cubicBezTo>
                    <a:pt x="10640758" y="4515848"/>
                    <a:pt x="10576577" y="4563237"/>
                    <a:pt x="10497403" y="4563237"/>
                  </a:cubicBezTo>
                  <a:lnTo>
                    <a:pt x="143355" y="4563237"/>
                  </a:lnTo>
                  <a:cubicBezTo>
                    <a:pt x="64182" y="4563237"/>
                    <a:pt x="0" y="4515848"/>
                    <a:pt x="0" y="445739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9059642" y="4314387"/>
            <a:ext cx="8382833" cy="3450746"/>
            <a:chOff x="0" y="0"/>
            <a:chExt cx="11177111" cy="460099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177111" cy="4600994"/>
            </a:xfrm>
            <a:custGeom>
              <a:avLst/>
              <a:gdLst/>
              <a:ahLst/>
              <a:cxnLst/>
              <a:rect r="r" b="b" t="t" l="l"/>
              <a:pathLst>
                <a:path h="4600994" w="11177111">
                  <a:moveTo>
                    <a:pt x="0" y="106723"/>
                  </a:moveTo>
                  <a:cubicBezTo>
                    <a:pt x="0" y="47781"/>
                    <a:pt x="67417" y="0"/>
                    <a:pt x="150581" y="0"/>
                  </a:cubicBezTo>
                  <a:lnTo>
                    <a:pt x="11026530" y="0"/>
                  </a:lnTo>
                  <a:cubicBezTo>
                    <a:pt x="11109695" y="0"/>
                    <a:pt x="11177111" y="47781"/>
                    <a:pt x="11177111" y="106723"/>
                  </a:cubicBezTo>
                  <a:lnTo>
                    <a:pt x="11177111" y="4494271"/>
                  </a:lnTo>
                  <a:cubicBezTo>
                    <a:pt x="11177111" y="4553214"/>
                    <a:pt x="11109695" y="4600994"/>
                    <a:pt x="11026530" y="4600994"/>
                  </a:cubicBezTo>
                  <a:lnTo>
                    <a:pt x="150581" y="4600994"/>
                  </a:lnTo>
                  <a:cubicBezTo>
                    <a:pt x="67417" y="4600994"/>
                    <a:pt x="0" y="4553213"/>
                    <a:pt x="0" y="4494271"/>
                  </a:cubicBezTo>
                  <a:close/>
                </a:path>
              </a:pathLst>
            </a:custGeom>
            <a:solidFill>
              <a:srgbClr val="F8FAFC"/>
            </a:solidFill>
            <a:ln w="19065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823608" y="4323921"/>
            <a:ext cx="109814" cy="3431677"/>
            <a:chOff x="0" y="0"/>
            <a:chExt cx="146418" cy="457556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46431" cy="4575556"/>
            </a:xfrm>
            <a:custGeom>
              <a:avLst/>
              <a:gdLst/>
              <a:ahLst/>
              <a:cxnLst/>
              <a:rect r="r" b="b" t="t" l="l"/>
              <a:pathLst>
                <a:path h="4575556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4551172"/>
                  </a:lnTo>
                  <a:cubicBezTo>
                    <a:pt x="146431" y="4564634"/>
                    <a:pt x="135509" y="4575556"/>
                    <a:pt x="122047" y="4575556"/>
                  </a:cubicBezTo>
                  <a:lnTo>
                    <a:pt x="24384" y="4575556"/>
                  </a:lnTo>
                  <a:cubicBezTo>
                    <a:pt x="10922" y="4575556"/>
                    <a:pt x="0" y="4564634"/>
                    <a:pt x="0" y="4551172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098137" y="4363688"/>
            <a:ext cx="7481068" cy="3189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6"/>
              </a:lnSpc>
            </a:pPr>
            <a:r>
              <a:rPr lang="en-US" sz="1876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Time-Intelligence Architecture &amp; Findings</a:t>
            </a:r>
          </a:p>
          <a:p>
            <a:pPr algn="l">
              <a:lnSpc>
                <a:spcPts val="3077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- Removing Filter Distortion: Standard PREVIOUSMONTH filters can fail when users slice by specific periods. The improved pattern uses REMOVEFILTERS('Date') to evaluate preceding calendar intervals robustly.</a:t>
            </a:r>
          </a:p>
          <a:p>
            <a:pPr algn="l">
              <a:lnSpc>
                <a:spcPts val="3077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- Seasonal Growth Surge: Observed steady volume ramp from early 2017 to peak levels in mid-2018, accompanied by rapid freight growth.</a:t>
            </a:r>
          </a:p>
          <a:p>
            <a:pPr algn="l">
              <a:lnSpc>
                <a:spcPts val="3077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- Service Tension: Rapid volume growth periods coincide with slight dips in on-time performance (-2.89 percentage points), signaling carrier capacity bottlenecks.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279265" y="4433735"/>
            <a:ext cx="7934049" cy="30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0F766E"/>
                </a:solidFill>
                <a:latin typeface="Aptos Bold"/>
                <a:ea typeface="Aptos Bold"/>
                <a:cs typeface="Aptos Bold"/>
                <a:sym typeface="Aptos Bold"/>
              </a:rPr>
              <a:t>DAX PATTERN — SAFE MONTH-OVER-MONTH (MOM) VARIANCE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279265" y="4734601"/>
            <a:ext cx="7934049" cy="2911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-- Robust Time Intelligence using REMOVEFILTERS Pattern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Units Moved Previous Month =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VAR SelectedMonth = MAX('Date'[Month Start])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VAR PrevMonth = EDATE(SelectedMonth, -1)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CALCULATE(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    [Units Moved],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    REMOVEFILTERS('Date'),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    'Date'[Month Start] = PrevMonth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</a:p>
          <a:p>
            <a:pPr algn="l">
              <a:lnSpc>
                <a:spcPts val="1621"/>
              </a:lnSpc>
            </a:pP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-- Month-over-Month Variance %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Units Moved MoM Variance % =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DIVIDE([Units Moved] - [Units Moved Previous Month], [Units Moved Previous Month])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814073" y="7951965"/>
            <a:ext cx="16628402" cy="1460373"/>
            <a:chOff x="0" y="0"/>
            <a:chExt cx="22171203" cy="194716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2171152" cy="1947164"/>
            </a:xfrm>
            <a:custGeom>
              <a:avLst/>
              <a:gdLst/>
              <a:ahLst/>
              <a:cxnLst/>
              <a:rect r="r" b="b" t="t" l="l"/>
              <a:pathLst>
                <a:path h="1947164" w="22171152">
                  <a:moveTo>
                    <a:pt x="0" y="324485"/>
                  </a:moveTo>
                  <a:cubicBezTo>
                    <a:pt x="0" y="145288"/>
                    <a:pt x="145288" y="0"/>
                    <a:pt x="324485" y="0"/>
                  </a:cubicBezTo>
                  <a:lnTo>
                    <a:pt x="21846667" y="0"/>
                  </a:lnTo>
                  <a:cubicBezTo>
                    <a:pt x="22025863" y="0"/>
                    <a:pt x="22171152" y="145288"/>
                    <a:pt x="22171152" y="324485"/>
                  </a:cubicBezTo>
                  <a:lnTo>
                    <a:pt x="22171152" y="1622679"/>
                  </a:lnTo>
                  <a:cubicBezTo>
                    <a:pt x="22171152" y="1801876"/>
                    <a:pt x="22025863" y="1947164"/>
                    <a:pt x="21846667" y="1947164"/>
                  </a:cubicBezTo>
                  <a:lnTo>
                    <a:pt x="324485" y="1947164"/>
                  </a:lnTo>
                  <a:cubicBezTo>
                    <a:pt x="145288" y="1947164"/>
                    <a:pt x="0" y="1801876"/>
                    <a:pt x="0" y="1622679"/>
                  </a:cubicBezTo>
                  <a:close/>
                </a:path>
              </a:pathLst>
            </a:custGeom>
            <a:solidFill>
              <a:srgbClr val="F0FDFA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823608" y="7961500"/>
            <a:ext cx="109814" cy="1441304"/>
            <a:chOff x="0" y="0"/>
            <a:chExt cx="146418" cy="192173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46431" cy="1921764"/>
            </a:xfrm>
            <a:custGeom>
              <a:avLst/>
              <a:gdLst/>
              <a:ahLst/>
              <a:cxnLst/>
              <a:rect r="r" b="b" t="t" l="l"/>
              <a:pathLst>
                <a:path h="1921764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897380"/>
                  </a:lnTo>
                  <a:cubicBezTo>
                    <a:pt x="146431" y="1910842"/>
                    <a:pt x="135509" y="1921764"/>
                    <a:pt x="122047" y="1921764"/>
                  </a:cubicBezTo>
                  <a:lnTo>
                    <a:pt x="24384" y="1921764"/>
                  </a:lnTo>
                  <a:cubicBezTo>
                    <a:pt x="10922" y="1921764"/>
                    <a:pt x="0" y="1910842"/>
                    <a:pt x="0" y="1897380"/>
                  </a:cubicBezTo>
                  <a:close/>
                </a:path>
              </a:pathLst>
            </a:custGeom>
            <a:solidFill>
              <a:srgbClr val="00B09B"/>
            </a:solid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1098137" y="8153676"/>
            <a:ext cx="16128902" cy="95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Management Takeaway</a:t>
            </a:r>
          </a:p>
          <a:p>
            <a:pPr algn="l">
              <a:lnSpc>
                <a:spcPts val="2957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Static yearly aggregates conceal monthly fulfillment friction. Continuous MoM monitoring is necessary to trigger proactive carrier capacity buffers ahead of high-volume seasonal spikes (e.g., November Black Friday / holiday peak).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823608" y="9677343"/>
            <a:ext cx="16654634" cy="20593"/>
            <a:chOff x="0" y="0"/>
            <a:chExt cx="22206179" cy="2745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2206204" cy="27432"/>
            </a:xfrm>
            <a:custGeom>
              <a:avLst/>
              <a:gdLst/>
              <a:ahLst/>
              <a:cxnLst/>
              <a:rect r="r" b="b" t="t" l="l"/>
              <a:pathLst>
                <a:path h="27432" w="22206204">
                  <a:moveTo>
                    <a:pt x="0" y="0"/>
                  </a:moveTo>
                  <a:lnTo>
                    <a:pt x="22206204" y="0"/>
                  </a:lnTo>
                  <a:lnTo>
                    <a:pt x="22206204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D8E3F0"/>
            </a:solid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823608" y="9773431"/>
            <a:ext cx="5490686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Slide 9 of 20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987546" y="9773431"/>
            <a:ext cx="5490686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11"/>
              </a:lnSpc>
            </a:pPr>
            <a:r>
              <a:rPr lang="en-US" sz="1426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Final Project Presentation | M1-M4 Complete Journey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9814"/>
            <a:chOff x="0" y="0"/>
            <a:chExt cx="24402453" cy="146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46431"/>
            </a:xfrm>
            <a:custGeom>
              <a:avLst/>
              <a:gdLst/>
              <a:ahLst/>
              <a:cxnLst/>
              <a:rect r="r" b="b" t="t" l="l"/>
              <a:pathLst>
                <a:path h="14643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00B09B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23608" y="301990"/>
            <a:ext cx="10981382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0F766E"/>
                </a:solidFill>
                <a:latin typeface="Aptos Bold"/>
                <a:ea typeface="Aptos Bold"/>
                <a:cs typeface="Aptos Bold"/>
                <a:sym typeface="Aptos Bold"/>
              </a:rPr>
              <a:t>SUPPLY CHAIN VISIBILITY &amp; OPTIMISATION  -  MILESTONE 4 - TEAM 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23608" y="754971"/>
            <a:ext cx="10981382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0F766E"/>
                </a:solidFill>
                <a:latin typeface="Aptos Bold"/>
                <a:ea typeface="Aptos Bold"/>
                <a:cs typeface="Aptos Bold"/>
                <a:sym typeface="Aptos Bold"/>
              </a:rPr>
              <a:t>MILESTONE 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23608" y="1355846"/>
            <a:ext cx="1647206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From Descriptive Visibility to Performance Analytics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3608" y="1948891"/>
            <a:ext cx="1647206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Transitioning from 'what happened' into diagnostic evaluation of sellers, routes, costs, and service SLAs.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98137" y="2566326"/>
            <a:ext cx="1098137" cy="1098137"/>
            <a:chOff x="0" y="0"/>
            <a:chExt cx="1464183" cy="14641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4310" cy="1464310"/>
            </a:xfrm>
            <a:custGeom>
              <a:avLst/>
              <a:gdLst/>
              <a:ahLst/>
              <a:cxnLst/>
              <a:rect r="r" b="b" t="t" l="l"/>
              <a:pathLst>
                <a:path h="1464310" w="1464310">
                  <a:moveTo>
                    <a:pt x="0" y="732155"/>
                  </a:moveTo>
                  <a:cubicBezTo>
                    <a:pt x="0" y="327787"/>
                    <a:pt x="327787" y="0"/>
                    <a:pt x="732155" y="0"/>
                  </a:cubicBezTo>
                  <a:cubicBezTo>
                    <a:pt x="1136523" y="0"/>
                    <a:pt x="1464310" y="327787"/>
                    <a:pt x="1464310" y="732155"/>
                  </a:cubicBezTo>
                  <a:cubicBezTo>
                    <a:pt x="1464310" y="1136523"/>
                    <a:pt x="1136523" y="1464310"/>
                    <a:pt x="732155" y="1464310"/>
                  </a:cubicBezTo>
                  <a:cubicBezTo>
                    <a:pt x="327787" y="1464310"/>
                    <a:pt x="0" y="1136396"/>
                    <a:pt x="0" y="732155"/>
                  </a:cubicBezTo>
                  <a:close/>
                </a:path>
              </a:pathLst>
            </a:custGeom>
            <a:solidFill>
              <a:srgbClr val="00B09B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98137" y="2906997"/>
            <a:ext cx="1098137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1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01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2461279" y="2529916"/>
            <a:ext cx="14981196" cy="1170956"/>
            <a:chOff x="0" y="0"/>
            <a:chExt cx="19974928" cy="156127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974815" cy="1561274"/>
            </a:xfrm>
            <a:custGeom>
              <a:avLst/>
              <a:gdLst/>
              <a:ahLst/>
              <a:cxnLst/>
              <a:rect r="r" b="b" t="t" l="l"/>
              <a:pathLst>
                <a:path h="1561274" w="19974815">
                  <a:moveTo>
                    <a:pt x="0" y="260178"/>
                  </a:moveTo>
                  <a:cubicBezTo>
                    <a:pt x="0" y="116495"/>
                    <a:pt x="145288" y="0"/>
                    <a:pt x="324485" y="0"/>
                  </a:cubicBezTo>
                  <a:lnTo>
                    <a:pt x="19650329" y="0"/>
                  </a:lnTo>
                  <a:cubicBezTo>
                    <a:pt x="19829526" y="0"/>
                    <a:pt x="19974815" y="116495"/>
                    <a:pt x="19974815" y="260178"/>
                  </a:cubicBezTo>
                  <a:lnTo>
                    <a:pt x="19974815" y="1301096"/>
                  </a:lnTo>
                  <a:cubicBezTo>
                    <a:pt x="19974815" y="1444780"/>
                    <a:pt x="19829526" y="1561274"/>
                    <a:pt x="19650329" y="1561274"/>
                  </a:cubicBezTo>
                  <a:lnTo>
                    <a:pt x="324485" y="1561274"/>
                  </a:lnTo>
                  <a:cubicBezTo>
                    <a:pt x="145288" y="1561275"/>
                    <a:pt x="0" y="1444780"/>
                    <a:pt x="0" y="130109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2470814" y="2537554"/>
            <a:ext cx="109814" cy="1155666"/>
            <a:chOff x="0" y="0"/>
            <a:chExt cx="146418" cy="154088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431" cy="1540913"/>
            </a:xfrm>
            <a:custGeom>
              <a:avLst/>
              <a:gdLst/>
              <a:ahLst/>
              <a:cxnLst/>
              <a:rect r="r" b="b" t="t" l="l"/>
              <a:pathLst>
                <a:path h="1540913" w="146431">
                  <a:moveTo>
                    <a:pt x="0" y="19552"/>
                  </a:moveTo>
                  <a:cubicBezTo>
                    <a:pt x="0" y="8757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8757"/>
                    <a:pt x="146431" y="19552"/>
                  </a:cubicBezTo>
                  <a:lnTo>
                    <a:pt x="146431" y="1521357"/>
                  </a:lnTo>
                  <a:cubicBezTo>
                    <a:pt x="146431" y="1532151"/>
                    <a:pt x="135509" y="1540913"/>
                    <a:pt x="122047" y="1540913"/>
                  </a:cubicBezTo>
                  <a:lnTo>
                    <a:pt x="24384" y="1540913"/>
                  </a:lnTo>
                  <a:cubicBezTo>
                    <a:pt x="10922" y="1540913"/>
                    <a:pt x="0" y="1532151"/>
                    <a:pt x="0" y="1521357"/>
                  </a:cubicBezTo>
                  <a:close/>
                </a:path>
              </a:pathLst>
            </a:custGeom>
            <a:solidFill>
              <a:srgbClr val="00B09B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2745343" y="2617318"/>
            <a:ext cx="14481696" cy="752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1876" b="true">
                <a:solidFill>
                  <a:srgbClr val="00B09B"/>
                </a:solidFill>
                <a:latin typeface="Aptos Bold"/>
                <a:ea typeface="Aptos Bold"/>
                <a:cs typeface="Aptos Bold"/>
                <a:sym typeface="Aptos Bold"/>
              </a:rPr>
              <a:t>Supplier / Seller Scorecards</a:t>
            </a:r>
          </a:p>
          <a:p>
            <a:pPr algn="l">
              <a:lnSpc>
                <a:spcPts val="2732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Established a defensible quartile-based evaluation system across 235 eligible sellers (50+ orders) combining delivery reliability, customer reviews, freight efficiency, and speed.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98137" y="4048178"/>
            <a:ext cx="1098137" cy="1098137"/>
            <a:chOff x="0" y="0"/>
            <a:chExt cx="1464183" cy="146418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64310" cy="1464310"/>
            </a:xfrm>
            <a:custGeom>
              <a:avLst/>
              <a:gdLst/>
              <a:ahLst/>
              <a:cxnLst/>
              <a:rect r="r" b="b" t="t" l="l"/>
              <a:pathLst>
                <a:path h="1464310" w="1464310">
                  <a:moveTo>
                    <a:pt x="0" y="732155"/>
                  </a:moveTo>
                  <a:cubicBezTo>
                    <a:pt x="0" y="327787"/>
                    <a:pt x="327787" y="0"/>
                    <a:pt x="732155" y="0"/>
                  </a:cubicBezTo>
                  <a:cubicBezTo>
                    <a:pt x="1136523" y="0"/>
                    <a:pt x="1464310" y="327787"/>
                    <a:pt x="1464310" y="732155"/>
                  </a:cubicBezTo>
                  <a:cubicBezTo>
                    <a:pt x="1464310" y="1136523"/>
                    <a:pt x="1136523" y="1464310"/>
                    <a:pt x="732155" y="1464310"/>
                  </a:cubicBezTo>
                  <a:cubicBezTo>
                    <a:pt x="327787" y="1464310"/>
                    <a:pt x="0" y="1136396"/>
                    <a:pt x="0" y="732155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098137" y="4407899"/>
            <a:ext cx="1098137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1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2461279" y="3987956"/>
            <a:ext cx="14981196" cy="1218581"/>
            <a:chOff x="0" y="0"/>
            <a:chExt cx="19974928" cy="162477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974815" cy="1624774"/>
            </a:xfrm>
            <a:custGeom>
              <a:avLst/>
              <a:gdLst/>
              <a:ahLst/>
              <a:cxnLst/>
              <a:rect r="r" b="b" t="t" l="l"/>
              <a:pathLst>
                <a:path h="1624774" w="19974815">
                  <a:moveTo>
                    <a:pt x="0" y="270760"/>
                  </a:moveTo>
                  <a:cubicBezTo>
                    <a:pt x="0" y="121233"/>
                    <a:pt x="145288" y="0"/>
                    <a:pt x="324485" y="0"/>
                  </a:cubicBezTo>
                  <a:lnTo>
                    <a:pt x="19650329" y="0"/>
                  </a:lnTo>
                  <a:cubicBezTo>
                    <a:pt x="19829526" y="0"/>
                    <a:pt x="19974815" y="121233"/>
                    <a:pt x="19974815" y="270760"/>
                  </a:cubicBezTo>
                  <a:lnTo>
                    <a:pt x="19974815" y="1354014"/>
                  </a:lnTo>
                  <a:cubicBezTo>
                    <a:pt x="19974815" y="1503542"/>
                    <a:pt x="19829526" y="1624774"/>
                    <a:pt x="19650329" y="1624774"/>
                  </a:cubicBezTo>
                  <a:lnTo>
                    <a:pt x="324485" y="1624774"/>
                  </a:lnTo>
                  <a:cubicBezTo>
                    <a:pt x="145288" y="1624775"/>
                    <a:pt x="0" y="1503542"/>
                    <a:pt x="0" y="1354014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2470814" y="3995904"/>
            <a:ext cx="109814" cy="1202669"/>
            <a:chOff x="0" y="0"/>
            <a:chExt cx="146418" cy="160355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6431" cy="1603584"/>
            </a:xfrm>
            <a:custGeom>
              <a:avLst/>
              <a:gdLst/>
              <a:ahLst/>
              <a:cxnLst/>
              <a:rect r="r" b="b" t="t" l="l"/>
              <a:pathLst>
                <a:path h="1603584" w="146431">
                  <a:moveTo>
                    <a:pt x="0" y="20347"/>
                  </a:moveTo>
                  <a:cubicBezTo>
                    <a:pt x="0" y="9114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9114"/>
                    <a:pt x="146431" y="20347"/>
                  </a:cubicBezTo>
                  <a:lnTo>
                    <a:pt x="146431" y="1583233"/>
                  </a:lnTo>
                  <a:cubicBezTo>
                    <a:pt x="146431" y="1594466"/>
                    <a:pt x="135509" y="1603584"/>
                    <a:pt x="122047" y="1603584"/>
                  </a:cubicBezTo>
                  <a:lnTo>
                    <a:pt x="24384" y="1603584"/>
                  </a:lnTo>
                  <a:cubicBezTo>
                    <a:pt x="10922" y="1603584"/>
                    <a:pt x="0" y="1594466"/>
                    <a:pt x="0" y="1583233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2745343" y="4075358"/>
            <a:ext cx="14481696" cy="752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1876" b="true">
                <a:solidFill>
                  <a:srgbClr val="F59E0B"/>
                </a:solidFill>
                <a:latin typeface="Aptos Bold"/>
                <a:ea typeface="Aptos Bold"/>
                <a:cs typeface="Aptos Bold"/>
                <a:sym typeface="Aptos Bold"/>
              </a:rPr>
              <a:t>Transportation Cost Performance</a:t>
            </a:r>
          </a:p>
          <a:p>
            <a:pPr algn="l">
              <a:lnSpc>
                <a:spcPts val="2732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Diagnosed R$ 969.23K total freight spend, isolating geographic cost hotspots (Rio de Janeiro and Minas Gerais) and disproportionate product category shipping expenses.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098137" y="5619184"/>
            <a:ext cx="1098137" cy="1098137"/>
            <a:chOff x="0" y="0"/>
            <a:chExt cx="1464183" cy="146418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310" cy="1464310"/>
            </a:xfrm>
            <a:custGeom>
              <a:avLst/>
              <a:gdLst/>
              <a:ahLst/>
              <a:cxnLst/>
              <a:rect r="r" b="b" t="t" l="l"/>
              <a:pathLst>
                <a:path h="1464310" w="1464310">
                  <a:moveTo>
                    <a:pt x="0" y="732155"/>
                  </a:moveTo>
                  <a:cubicBezTo>
                    <a:pt x="0" y="327787"/>
                    <a:pt x="327787" y="0"/>
                    <a:pt x="732155" y="0"/>
                  </a:cubicBezTo>
                  <a:cubicBezTo>
                    <a:pt x="1136523" y="0"/>
                    <a:pt x="1464310" y="327787"/>
                    <a:pt x="1464310" y="732155"/>
                  </a:cubicBezTo>
                  <a:cubicBezTo>
                    <a:pt x="1464310" y="1136523"/>
                    <a:pt x="1136523" y="1464310"/>
                    <a:pt x="732155" y="1464310"/>
                  </a:cubicBezTo>
                  <a:cubicBezTo>
                    <a:pt x="327787" y="1464310"/>
                    <a:pt x="0" y="1136396"/>
                    <a:pt x="0" y="732155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098137" y="5959855"/>
            <a:ext cx="1098137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1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2461279" y="5511337"/>
            <a:ext cx="14981196" cy="1313831"/>
            <a:chOff x="0" y="0"/>
            <a:chExt cx="19974928" cy="175177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9974815" cy="1751774"/>
            </a:xfrm>
            <a:custGeom>
              <a:avLst/>
              <a:gdLst/>
              <a:ahLst/>
              <a:cxnLst/>
              <a:rect r="r" b="b" t="t" l="l"/>
              <a:pathLst>
                <a:path h="1751774" w="19974815">
                  <a:moveTo>
                    <a:pt x="0" y="291924"/>
                  </a:moveTo>
                  <a:cubicBezTo>
                    <a:pt x="0" y="130709"/>
                    <a:pt x="145288" y="0"/>
                    <a:pt x="324485" y="0"/>
                  </a:cubicBezTo>
                  <a:lnTo>
                    <a:pt x="19650329" y="0"/>
                  </a:lnTo>
                  <a:cubicBezTo>
                    <a:pt x="19829526" y="0"/>
                    <a:pt x="19974815" y="130709"/>
                    <a:pt x="19974815" y="291924"/>
                  </a:cubicBezTo>
                  <a:lnTo>
                    <a:pt x="19974815" y="1459850"/>
                  </a:lnTo>
                  <a:cubicBezTo>
                    <a:pt x="19974815" y="1621065"/>
                    <a:pt x="19829526" y="1751774"/>
                    <a:pt x="19650329" y="1751774"/>
                  </a:cubicBezTo>
                  <a:lnTo>
                    <a:pt x="324485" y="1751774"/>
                  </a:lnTo>
                  <a:cubicBezTo>
                    <a:pt x="145288" y="1751775"/>
                    <a:pt x="0" y="1621066"/>
                    <a:pt x="0" y="1459850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2470814" y="5519906"/>
            <a:ext cx="109814" cy="1296675"/>
            <a:chOff x="0" y="0"/>
            <a:chExt cx="146418" cy="17289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6431" cy="1728926"/>
            </a:xfrm>
            <a:custGeom>
              <a:avLst/>
              <a:gdLst/>
              <a:ahLst/>
              <a:cxnLst/>
              <a:rect r="r" b="b" t="t" l="l"/>
              <a:pathLst>
                <a:path h="1728926" w="146431">
                  <a:moveTo>
                    <a:pt x="0" y="21937"/>
                  </a:moveTo>
                  <a:cubicBezTo>
                    <a:pt x="0" y="9826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9826"/>
                    <a:pt x="146431" y="21937"/>
                  </a:cubicBezTo>
                  <a:lnTo>
                    <a:pt x="146431" y="1706986"/>
                  </a:lnTo>
                  <a:cubicBezTo>
                    <a:pt x="146431" y="1719097"/>
                    <a:pt x="135509" y="1728926"/>
                    <a:pt x="122047" y="1728926"/>
                  </a:cubicBezTo>
                  <a:lnTo>
                    <a:pt x="24384" y="1728926"/>
                  </a:lnTo>
                  <a:cubicBezTo>
                    <a:pt x="10922" y="1728926"/>
                    <a:pt x="0" y="1719097"/>
                    <a:pt x="0" y="1706986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2745343" y="5598738"/>
            <a:ext cx="14481696" cy="1095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1876" b="true">
                <a:solidFill>
                  <a:srgbClr val="2563EB"/>
                </a:solidFill>
                <a:latin typeface="Aptos Bold"/>
                <a:ea typeface="Aptos Bold"/>
                <a:cs typeface="Aptos Bold"/>
                <a:sym typeface="Aptos Bold"/>
              </a:rPr>
              <a:t>Route &amp; Carrier-Stage Performance</a:t>
            </a:r>
          </a:p>
          <a:p>
            <a:pPr algn="l">
              <a:lnSpc>
                <a:spcPts val="2732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Enriched model with 19,011 validated ZIP centroids, calculated approximate Haversine straight-line distances across 304 routes, and isolated carrier-stage handoff transit times.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098137" y="7242572"/>
            <a:ext cx="1098137" cy="1098137"/>
            <a:chOff x="0" y="0"/>
            <a:chExt cx="1464183" cy="146418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464310" cy="1464310"/>
            </a:xfrm>
            <a:custGeom>
              <a:avLst/>
              <a:gdLst/>
              <a:ahLst/>
              <a:cxnLst/>
              <a:rect r="r" b="b" t="t" l="l"/>
              <a:pathLst>
                <a:path h="1464310" w="1464310">
                  <a:moveTo>
                    <a:pt x="0" y="732155"/>
                  </a:moveTo>
                  <a:cubicBezTo>
                    <a:pt x="0" y="327787"/>
                    <a:pt x="327787" y="0"/>
                    <a:pt x="732155" y="0"/>
                  </a:cubicBezTo>
                  <a:cubicBezTo>
                    <a:pt x="1136523" y="0"/>
                    <a:pt x="1464310" y="327787"/>
                    <a:pt x="1464310" y="732155"/>
                  </a:cubicBezTo>
                  <a:cubicBezTo>
                    <a:pt x="1464310" y="1136523"/>
                    <a:pt x="1136523" y="1464310"/>
                    <a:pt x="732155" y="1464310"/>
                  </a:cubicBezTo>
                  <a:cubicBezTo>
                    <a:pt x="327787" y="1464310"/>
                    <a:pt x="0" y="1136396"/>
                    <a:pt x="0" y="732155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098137" y="7602294"/>
            <a:ext cx="1098137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1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04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2461279" y="7187118"/>
            <a:ext cx="14981196" cy="1248842"/>
            <a:chOff x="0" y="0"/>
            <a:chExt cx="19974928" cy="166512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9974815" cy="1665122"/>
            </a:xfrm>
            <a:custGeom>
              <a:avLst/>
              <a:gdLst/>
              <a:ahLst/>
              <a:cxnLst/>
              <a:rect r="r" b="b" t="t" l="l"/>
              <a:pathLst>
                <a:path h="1665122" w="19974815">
                  <a:moveTo>
                    <a:pt x="0" y="277484"/>
                  </a:moveTo>
                  <a:cubicBezTo>
                    <a:pt x="0" y="124243"/>
                    <a:pt x="145288" y="0"/>
                    <a:pt x="324485" y="0"/>
                  </a:cubicBezTo>
                  <a:lnTo>
                    <a:pt x="19650329" y="0"/>
                  </a:lnTo>
                  <a:cubicBezTo>
                    <a:pt x="19829526" y="0"/>
                    <a:pt x="19974815" y="124243"/>
                    <a:pt x="19974815" y="277484"/>
                  </a:cubicBezTo>
                  <a:lnTo>
                    <a:pt x="19974815" y="1387638"/>
                  </a:lnTo>
                  <a:cubicBezTo>
                    <a:pt x="19974815" y="1540879"/>
                    <a:pt x="19829526" y="1665122"/>
                    <a:pt x="19650329" y="1665122"/>
                  </a:cubicBezTo>
                  <a:lnTo>
                    <a:pt x="324485" y="1665122"/>
                  </a:lnTo>
                  <a:cubicBezTo>
                    <a:pt x="145288" y="1665123"/>
                    <a:pt x="0" y="1540879"/>
                    <a:pt x="0" y="1387638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2470814" y="7195263"/>
            <a:ext cx="109814" cy="1232535"/>
            <a:chOff x="0" y="0"/>
            <a:chExt cx="146418" cy="16433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46431" cy="1643405"/>
            </a:xfrm>
            <a:custGeom>
              <a:avLst/>
              <a:gdLst/>
              <a:ahLst/>
              <a:cxnLst/>
              <a:rect r="r" b="b" t="t" l="l"/>
              <a:pathLst>
                <a:path h="1643405" w="146431">
                  <a:moveTo>
                    <a:pt x="0" y="20852"/>
                  </a:moveTo>
                  <a:cubicBezTo>
                    <a:pt x="0" y="9340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9340"/>
                    <a:pt x="146431" y="20852"/>
                  </a:cubicBezTo>
                  <a:lnTo>
                    <a:pt x="146431" y="1622549"/>
                  </a:lnTo>
                  <a:cubicBezTo>
                    <a:pt x="146431" y="1634061"/>
                    <a:pt x="135509" y="1643405"/>
                    <a:pt x="122047" y="1643405"/>
                  </a:cubicBezTo>
                  <a:lnTo>
                    <a:pt x="24384" y="1643405"/>
                  </a:lnTo>
                  <a:cubicBezTo>
                    <a:pt x="10922" y="1643405"/>
                    <a:pt x="0" y="1634061"/>
                    <a:pt x="0" y="1622549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2745343" y="7274519"/>
            <a:ext cx="14481696" cy="752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1876" b="true">
                <a:solidFill>
                  <a:srgbClr val="7C3AED"/>
                </a:solidFill>
                <a:latin typeface="Aptos Bold"/>
                <a:ea typeface="Aptos Bold"/>
                <a:cs typeface="Aptos Bold"/>
                <a:sym typeface="Aptos Bold"/>
              </a:rPr>
              <a:t>Advanced Cross-KPI Visualization</a:t>
            </a:r>
          </a:p>
          <a:p>
            <a:pPr algn="l">
              <a:lnSpc>
                <a:spcPts val="2732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Synthesized service reliability, payment mix, customer rating distributions, and transit duration patterns into unified executive management scorecards.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814073" y="8635985"/>
            <a:ext cx="16628402" cy="913618"/>
            <a:chOff x="0" y="0"/>
            <a:chExt cx="22171203" cy="121815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2171152" cy="1218027"/>
            </a:xfrm>
            <a:custGeom>
              <a:avLst/>
              <a:gdLst/>
              <a:ahLst/>
              <a:cxnLst/>
              <a:rect r="r" b="b" t="t" l="l"/>
              <a:pathLst>
                <a:path h="1218027" w="22171152">
                  <a:moveTo>
                    <a:pt x="0" y="202977"/>
                  </a:moveTo>
                  <a:cubicBezTo>
                    <a:pt x="0" y="90961"/>
                    <a:pt x="70231" y="0"/>
                    <a:pt x="156718" y="0"/>
                  </a:cubicBezTo>
                  <a:lnTo>
                    <a:pt x="22014435" y="0"/>
                  </a:lnTo>
                  <a:cubicBezTo>
                    <a:pt x="22101048" y="0"/>
                    <a:pt x="22171152" y="90961"/>
                    <a:pt x="22171152" y="202977"/>
                  </a:cubicBezTo>
                  <a:lnTo>
                    <a:pt x="22171152" y="1015049"/>
                  </a:lnTo>
                  <a:cubicBezTo>
                    <a:pt x="22171152" y="1127229"/>
                    <a:pt x="22100922" y="1218026"/>
                    <a:pt x="22014435" y="1218026"/>
                  </a:cubicBezTo>
                  <a:lnTo>
                    <a:pt x="156718" y="1218026"/>
                  </a:lnTo>
                  <a:cubicBezTo>
                    <a:pt x="70231" y="1218183"/>
                    <a:pt x="0" y="1127229"/>
                    <a:pt x="0" y="1015049"/>
                  </a:cubicBezTo>
                  <a:close/>
                </a:path>
              </a:pathLst>
            </a:custGeom>
            <a:solidFill>
              <a:srgbClr val="F0FDFA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823608" y="8648334"/>
            <a:ext cx="109814" cy="888921"/>
            <a:chOff x="0" y="0"/>
            <a:chExt cx="146418" cy="118522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46431" cy="1185130"/>
            </a:xfrm>
            <a:custGeom>
              <a:avLst/>
              <a:gdLst/>
              <a:ahLst/>
              <a:cxnLst/>
              <a:rect r="r" b="b" t="t" l="l"/>
              <a:pathLst>
                <a:path h="1185130" w="146431">
                  <a:moveTo>
                    <a:pt x="0" y="31582"/>
                  </a:moveTo>
                  <a:cubicBezTo>
                    <a:pt x="0" y="14146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4146"/>
                    <a:pt x="146431" y="31582"/>
                  </a:cubicBezTo>
                  <a:lnTo>
                    <a:pt x="146431" y="1153547"/>
                  </a:lnTo>
                  <a:cubicBezTo>
                    <a:pt x="146431" y="1170983"/>
                    <a:pt x="135509" y="1185129"/>
                    <a:pt x="122047" y="1185129"/>
                  </a:cubicBezTo>
                  <a:lnTo>
                    <a:pt x="24384" y="1185129"/>
                  </a:lnTo>
                  <a:cubicBezTo>
                    <a:pt x="10922" y="1185278"/>
                    <a:pt x="0" y="1171147"/>
                    <a:pt x="0" y="1153547"/>
                  </a:cubicBezTo>
                  <a:close/>
                </a:path>
              </a:pathLst>
            </a:custGeom>
            <a:solidFill>
              <a:srgbClr val="0F766E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1098137" y="8655035"/>
            <a:ext cx="11061353" cy="745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6"/>
              </a:lnSpc>
            </a:pPr>
            <a:r>
              <a:rPr lang="en-US" sz="1876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Diagnostic Core Question</a:t>
            </a:r>
          </a:p>
          <a:p>
            <a:pPr algn="l">
              <a:lnSpc>
                <a:spcPts val="2717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Where in our supply chain is performance world-class, where is it acceptable, and where is it costly, inefficient, or vulnerable to failure?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823608" y="9677343"/>
            <a:ext cx="16654634" cy="20593"/>
            <a:chOff x="0" y="0"/>
            <a:chExt cx="22206179" cy="2745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2206204" cy="27432"/>
            </a:xfrm>
            <a:custGeom>
              <a:avLst/>
              <a:gdLst/>
              <a:ahLst/>
              <a:cxnLst/>
              <a:rect r="r" b="b" t="t" l="l"/>
              <a:pathLst>
                <a:path h="27432" w="22206204">
                  <a:moveTo>
                    <a:pt x="0" y="0"/>
                  </a:moveTo>
                  <a:lnTo>
                    <a:pt x="22206204" y="0"/>
                  </a:lnTo>
                  <a:lnTo>
                    <a:pt x="22206204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D8E3F0"/>
            </a:solid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823608" y="9773431"/>
            <a:ext cx="5490686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Slide 10 of 20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987546" y="9773431"/>
            <a:ext cx="5490686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11"/>
              </a:lnSpc>
            </a:pPr>
            <a:r>
              <a:rPr lang="en-US" sz="1426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Final Project Presentation | M1-M4 Complete Journey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9814"/>
            <a:chOff x="0" y="0"/>
            <a:chExt cx="24402453" cy="146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46431"/>
            </a:xfrm>
            <a:custGeom>
              <a:avLst/>
              <a:gdLst/>
              <a:ahLst/>
              <a:cxnLst/>
              <a:rect r="r" b="b" t="t" l="l"/>
              <a:pathLst>
                <a:path h="14643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00B09B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23608" y="301990"/>
            <a:ext cx="10981382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0F766E"/>
                </a:solidFill>
                <a:latin typeface="Aptos Bold"/>
                <a:ea typeface="Aptos Bold"/>
                <a:cs typeface="Aptos Bold"/>
                <a:sym typeface="Aptos Bold"/>
              </a:rPr>
              <a:t>SUPPLY CHAIN VISIBILITY &amp; OPTIMISATION  -  MILESTONE 4 - TEAM 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23608" y="754971"/>
            <a:ext cx="10981382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0F766E"/>
                </a:solidFill>
                <a:latin typeface="Aptos Bold"/>
                <a:ea typeface="Aptos Bold"/>
                <a:cs typeface="Aptos Bold"/>
                <a:sym typeface="Aptos Bold"/>
              </a:rPr>
              <a:t>MILESTONE 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23608" y="1325613"/>
            <a:ext cx="1647206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Supplier / Seller Performance Scorecards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3608" y="1948358"/>
            <a:ext cx="1647206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Multi-criteria quartile evaluation isolating top performers from vendors requiring operational intervention.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23608" y="2469109"/>
            <a:ext cx="8510568" cy="5216157"/>
            <a:chOff x="0" y="0"/>
            <a:chExt cx="11347425" cy="6954876"/>
          </a:xfrm>
        </p:grpSpPr>
        <p:sp>
          <p:nvSpPr>
            <p:cNvPr name="Freeform 9" id="9" descr="image10.png"/>
            <p:cNvSpPr/>
            <p:nvPr/>
          </p:nvSpPr>
          <p:spPr>
            <a:xfrm flipH="false" flipV="false" rot="0">
              <a:off x="0" y="0"/>
              <a:ext cx="11347450" cy="6954901"/>
            </a:xfrm>
            <a:custGeom>
              <a:avLst/>
              <a:gdLst/>
              <a:ahLst/>
              <a:cxnLst/>
              <a:rect r="r" b="b" t="t" l="l"/>
              <a:pathLst>
                <a:path h="6954901" w="11347450">
                  <a:moveTo>
                    <a:pt x="0" y="0"/>
                  </a:moveTo>
                  <a:lnTo>
                    <a:pt x="11347450" y="0"/>
                  </a:lnTo>
                  <a:lnTo>
                    <a:pt x="11347450" y="6954901"/>
                  </a:lnTo>
                  <a:lnTo>
                    <a:pt x="0" y="6954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990" t="0" r="-299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599171" y="2461279"/>
            <a:ext cx="3862549" cy="1323108"/>
            <a:chOff x="0" y="0"/>
            <a:chExt cx="5150066" cy="17641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149977" cy="1764030"/>
            </a:xfrm>
            <a:custGeom>
              <a:avLst/>
              <a:gdLst/>
              <a:ahLst/>
              <a:cxnLst/>
              <a:rect r="r" b="b" t="t" l="l"/>
              <a:pathLst>
                <a:path h="1764030" w="5149977">
                  <a:moveTo>
                    <a:pt x="0" y="294005"/>
                  </a:moveTo>
                  <a:cubicBezTo>
                    <a:pt x="0" y="131699"/>
                    <a:pt x="131699" y="0"/>
                    <a:pt x="294005" y="0"/>
                  </a:cubicBezTo>
                  <a:lnTo>
                    <a:pt x="4855972" y="0"/>
                  </a:lnTo>
                  <a:cubicBezTo>
                    <a:pt x="5018405" y="0"/>
                    <a:pt x="5149977" y="131699"/>
                    <a:pt x="5149977" y="294005"/>
                  </a:cubicBezTo>
                  <a:lnTo>
                    <a:pt x="5149977" y="1470025"/>
                  </a:lnTo>
                  <a:cubicBezTo>
                    <a:pt x="5149977" y="1632458"/>
                    <a:pt x="5018278" y="1764030"/>
                    <a:pt x="4855972" y="1764030"/>
                  </a:cubicBezTo>
                  <a:lnTo>
                    <a:pt x="294005" y="1764030"/>
                  </a:lnTo>
                  <a:cubicBezTo>
                    <a:pt x="131699" y="1764157"/>
                    <a:pt x="0" y="1632458"/>
                    <a:pt x="0" y="147015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608706" y="2470814"/>
            <a:ext cx="109814" cy="1304039"/>
            <a:chOff x="0" y="0"/>
            <a:chExt cx="146418" cy="173871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431" cy="1738757"/>
            </a:xfrm>
            <a:custGeom>
              <a:avLst/>
              <a:gdLst/>
              <a:ahLst/>
              <a:cxnLst/>
              <a:rect r="r" b="b" t="t" l="l"/>
              <a:pathLst>
                <a:path h="1738757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714373"/>
                  </a:lnTo>
                  <a:cubicBezTo>
                    <a:pt x="146431" y="1727835"/>
                    <a:pt x="135509" y="1738757"/>
                    <a:pt x="122047" y="1738757"/>
                  </a:cubicBezTo>
                  <a:lnTo>
                    <a:pt x="24384" y="1738757"/>
                  </a:lnTo>
                  <a:cubicBezTo>
                    <a:pt x="10922" y="1738757"/>
                    <a:pt x="0" y="1727835"/>
                    <a:pt x="0" y="1714373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828333" y="2522353"/>
            <a:ext cx="3514039" cy="1122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4"/>
              </a:lnSpc>
            </a:pPr>
            <a:r>
              <a:rPr lang="en-US" sz="3152" b="true">
                <a:solidFill>
                  <a:srgbClr val="2563EB"/>
                </a:solidFill>
                <a:latin typeface="Aptos Bold"/>
                <a:ea typeface="Aptos Bold"/>
                <a:cs typeface="Aptos Bold"/>
                <a:sym typeface="Aptos Bold"/>
              </a:rPr>
              <a:t>235</a:t>
            </a:r>
          </a:p>
          <a:p>
            <a:pPr algn="l">
              <a:lnSpc>
                <a:spcPts val="2317"/>
              </a:lnSpc>
            </a:pPr>
            <a:r>
              <a:rPr lang="en-US" sz="1576" b="true">
                <a:solidFill>
                  <a:srgbClr val="2563EB"/>
                </a:solidFill>
                <a:latin typeface="Aptos Bold"/>
                <a:ea typeface="Aptos Bold"/>
                <a:cs typeface="Aptos Bold"/>
                <a:sym typeface="Aptos Bold"/>
              </a:rPr>
              <a:t>Eligible Sellers</a:t>
            </a:r>
          </a:p>
          <a:p>
            <a:pPr algn="l">
              <a:lnSpc>
                <a:spcPts val="1986"/>
              </a:lnSpc>
            </a:pPr>
            <a:r>
              <a:rPr lang="en-US" sz="1351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50+ delivered orders (70% vol)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3717191" y="2461279"/>
            <a:ext cx="3725285" cy="1323108"/>
            <a:chOff x="0" y="0"/>
            <a:chExt cx="4967046" cy="176414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966970" cy="1764030"/>
            </a:xfrm>
            <a:custGeom>
              <a:avLst/>
              <a:gdLst/>
              <a:ahLst/>
              <a:cxnLst/>
              <a:rect r="r" b="b" t="t" l="l"/>
              <a:pathLst>
                <a:path h="1764030" w="4966970">
                  <a:moveTo>
                    <a:pt x="0" y="294005"/>
                  </a:moveTo>
                  <a:cubicBezTo>
                    <a:pt x="0" y="131699"/>
                    <a:pt x="131699" y="0"/>
                    <a:pt x="294005" y="0"/>
                  </a:cubicBezTo>
                  <a:lnTo>
                    <a:pt x="4672965" y="0"/>
                  </a:lnTo>
                  <a:cubicBezTo>
                    <a:pt x="4835398" y="0"/>
                    <a:pt x="4966970" y="131699"/>
                    <a:pt x="4966970" y="294005"/>
                  </a:cubicBezTo>
                  <a:lnTo>
                    <a:pt x="4966970" y="1470025"/>
                  </a:lnTo>
                  <a:cubicBezTo>
                    <a:pt x="4966970" y="1632458"/>
                    <a:pt x="4835271" y="1764030"/>
                    <a:pt x="4672965" y="1764030"/>
                  </a:cubicBezTo>
                  <a:lnTo>
                    <a:pt x="294005" y="1764030"/>
                  </a:lnTo>
                  <a:cubicBezTo>
                    <a:pt x="131699" y="1764157"/>
                    <a:pt x="0" y="1632458"/>
                    <a:pt x="0" y="147015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3726725" y="2470814"/>
            <a:ext cx="109814" cy="1304039"/>
            <a:chOff x="0" y="0"/>
            <a:chExt cx="146418" cy="173871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6431" cy="1738757"/>
            </a:xfrm>
            <a:custGeom>
              <a:avLst/>
              <a:gdLst/>
              <a:ahLst/>
              <a:cxnLst/>
              <a:rect r="r" b="b" t="t" l="l"/>
              <a:pathLst>
                <a:path h="1738757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714373"/>
                  </a:lnTo>
                  <a:cubicBezTo>
                    <a:pt x="146431" y="1727835"/>
                    <a:pt x="135509" y="1738757"/>
                    <a:pt x="122047" y="1738757"/>
                  </a:cubicBezTo>
                  <a:lnTo>
                    <a:pt x="24384" y="1738757"/>
                  </a:lnTo>
                  <a:cubicBezTo>
                    <a:pt x="10922" y="1738757"/>
                    <a:pt x="0" y="1727835"/>
                    <a:pt x="0" y="1714373"/>
                  </a:cubicBezTo>
                  <a:close/>
                </a:path>
              </a:pathLst>
            </a:custGeom>
            <a:solidFill>
              <a:srgbClr val="16A34A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3946353" y="2522353"/>
            <a:ext cx="3376774" cy="1122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4"/>
              </a:lnSpc>
            </a:pPr>
            <a:r>
              <a:rPr lang="en-US" sz="3152" b="true">
                <a:solidFill>
                  <a:srgbClr val="16A34A"/>
                </a:solidFill>
                <a:latin typeface="Aptos Bold"/>
                <a:ea typeface="Aptos Bold"/>
                <a:cs typeface="Aptos Bold"/>
                <a:sym typeface="Aptos Bold"/>
              </a:rPr>
              <a:t>82</a:t>
            </a:r>
          </a:p>
          <a:p>
            <a:pPr algn="l">
              <a:lnSpc>
                <a:spcPts val="2317"/>
              </a:lnSpc>
            </a:pPr>
            <a:r>
              <a:rPr lang="en-US" sz="1576" b="true">
                <a:solidFill>
                  <a:srgbClr val="16A34A"/>
                </a:solidFill>
                <a:latin typeface="Aptos Bold"/>
                <a:ea typeface="Aptos Bold"/>
                <a:cs typeface="Aptos Bold"/>
                <a:sym typeface="Aptos Bold"/>
              </a:rPr>
              <a:t>Excellent (&gt;=3.00)</a:t>
            </a:r>
          </a:p>
          <a:p>
            <a:pPr algn="l">
              <a:lnSpc>
                <a:spcPts val="1986"/>
              </a:lnSpc>
            </a:pPr>
            <a:r>
              <a:rPr lang="en-US" sz="1351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Top quartile performers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599171" y="3971220"/>
            <a:ext cx="3862549" cy="1323108"/>
            <a:chOff x="0" y="0"/>
            <a:chExt cx="5150066" cy="17641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149977" cy="1764030"/>
            </a:xfrm>
            <a:custGeom>
              <a:avLst/>
              <a:gdLst/>
              <a:ahLst/>
              <a:cxnLst/>
              <a:rect r="r" b="b" t="t" l="l"/>
              <a:pathLst>
                <a:path h="1764030" w="5149977">
                  <a:moveTo>
                    <a:pt x="0" y="294005"/>
                  </a:moveTo>
                  <a:cubicBezTo>
                    <a:pt x="0" y="131699"/>
                    <a:pt x="131699" y="0"/>
                    <a:pt x="294005" y="0"/>
                  </a:cubicBezTo>
                  <a:lnTo>
                    <a:pt x="4855972" y="0"/>
                  </a:lnTo>
                  <a:cubicBezTo>
                    <a:pt x="5018405" y="0"/>
                    <a:pt x="5149977" y="131699"/>
                    <a:pt x="5149977" y="294005"/>
                  </a:cubicBezTo>
                  <a:lnTo>
                    <a:pt x="5149977" y="1470025"/>
                  </a:lnTo>
                  <a:cubicBezTo>
                    <a:pt x="5149977" y="1632458"/>
                    <a:pt x="5018278" y="1764030"/>
                    <a:pt x="4855972" y="1764030"/>
                  </a:cubicBezTo>
                  <a:lnTo>
                    <a:pt x="294005" y="1764030"/>
                  </a:lnTo>
                  <a:cubicBezTo>
                    <a:pt x="131699" y="1764157"/>
                    <a:pt x="0" y="1632458"/>
                    <a:pt x="0" y="147015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608706" y="3980755"/>
            <a:ext cx="109814" cy="1304039"/>
            <a:chOff x="0" y="0"/>
            <a:chExt cx="146418" cy="173871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6431" cy="1738757"/>
            </a:xfrm>
            <a:custGeom>
              <a:avLst/>
              <a:gdLst/>
              <a:ahLst/>
              <a:cxnLst/>
              <a:rect r="r" b="b" t="t" l="l"/>
              <a:pathLst>
                <a:path h="1738757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714373"/>
                  </a:lnTo>
                  <a:cubicBezTo>
                    <a:pt x="146431" y="1727835"/>
                    <a:pt x="135509" y="1738757"/>
                    <a:pt x="122047" y="1738757"/>
                  </a:cubicBezTo>
                  <a:lnTo>
                    <a:pt x="24384" y="1738757"/>
                  </a:lnTo>
                  <a:cubicBezTo>
                    <a:pt x="10922" y="1738757"/>
                    <a:pt x="0" y="1727835"/>
                    <a:pt x="0" y="1714373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828333" y="4032294"/>
            <a:ext cx="3514039" cy="1122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4"/>
              </a:lnSpc>
            </a:pPr>
            <a:r>
              <a:rPr lang="en-US" sz="3152" b="true">
                <a:solidFill>
                  <a:srgbClr val="2563EB"/>
                </a:solidFill>
                <a:latin typeface="Aptos Bold"/>
                <a:ea typeface="Aptos Bold"/>
                <a:cs typeface="Aptos Bold"/>
                <a:sym typeface="Aptos Bold"/>
              </a:rPr>
              <a:t>44</a:t>
            </a:r>
          </a:p>
          <a:p>
            <a:pPr algn="l">
              <a:lnSpc>
                <a:spcPts val="2317"/>
              </a:lnSpc>
            </a:pPr>
            <a:r>
              <a:rPr lang="en-US" sz="1576" b="true">
                <a:solidFill>
                  <a:srgbClr val="2563EB"/>
                </a:solidFill>
                <a:latin typeface="Aptos Bold"/>
                <a:ea typeface="Aptos Bold"/>
                <a:cs typeface="Aptos Bold"/>
                <a:sym typeface="Aptos Bold"/>
              </a:rPr>
              <a:t>Good (2.50–2.99)</a:t>
            </a:r>
          </a:p>
          <a:p>
            <a:pPr algn="l">
              <a:lnSpc>
                <a:spcPts val="1986"/>
              </a:lnSpc>
            </a:pPr>
            <a:r>
              <a:rPr lang="en-US" sz="1351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Reliable partners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3717191" y="3971220"/>
            <a:ext cx="3725285" cy="1323108"/>
            <a:chOff x="0" y="0"/>
            <a:chExt cx="4967046" cy="176414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966970" cy="1764030"/>
            </a:xfrm>
            <a:custGeom>
              <a:avLst/>
              <a:gdLst/>
              <a:ahLst/>
              <a:cxnLst/>
              <a:rect r="r" b="b" t="t" l="l"/>
              <a:pathLst>
                <a:path h="1764030" w="4966970">
                  <a:moveTo>
                    <a:pt x="0" y="294005"/>
                  </a:moveTo>
                  <a:cubicBezTo>
                    <a:pt x="0" y="131699"/>
                    <a:pt x="131699" y="0"/>
                    <a:pt x="294005" y="0"/>
                  </a:cubicBezTo>
                  <a:lnTo>
                    <a:pt x="4672965" y="0"/>
                  </a:lnTo>
                  <a:cubicBezTo>
                    <a:pt x="4835398" y="0"/>
                    <a:pt x="4966970" y="131699"/>
                    <a:pt x="4966970" y="294005"/>
                  </a:cubicBezTo>
                  <a:lnTo>
                    <a:pt x="4966970" y="1470025"/>
                  </a:lnTo>
                  <a:cubicBezTo>
                    <a:pt x="4966970" y="1632458"/>
                    <a:pt x="4835271" y="1764030"/>
                    <a:pt x="4672965" y="1764030"/>
                  </a:cubicBezTo>
                  <a:lnTo>
                    <a:pt x="294005" y="1764030"/>
                  </a:lnTo>
                  <a:cubicBezTo>
                    <a:pt x="131699" y="1764157"/>
                    <a:pt x="0" y="1632458"/>
                    <a:pt x="0" y="147015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3726725" y="3980755"/>
            <a:ext cx="109814" cy="1304039"/>
            <a:chOff x="0" y="0"/>
            <a:chExt cx="146418" cy="173871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46431" cy="1738757"/>
            </a:xfrm>
            <a:custGeom>
              <a:avLst/>
              <a:gdLst/>
              <a:ahLst/>
              <a:cxnLst/>
              <a:rect r="r" b="b" t="t" l="l"/>
              <a:pathLst>
                <a:path h="1738757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714373"/>
                  </a:lnTo>
                  <a:cubicBezTo>
                    <a:pt x="146431" y="1727835"/>
                    <a:pt x="135509" y="1738757"/>
                    <a:pt x="122047" y="1738757"/>
                  </a:cubicBezTo>
                  <a:lnTo>
                    <a:pt x="24384" y="1738757"/>
                  </a:lnTo>
                  <a:cubicBezTo>
                    <a:pt x="10922" y="1738757"/>
                    <a:pt x="0" y="1727835"/>
                    <a:pt x="0" y="1714373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3946353" y="4032294"/>
            <a:ext cx="3376774" cy="1122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4"/>
              </a:lnSpc>
            </a:pPr>
            <a:r>
              <a:rPr lang="en-US" sz="3152" b="true">
                <a:solidFill>
                  <a:srgbClr val="F59E0B"/>
                </a:solidFill>
                <a:latin typeface="Aptos Bold"/>
                <a:ea typeface="Aptos Bold"/>
                <a:cs typeface="Aptos Bold"/>
                <a:sym typeface="Aptos Bold"/>
              </a:rPr>
              <a:t>52</a:t>
            </a:r>
          </a:p>
          <a:p>
            <a:pPr algn="l">
              <a:lnSpc>
                <a:spcPts val="2317"/>
              </a:lnSpc>
            </a:pPr>
            <a:r>
              <a:rPr lang="en-US" sz="1576" b="true">
                <a:solidFill>
                  <a:srgbClr val="F59E0B"/>
                </a:solidFill>
                <a:latin typeface="Aptos Bold"/>
                <a:ea typeface="Aptos Bold"/>
                <a:cs typeface="Aptos Bold"/>
                <a:sym typeface="Aptos Bold"/>
              </a:rPr>
              <a:t>Watchlist (2.00–2.49)</a:t>
            </a:r>
          </a:p>
          <a:p>
            <a:pPr algn="l">
              <a:lnSpc>
                <a:spcPts val="1986"/>
              </a:lnSpc>
            </a:pPr>
            <a:r>
              <a:rPr lang="en-US" sz="1351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Targeted monitoring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599171" y="5481161"/>
            <a:ext cx="7843295" cy="2215344"/>
            <a:chOff x="0" y="0"/>
            <a:chExt cx="10457726" cy="295379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457688" cy="2953766"/>
            </a:xfrm>
            <a:custGeom>
              <a:avLst/>
              <a:gdLst/>
              <a:ahLst/>
              <a:cxnLst/>
              <a:rect r="r" b="b" t="t" l="l"/>
              <a:pathLst>
                <a:path h="2953766" w="10457688">
                  <a:moveTo>
                    <a:pt x="0" y="492252"/>
                  </a:moveTo>
                  <a:cubicBezTo>
                    <a:pt x="0" y="220472"/>
                    <a:pt x="220472" y="0"/>
                    <a:pt x="492252" y="0"/>
                  </a:cubicBezTo>
                  <a:lnTo>
                    <a:pt x="9965436" y="0"/>
                  </a:lnTo>
                  <a:cubicBezTo>
                    <a:pt x="10237343" y="0"/>
                    <a:pt x="10457688" y="220472"/>
                    <a:pt x="10457688" y="492252"/>
                  </a:cubicBezTo>
                  <a:lnTo>
                    <a:pt x="10457688" y="2461514"/>
                  </a:lnTo>
                  <a:cubicBezTo>
                    <a:pt x="10457688" y="2733421"/>
                    <a:pt x="10237216" y="2953766"/>
                    <a:pt x="9965436" y="2953766"/>
                  </a:cubicBezTo>
                  <a:lnTo>
                    <a:pt x="492252" y="2953766"/>
                  </a:lnTo>
                  <a:cubicBezTo>
                    <a:pt x="220472" y="2953766"/>
                    <a:pt x="0" y="2733421"/>
                    <a:pt x="0" y="2461514"/>
                  </a:cubicBezTo>
                  <a:close/>
                </a:path>
              </a:pathLst>
            </a:custGeom>
            <a:solidFill>
              <a:srgbClr val="F8FAFC"/>
            </a:solidFill>
            <a:ln w="19065" cap="sq">
              <a:solidFill>
                <a:srgbClr val="CBD5E1"/>
              </a:solidFill>
              <a:prstDash val="solid"/>
              <a:miter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9828333" y="5600500"/>
            <a:ext cx="7384980" cy="30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0F766E"/>
                </a:solidFill>
                <a:latin typeface="Aptos Bold"/>
                <a:ea typeface="Aptos Bold"/>
                <a:cs typeface="Aptos Bold"/>
                <a:sym typeface="Aptos Bold"/>
              </a:rPr>
              <a:t>DAX — EQUAL-WEIGHTED QUARTILE PERFORMANCE SCORE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828333" y="5901366"/>
            <a:ext cx="7384980" cy="1675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-- 4 Dimensions Weighted Equally at 25% each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Seller Performance Score =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DIVIDE(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    [Seller Delivery Score] + [Seller Review Score] +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    [Seller Freight Score]   + [Seller Speed Score],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    4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) -- Where individual scores (1-4) reflect eligible-seller quartiles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814073" y="7951965"/>
            <a:ext cx="16628402" cy="1460373"/>
            <a:chOff x="0" y="0"/>
            <a:chExt cx="22171203" cy="194716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2171152" cy="1947164"/>
            </a:xfrm>
            <a:custGeom>
              <a:avLst/>
              <a:gdLst/>
              <a:ahLst/>
              <a:cxnLst/>
              <a:rect r="r" b="b" t="t" l="l"/>
              <a:pathLst>
                <a:path h="1947164" w="22171152">
                  <a:moveTo>
                    <a:pt x="0" y="324485"/>
                  </a:moveTo>
                  <a:cubicBezTo>
                    <a:pt x="0" y="145288"/>
                    <a:pt x="145288" y="0"/>
                    <a:pt x="324485" y="0"/>
                  </a:cubicBezTo>
                  <a:lnTo>
                    <a:pt x="21846667" y="0"/>
                  </a:lnTo>
                  <a:cubicBezTo>
                    <a:pt x="22025863" y="0"/>
                    <a:pt x="22171152" y="145288"/>
                    <a:pt x="22171152" y="324485"/>
                  </a:cubicBezTo>
                  <a:lnTo>
                    <a:pt x="22171152" y="1622679"/>
                  </a:lnTo>
                  <a:cubicBezTo>
                    <a:pt x="22171152" y="1801876"/>
                    <a:pt x="22025863" y="1947164"/>
                    <a:pt x="21846667" y="1947164"/>
                  </a:cubicBezTo>
                  <a:lnTo>
                    <a:pt x="324485" y="1947164"/>
                  </a:lnTo>
                  <a:cubicBezTo>
                    <a:pt x="145288" y="1947164"/>
                    <a:pt x="0" y="1801876"/>
                    <a:pt x="0" y="1622679"/>
                  </a:cubicBezTo>
                  <a:close/>
                </a:path>
              </a:pathLst>
            </a:custGeom>
            <a:solidFill>
              <a:srgbClr val="FEF2F2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823608" y="7961500"/>
            <a:ext cx="109814" cy="1441304"/>
            <a:chOff x="0" y="0"/>
            <a:chExt cx="146418" cy="192173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46431" cy="1921764"/>
            </a:xfrm>
            <a:custGeom>
              <a:avLst/>
              <a:gdLst/>
              <a:ahLst/>
              <a:cxnLst/>
              <a:rect r="r" b="b" t="t" l="l"/>
              <a:pathLst>
                <a:path h="1921764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897380"/>
                  </a:lnTo>
                  <a:cubicBezTo>
                    <a:pt x="146431" y="1910842"/>
                    <a:pt x="135509" y="1921764"/>
                    <a:pt x="122047" y="1921764"/>
                  </a:cubicBezTo>
                  <a:lnTo>
                    <a:pt x="24384" y="1921764"/>
                  </a:lnTo>
                  <a:cubicBezTo>
                    <a:pt x="10922" y="1921764"/>
                    <a:pt x="0" y="1910842"/>
                    <a:pt x="0" y="1897380"/>
                  </a:cubicBezTo>
                  <a:close/>
                </a:path>
              </a:pathLst>
            </a:custGeom>
            <a:solidFill>
              <a:srgbClr val="DC2626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098137" y="8048901"/>
            <a:ext cx="16128902" cy="1090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7"/>
              </a:lnSpc>
            </a:pPr>
            <a:r>
              <a:rPr lang="en-US" sz="1876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Key Takeaway: 46.4% Sellers Need Governance</a:t>
            </a:r>
          </a:p>
          <a:p>
            <a:pPr algn="l">
              <a:lnSpc>
                <a:spcPts val="2702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109 out of 235 eligible sellers (46.4%) fall into Watchlist (52) or Needs Improvement (57). High review scores alone do not guarantee operational excellence—the 4-pillar index prevents high product ratings from hiding slow delivery or inefficient freight.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823608" y="9677343"/>
            <a:ext cx="16654634" cy="20593"/>
            <a:chOff x="0" y="0"/>
            <a:chExt cx="22206179" cy="2745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2206204" cy="27432"/>
            </a:xfrm>
            <a:custGeom>
              <a:avLst/>
              <a:gdLst/>
              <a:ahLst/>
              <a:cxnLst/>
              <a:rect r="r" b="b" t="t" l="l"/>
              <a:pathLst>
                <a:path h="27432" w="22206204">
                  <a:moveTo>
                    <a:pt x="0" y="0"/>
                  </a:moveTo>
                  <a:lnTo>
                    <a:pt x="22206204" y="0"/>
                  </a:lnTo>
                  <a:lnTo>
                    <a:pt x="22206204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D8E3F0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823608" y="9773431"/>
            <a:ext cx="5490686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Slide 11 of 20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987546" y="9773431"/>
            <a:ext cx="5490686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11"/>
              </a:lnSpc>
            </a:pPr>
            <a:r>
              <a:rPr lang="en-US" sz="1426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Final Project Presentation | M1-M4 Complete Journey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9814"/>
            <a:chOff x="0" y="0"/>
            <a:chExt cx="24402453" cy="146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46431"/>
            </a:xfrm>
            <a:custGeom>
              <a:avLst/>
              <a:gdLst/>
              <a:ahLst/>
              <a:cxnLst/>
              <a:rect r="r" b="b" t="t" l="l"/>
              <a:pathLst>
                <a:path h="14643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00B09B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23608" y="301990"/>
            <a:ext cx="10981382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0F766E"/>
                </a:solidFill>
                <a:latin typeface="Aptos Bold"/>
                <a:ea typeface="Aptos Bold"/>
                <a:cs typeface="Aptos Bold"/>
                <a:sym typeface="Aptos Bold"/>
              </a:rPr>
              <a:t>SUPPLY CHAIN VISIBILITY &amp; OPTIMISATION  -  MILESTONE 4 - TEAM 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23608" y="754971"/>
            <a:ext cx="10981382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0F766E"/>
                </a:solidFill>
                <a:latin typeface="Aptos Bold"/>
                <a:ea typeface="Aptos Bold"/>
                <a:cs typeface="Aptos Bold"/>
                <a:sym typeface="Aptos Bold"/>
              </a:rPr>
              <a:t>MILESTONE 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23608" y="1325613"/>
            <a:ext cx="1647206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Route &amp; Carrier-Stage Performance Analytics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3608" y="1948358"/>
            <a:ext cx="1647206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Geographic route modeling, straight-line Haversine distances, and carrier handoff duration.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23608" y="2469109"/>
            <a:ext cx="8510568" cy="5216157"/>
            <a:chOff x="0" y="0"/>
            <a:chExt cx="11347425" cy="6954876"/>
          </a:xfrm>
        </p:grpSpPr>
        <p:sp>
          <p:nvSpPr>
            <p:cNvPr name="Freeform 9" id="9" descr="image13.png"/>
            <p:cNvSpPr/>
            <p:nvPr/>
          </p:nvSpPr>
          <p:spPr>
            <a:xfrm flipH="false" flipV="false" rot="0">
              <a:off x="0" y="0"/>
              <a:ext cx="11347450" cy="6954901"/>
            </a:xfrm>
            <a:custGeom>
              <a:avLst/>
              <a:gdLst/>
              <a:ahLst/>
              <a:cxnLst/>
              <a:rect r="r" b="b" t="t" l="l"/>
              <a:pathLst>
                <a:path h="6954901" w="11347450">
                  <a:moveTo>
                    <a:pt x="0" y="0"/>
                  </a:moveTo>
                  <a:lnTo>
                    <a:pt x="11347450" y="0"/>
                  </a:lnTo>
                  <a:lnTo>
                    <a:pt x="11347450" y="6954901"/>
                  </a:lnTo>
                  <a:lnTo>
                    <a:pt x="0" y="6954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990" t="0" r="-299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599171" y="2461279"/>
            <a:ext cx="3862549" cy="1323108"/>
            <a:chOff x="0" y="0"/>
            <a:chExt cx="5150066" cy="17641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149977" cy="1764030"/>
            </a:xfrm>
            <a:custGeom>
              <a:avLst/>
              <a:gdLst/>
              <a:ahLst/>
              <a:cxnLst/>
              <a:rect r="r" b="b" t="t" l="l"/>
              <a:pathLst>
                <a:path h="1764030" w="5149977">
                  <a:moveTo>
                    <a:pt x="0" y="294005"/>
                  </a:moveTo>
                  <a:cubicBezTo>
                    <a:pt x="0" y="131699"/>
                    <a:pt x="131699" y="0"/>
                    <a:pt x="294005" y="0"/>
                  </a:cubicBezTo>
                  <a:lnTo>
                    <a:pt x="4855972" y="0"/>
                  </a:lnTo>
                  <a:cubicBezTo>
                    <a:pt x="5018405" y="0"/>
                    <a:pt x="5149977" y="131699"/>
                    <a:pt x="5149977" y="294005"/>
                  </a:cubicBezTo>
                  <a:lnTo>
                    <a:pt x="5149977" y="1470025"/>
                  </a:lnTo>
                  <a:cubicBezTo>
                    <a:pt x="5149977" y="1632458"/>
                    <a:pt x="5018278" y="1764030"/>
                    <a:pt x="4855972" y="1764030"/>
                  </a:cubicBezTo>
                  <a:lnTo>
                    <a:pt x="294005" y="1764030"/>
                  </a:lnTo>
                  <a:cubicBezTo>
                    <a:pt x="131699" y="1764157"/>
                    <a:pt x="0" y="1632458"/>
                    <a:pt x="0" y="147015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608706" y="2470814"/>
            <a:ext cx="109814" cy="1304039"/>
            <a:chOff x="0" y="0"/>
            <a:chExt cx="146418" cy="173871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431" cy="1738757"/>
            </a:xfrm>
            <a:custGeom>
              <a:avLst/>
              <a:gdLst/>
              <a:ahLst/>
              <a:cxnLst/>
              <a:rect r="r" b="b" t="t" l="l"/>
              <a:pathLst>
                <a:path h="1738757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714373"/>
                  </a:lnTo>
                  <a:cubicBezTo>
                    <a:pt x="146431" y="1727835"/>
                    <a:pt x="135509" y="1738757"/>
                    <a:pt x="122047" y="1738757"/>
                  </a:cubicBezTo>
                  <a:lnTo>
                    <a:pt x="24384" y="1738757"/>
                  </a:lnTo>
                  <a:cubicBezTo>
                    <a:pt x="10922" y="1738757"/>
                    <a:pt x="0" y="1727835"/>
                    <a:pt x="0" y="1714373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828333" y="2608078"/>
            <a:ext cx="3514039" cy="1029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2"/>
              </a:lnSpc>
            </a:pPr>
            <a:r>
              <a:rPr lang="en-US" sz="3152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304</a:t>
            </a:r>
          </a:p>
          <a:p>
            <a:pPr algn="l">
              <a:lnSpc>
                <a:spcPts val="1891"/>
              </a:lnSpc>
            </a:pPr>
            <a:r>
              <a:rPr lang="en-US" sz="1576" b="true">
                <a:solidFill>
                  <a:srgbClr val="1F2937"/>
                </a:solidFill>
                <a:latin typeface="Aptos Bold"/>
                <a:ea typeface="Aptos Bold"/>
                <a:cs typeface="Aptos Bold"/>
                <a:sym typeface="Aptos Bold"/>
              </a:rPr>
              <a:t>Unique Routes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Origin State -&gt; Dest State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3717191" y="2461279"/>
            <a:ext cx="3725285" cy="1323108"/>
            <a:chOff x="0" y="0"/>
            <a:chExt cx="4967046" cy="176414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966970" cy="1764030"/>
            </a:xfrm>
            <a:custGeom>
              <a:avLst/>
              <a:gdLst/>
              <a:ahLst/>
              <a:cxnLst/>
              <a:rect r="r" b="b" t="t" l="l"/>
              <a:pathLst>
                <a:path h="1764030" w="4966970">
                  <a:moveTo>
                    <a:pt x="0" y="294005"/>
                  </a:moveTo>
                  <a:cubicBezTo>
                    <a:pt x="0" y="131699"/>
                    <a:pt x="131699" y="0"/>
                    <a:pt x="294005" y="0"/>
                  </a:cubicBezTo>
                  <a:lnTo>
                    <a:pt x="4672965" y="0"/>
                  </a:lnTo>
                  <a:cubicBezTo>
                    <a:pt x="4835398" y="0"/>
                    <a:pt x="4966970" y="131699"/>
                    <a:pt x="4966970" y="294005"/>
                  </a:cubicBezTo>
                  <a:lnTo>
                    <a:pt x="4966970" y="1470025"/>
                  </a:lnTo>
                  <a:cubicBezTo>
                    <a:pt x="4966970" y="1632458"/>
                    <a:pt x="4835271" y="1764030"/>
                    <a:pt x="4672965" y="1764030"/>
                  </a:cubicBezTo>
                  <a:lnTo>
                    <a:pt x="294005" y="1764030"/>
                  </a:lnTo>
                  <a:cubicBezTo>
                    <a:pt x="131699" y="1764157"/>
                    <a:pt x="0" y="1632458"/>
                    <a:pt x="0" y="147015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3726725" y="2470814"/>
            <a:ext cx="109814" cy="1304039"/>
            <a:chOff x="0" y="0"/>
            <a:chExt cx="146418" cy="173871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6431" cy="1738757"/>
            </a:xfrm>
            <a:custGeom>
              <a:avLst/>
              <a:gdLst/>
              <a:ahLst/>
              <a:cxnLst/>
              <a:rect r="r" b="b" t="t" l="l"/>
              <a:pathLst>
                <a:path h="1738757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714373"/>
                  </a:lnTo>
                  <a:cubicBezTo>
                    <a:pt x="146431" y="1727835"/>
                    <a:pt x="135509" y="1738757"/>
                    <a:pt x="122047" y="1738757"/>
                  </a:cubicBezTo>
                  <a:lnTo>
                    <a:pt x="24384" y="1738757"/>
                  </a:lnTo>
                  <a:cubicBezTo>
                    <a:pt x="10922" y="1738757"/>
                    <a:pt x="0" y="1727835"/>
                    <a:pt x="0" y="1714373"/>
                  </a:cubicBezTo>
                  <a:close/>
                </a:path>
              </a:pathLst>
            </a:custGeom>
            <a:solidFill>
              <a:srgbClr val="00B09B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3946353" y="2608078"/>
            <a:ext cx="3376774" cy="1029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2"/>
              </a:lnSpc>
            </a:pPr>
            <a:r>
              <a:rPr lang="en-US" sz="3152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520.11 km</a:t>
            </a:r>
          </a:p>
          <a:p>
            <a:pPr algn="l">
              <a:lnSpc>
                <a:spcPts val="1891"/>
              </a:lnSpc>
            </a:pPr>
            <a:r>
              <a:rPr lang="en-US" sz="1576" b="true">
                <a:solidFill>
                  <a:srgbClr val="1F2937"/>
                </a:solidFill>
                <a:latin typeface="Aptos Bold"/>
                <a:ea typeface="Aptos Bold"/>
                <a:cs typeface="Aptos Bold"/>
                <a:sym typeface="Aptos Bold"/>
              </a:rPr>
              <a:t>Avg Distance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Straight-line Haversine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599171" y="3971220"/>
            <a:ext cx="3862549" cy="1323108"/>
            <a:chOff x="0" y="0"/>
            <a:chExt cx="5150066" cy="17641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149977" cy="1764030"/>
            </a:xfrm>
            <a:custGeom>
              <a:avLst/>
              <a:gdLst/>
              <a:ahLst/>
              <a:cxnLst/>
              <a:rect r="r" b="b" t="t" l="l"/>
              <a:pathLst>
                <a:path h="1764030" w="5149977">
                  <a:moveTo>
                    <a:pt x="0" y="294005"/>
                  </a:moveTo>
                  <a:cubicBezTo>
                    <a:pt x="0" y="131699"/>
                    <a:pt x="131699" y="0"/>
                    <a:pt x="294005" y="0"/>
                  </a:cubicBezTo>
                  <a:lnTo>
                    <a:pt x="4855972" y="0"/>
                  </a:lnTo>
                  <a:cubicBezTo>
                    <a:pt x="5018405" y="0"/>
                    <a:pt x="5149977" y="131699"/>
                    <a:pt x="5149977" y="294005"/>
                  </a:cubicBezTo>
                  <a:lnTo>
                    <a:pt x="5149977" y="1470025"/>
                  </a:lnTo>
                  <a:cubicBezTo>
                    <a:pt x="5149977" y="1632458"/>
                    <a:pt x="5018278" y="1764030"/>
                    <a:pt x="4855972" y="1764030"/>
                  </a:cubicBezTo>
                  <a:lnTo>
                    <a:pt x="294005" y="1764030"/>
                  </a:lnTo>
                  <a:cubicBezTo>
                    <a:pt x="131699" y="1764157"/>
                    <a:pt x="0" y="1632458"/>
                    <a:pt x="0" y="147015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608706" y="3980755"/>
            <a:ext cx="109814" cy="1304039"/>
            <a:chOff x="0" y="0"/>
            <a:chExt cx="146418" cy="173871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6431" cy="1738757"/>
            </a:xfrm>
            <a:custGeom>
              <a:avLst/>
              <a:gdLst/>
              <a:ahLst/>
              <a:cxnLst/>
              <a:rect r="r" b="b" t="t" l="l"/>
              <a:pathLst>
                <a:path h="1738757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714373"/>
                  </a:lnTo>
                  <a:cubicBezTo>
                    <a:pt x="146431" y="1727835"/>
                    <a:pt x="135509" y="1738757"/>
                    <a:pt x="122047" y="1738757"/>
                  </a:cubicBezTo>
                  <a:lnTo>
                    <a:pt x="24384" y="1738757"/>
                  </a:lnTo>
                  <a:cubicBezTo>
                    <a:pt x="10922" y="1738757"/>
                    <a:pt x="0" y="1727835"/>
                    <a:pt x="0" y="1714373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828333" y="4118019"/>
            <a:ext cx="3514039" cy="1029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2"/>
              </a:lnSpc>
            </a:pPr>
            <a:r>
              <a:rPr lang="en-US" sz="3152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8.63 Days</a:t>
            </a:r>
          </a:p>
          <a:p>
            <a:pPr algn="l">
              <a:lnSpc>
                <a:spcPts val="1891"/>
              </a:lnSpc>
            </a:pPr>
            <a:r>
              <a:rPr lang="en-US" sz="1576" b="true">
                <a:solidFill>
                  <a:srgbClr val="1F2937"/>
                </a:solidFill>
                <a:latin typeface="Aptos Bold"/>
                <a:ea typeface="Aptos Bold"/>
                <a:cs typeface="Aptos Bold"/>
                <a:sym typeface="Aptos Bold"/>
              </a:rPr>
              <a:t>Avg Carrier Transit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Handoff to delivery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3717191" y="3971220"/>
            <a:ext cx="3725285" cy="1323108"/>
            <a:chOff x="0" y="0"/>
            <a:chExt cx="4967046" cy="176414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966970" cy="1764030"/>
            </a:xfrm>
            <a:custGeom>
              <a:avLst/>
              <a:gdLst/>
              <a:ahLst/>
              <a:cxnLst/>
              <a:rect r="r" b="b" t="t" l="l"/>
              <a:pathLst>
                <a:path h="1764030" w="4966970">
                  <a:moveTo>
                    <a:pt x="0" y="294005"/>
                  </a:moveTo>
                  <a:cubicBezTo>
                    <a:pt x="0" y="131699"/>
                    <a:pt x="131699" y="0"/>
                    <a:pt x="294005" y="0"/>
                  </a:cubicBezTo>
                  <a:lnTo>
                    <a:pt x="4672965" y="0"/>
                  </a:lnTo>
                  <a:cubicBezTo>
                    <a:pt x="4835398" y="0"/>
                    <a:pt x="4966970" y="131699"/>
                    <a:pt x="4966970" y="294005"/>
                  </a:cubicBezTo>
                  <a:lnTo>
                    <a:pt x="4966970" y="1470025"/>
                  </a:lnTo>
                  <a:cubicBezTo>
                    <a:pt x="4966970" y="1632458"/>
                    <a:pt x="4835271" y="1764030"/>
                    <a:pt x="4672965" y="1764030"/>
                  </a:cubicBezTo>
                  <a:lnTo>
                    <a:pt x="294005" y="1764030"/>
                  </a:lnTo>
                  <a:cubicBezTo>
                    <a:pt x="131699" y="1764157"/>
                    <a:pt x="0" y="1632458"/>
                    <a:pt x="0" y="147015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3726725" y="3980755"/>
            <a:ext cx="109814" cy="1304039"/>
            <a:chOff x="0" y="0"/>
            <a:chExt cx="146418" cy="173871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46431" cy="1738757"/>
            </a:xfrm>
            <a:custGeom>
              <a:avLst/>
              <a:gdLst/>
              <a:ahLst/>
              <a:cxnLst/>
              <a:rect r="r" b="b" t="t" l="l"/>
              <a:pathLst>
                <a:path h="1738757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714373"/>
                  </a:lnTo>
                  <a:cubicBezTo>
                    <a:pt x="146431" y="1727835"/>
                    <a:pt x="135509" y="1738757"/>
                    <a:pt x="122047" y="1738757"/>
                  </a:cubicBezTo>
                  <a:lnTo>
                    <a:pt x="24384" y="1738757"/>
                  </a:lnTo>
                  <a:cubicBezTo>
                    <a:pt x="10922" y="1738757"/>
                    <a:pt x="0" y="1727835"/>
                    <a:pt x="0" y="1714373"/>
                  </a:cubicBezTo>
                  <a:close/>
                </a:path>
              </a:pathLst>
            </a:custGeom>
            <a:solidFill>
              <a:srgbClr val="DC2626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3946353" y="4118019"/>
            <a:ext cx="3376774" cy="1029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2"/>
              </a:lnSpc>
            </a:pPr>
            <a:r>
              <a:rPr lang="en-US" sz="3152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98</a:t>
            </a:r>
          </a:p>
          <a:p>
            <a:pPr algn="l">
              <a:lnSpc>
                <a:spcPts val="1891"/>
              </a:lnSpc>
            </a:pPr>
            <a:r>
              <a:rPr lang="en-US" sz="1576" b="true">
                <a:solidFill>
                  <a:srgbClr val="1F2937"/>
                </a:solidFill>
                <a:latin typeface="Aptos Bold"/>
                <a:ea typeface="Aptos Bold"/>
                <a:cs typeface="Aptos Bold"/>
                <a:sym typeface="Aptos Bold"/>
              </a:rPr>
              <a:t>Transit &gt;60 Days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Severe outlier shipments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599171" y="5481161"/>
            <a:ext cx="7843295" cy="2215344"/>
            <a:chOff x="0" y="0"/>
            <a:chExt cx="10457726" cy="295379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457688" cy="2953766"/>
            </a:xfrm>
            <a:custGeom>
              <a:avLst/>
              <a:gdLst/>
              <a:ahLst/>
              <a:cxnLst/>
              <a:rect r="r" b="b" t="t" l="l"/>
              <a:pathLst>
                <a:path h="2953766" w="10457688">
                  <a:moveTo>
                    <a:pt x="0" y="492252"/>
                  </a:moveTo>
                  <a:cubicBezTo>
                    <a:pt x="0" y="220472"/>
                    <a:pt x="220472" y="0"/>
                    <a:pt x="492252" y="0"/>
                  </a:cubicBezTo>
                  <a:lnTo>
                    <a:pt x="9965436" y="0"/>
                  </a:lnTo>
                  <a:cubicBezTo>
                    <a:pt x="10237343" y="0"/>
                    <a:pt x="10457688" y="220472"/>
                    <a:pt x="10457688" y="492252"/>
                  </a:cubicBezTo>
                  <a:lnTo>
                    <a:pt x="10457688" y="2461514"/>
                  </a:lnTo>
                  <a:cubicBezTo>
                    <a:pt x="10457688" y="2733421"/>
                    <a:pt x="10237216" y="2953766"/>
                    <a:pt x="9965436" y="2953766"/>
                  </a:cubicBezTo>
                  <a:lnTo>
                    <a:pt x="492252" y="2953766"/>
                  </a:lnTo>
                  <a:cubicBezTo>
                    <a:pt x="220472" y="2953766"/>
                    <a:pt x="0" y="2733421"/>
                    <a:pt x="0" y="2461514"/>
                  </a:cubicBezTo>
                  <a:close/>
                </a:path>
              </a:pathLst>
            </a:custGeom>
            <a:solidFill>
              <a:srgbClr val="F8FAFC"/>
            </a:solidFill>
            <a:ln w="19065" cap="sq">
              <a:solidFill>
                <a:srgbClr val="CBD5E1"/>
              </a:solidFill>
              <a:prstDash val="solid"/>
              <a:miter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9828333" y="5695750"/>
            <a:ext cx="7384980" cy="30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0F766E"/>
                </a:solidFill>
                <a:latin typeface="Aptos Bold"/>
                <a:ea typeface="Aptos Bold"/>
                <a:cs typeface="Aptos Bold"/>
                <a:sym typeface="Aptos Bold"/>
              </a:rPr>
              <a:t>DAX FORMULAS — ROUTE EFFICIENCY &amp; TRANSIT DAYS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828333" y="6054890"/>
            <a:ext cx="7384980" cy="1675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-- Carrier-Stage Lead Time (Carrier handoff to customer drop)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Avg Carrier Transit Days =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AVERAGEX(VALUES([order_id]), MAX([Carrier Transit Days]))</a:t>
            </a:r>
          </a:p>
          <a:p>
            <a:pPr algn="l">
              <a:lnSpc>
                <a:spcPts val="1621"/>
              </a:lnSpc>
            </a:pP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-- Normalized Freight Cost per 100 km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Freight Cost per 100 KM =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DIVIDE([Total Freight Cost], [Total Route Distance KM]) * 100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814073" y="7951965"/>
            <a:ext cx="16628402" cy="1460373"/>
            <a:chOff x="0" y="0"/>
            <a:chExt cx="22171203" cy="194716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2171152" cy="1947164"/>
            </a:xfrm>
            <a:custGeom>
              <a:avLst/>
              <a:gdLst/>
              <a:ahLst/>
              <a:cxnLst/>
              <a:rect r="r" b="b" t="t" l="l"/>
              <a:pathLst>
                <a:path h="1947164" w="22171152">
                  <a:moveTo>
                    <a:pt x="0" y="324485"/>
                  </a:moveTo>
                  <a:cubicBezTo>
                    <a:pt x="0" y="145288"/>
                    <a:pt x="145288" y="0"/>
                    <a:pt x="324485" y="0"/>
                  </a:cubicBezTo>
                  <a:lnTo>
                    <a:pt x="21846667" y="0"/>
                  </a:lnTo>
                  <a:cubicBezTo>
                    <a:pt x="22025863" y="0"/>
                    <a:pt x="22171152" y="145288"/>
                    <a:pt x="22171152" y="324485"/>
                  </a:cubicBezTo>
                  <a:lnTo>
                    <a:pt x="22171152" y="1622679"/>
                  </a:lnTo>
                  <a:cubicBezTo>
                    <a:pt x="22171152" y="1801876"/>
                    <a:pt x="22025863" y="1947164"/>
                    <a:pt x="21846667" y="1947164"/>
                  </a:cubicBezTo>
                  <a:lnTo>
                    <a:pt x="324485" y="1947164"/>
                  </a:lnTo>
                  <a:cubicBezTo>
                    <a:pt x="145288" y="1947164"/>
                    <a:pt x="0" y="1801876"/>
                    <a:pt x="0" y="1622679"/>
                  </a:cubicBezTo>
                  <a:close/>
                </a:path>
              </a:pathLst>
            </a:custGeom>
            <a:solidFill>
              <a:srgbClr val="FEF3C7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823608" y="7961500"/>
            <a:ext cx="109814" cy="1441304"/>
            <a:chOff x="0" y="0"/>
            <a:chExt cx="146418" cy="192173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46431" cy="1921764"/>
            </a:xfrm>
            <a:custGeom>
              <a:avLst/>
              <a:gdLst/>
              <a:ahLst/>
              <a:cxnLst/>
              <a:rect r="r" b="b" t="t" l="l"/>
              <a:pathLst>
                <a:path h="1921764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897380"/>
                  </a:lnTo>
                  <a:cubicBezTo>
                    <a:pt x="146431" y="1910842"/>
                    <a:pt x="135509" y="1921764"/>
                    <a:pt x="122047" y="1921764"/>
                  </a:cubicBezTo>
                  <a:lnTo>
                    <a:pt x="24384" y="1921764"/>
                  </a:lnTo>
                  <a:cubicBezTo>
                    <a:pt x="10922" y="1921764"/>
                    <a:pt x="0" y="1910842"/>
                    <a:pt x="0" y="1897380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098137" y="8010801"/>
            <a:ext cx="16128902" cy="12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2"/>
              </a:lnSpc>
            </a:pPr>
            <a:r>
              <a:rPr lang="en-US" sz="1876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Critical Methodology &amp; Limitations</a:t>
            </a:r>
          </a:p>
          <a:p>
            <a:pPr algn="l">
              <a:lnSpc>
                <a:spcPts val="3002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- Distance is approximate straight-line Haversine (Earth radius 6,371 km) between ZIP centroids, NOT road odometer mileage.</a:t>
            </a:r>
          </a:p>
          <a:p>
            <a:pPr algn="l">
              <a:lnSpc>
                <a:spcPts val="3002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- Olist dataset does NOT contain named carrier companies; metrics evaluate the carrier-stage fulfillment process duration.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823608" y="9677343"/>
            <a:ext cx="16654634" cy="20593"/>
            <a:chOff x="0" y="0"/>
            <a:chExt cx="22206179" cy="2745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2206204" cy="27432"/>
            </a:xfrm>
            <a:custGeom>
              <a:avLst/>
              <a:gdLst/>
              <a:ahLst/>
              <a:cxnLst/>
              <a:rect r="r" b="b" t="t" l="l"/>
              <a:pathLst>
                <a:path h="27432" w="22206204">
                  <a:moveTo>
                    <a:pt x="0" y="0"/>
                  </a:moveTo>
                  <a:lnTo>
                    <a:pt x="22206204" y="0"/>
                  </a:lnTo>
                  <a:lnTo>
                    <a:pt x="22206204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D8E3F0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823608" y="9773431"/>
            <a:ext cx="5490686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Slide 12 of 20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987546" y="9773431"/>
            <a:ext cx="5490686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11"/>
              </a:lnSpc>
            </a:pPr>
            <a:r>
              <a:rPr lang="en-US" sz="1426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Final Project Presentation | M1-M4 Complete Journey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9814"/>
            <a:chOff x="0" y="0"/>
            <a:chExt cx="24402453" cy="146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46431"/>
            </a:xfrm>
            <a:custGeom>
              <a:avLst/>
              <a:gdLst/>
              <a:ahLst/>
              <a:cxnLst/>
              <a:rect r="r" b="b" t="t" l="l"/>
              <a:pathLst>
                <a:path h="14643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00B09B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23608" y="301990"/>
            <a:ext cx="10981382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0F766E"/>
                </a:solidFill>
                <a:latin typeface="Aptos Bold"/>
                <a:ea typeface="Aptos Bold"/>
                <a:cs typeface="Aptos Bold"/>
                <a:sym typeface="Aptos Bold"/>
              </a:rPr>
              <a:t>SUPPLY CHAIN VISIBILITY &amp; OPTIMISATION  -  MILESTONE 4 - TEAM 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23608" y="754971"/>
            <a:ext cx="10981382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0F766E"/>
                </a:solidFill>
                <a:latin typeface="Aptos Bold"/>
                <a:ea typeface="Aptos Bold"/>
                <a:cs typeface="Aptos Bold"/>
                <a:sym typeface="Aptos Bold"/>
              </a:rPr>
              <a:t>MILESTONE 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23608" y="1233983"/>
            <a:ext cx="1647206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Transportation Cost &amp; Advanced KPI Analytics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3608" y="1853108"/>
            <a:ext cx="1647206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Diagnosing freight expenditure concentration, shipment lead times, and customer review relationships.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23608" y="2470814"/>
            <a:ext cx="8098765" cy="4392549"/>
            <a:chOff x="0" y="0"/>
            <a:chExt cx="10798353" cy="5856732"/>
          </a:xfrm>
        </p:grpSpPr>
        <p:sp>
          <p:nvSpPr>
            <p:cNvPr name="Freeform 9" id="9" descr="image11.png"/>
            <p:cNvSpPr/>
            <p:nvPr/>
          </p:nvSpPr>
          <p:spPr>
            <a:xfrm flipH="false" flipV="false" rot="0">
              <a:off x="0" y="0"/>
              <a:ext cx="10798302" cy="5856732"/>
            </a:xfrm>
            <a:custGeom>
              <a:avLst/>
              <a:gdLst/>
              <a:ahLst/>
              <a:cxnLst/>
              <a:rect r="r" b="b" t="t" l="l"/>
              <a:pathLst>
                <a:path h="5856732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5856732"/>
                  </a:lnTo>
                  <a:lnTo>
                    <a:pt x="0" y="5856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8653" r="0" b="-865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334176" y="2470814"/>
            <a:ext cx="8098765" cy="4392549"/>
            <a:chOff x="0" y="0"/>
            <a:chExt cx="10798353" cy="5856732"/>
          </a:xfrm>
        </p:grpSpPr>
        <p:sp>
          <p:nvSpPr>
            <p:cNvPr name="Freeform 11" id="11" descr="image14.png"/>
            <p:cNvSpPr/>
            <p:nvPr/>
          </p:nvSpPr>
          <p:spPr>
            <a:xfrm flipH="false" flipV="false" rot="0">
              <a:off x="0" y="0"/>
              <a:ext cx="10798302" cy="5856732"/>
            </a:xfrm>
            <a:custGeom>
              <a:avLst/>
              <a:gdLst/>
              <a:ahLst/>
              <a:cxnLst/>
              <a:rect r="r" b="b" t="t" l="l"/>
              <a:pathLst>
                <a:path h="5856732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5856732"/>
                  </a:lnTo>
                  <a:lnTo>
                    <a:pt x="0" y="5856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866" r="0" b="-2867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14073" y="7059730"/>
            <a:ext cx="3931177" cy="1391736"/>
            <a:chOff x="0" y="0"/>
            <a:chExt cx="5241569" cy="185564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241544" cy="1855597"/>
            </a:xfrm>
            <a:custGeom>
              <a:avLst/>
              <a:gdLst/>
              <a:ahLst/>
              <a:cxnLst/>
              <a:rect r="r" b="b" t="t" l="l"/>
              <a:pathLst>
                <a:path h="1855597" w="5241544">
                  <a:moveTo>
                    <a:pt x="0" y="309245"/>
                  </a:moveTo>
                  <a:cubicBezTo>
                    <a:pt x="0" y="138430"/>
                    <a:pt x="138430" y="0"/>
                    <a:pt x="309245" y="0"/>
                  </a:cubicBezTo>
                  <a:lnTo>
                    <a:pt x="4932299" y="0"/>
                  </a:lnTo>
                  <a:cubicBezTo>
                    <a:pt x="5103114" y="0"/>
                    <a:pt x="5241544" y="138430"/>
                    <a:pt x="5241544" y="309245"/>
                  </a:cubicBezTo>
                  <a:lnTo>
                    <a:pt x="5241544" y="1546352"/>
                  </a:lnTo>
                  <a:cubicBezTo>
                    <a:pt x="5241544" y="1717167"/>
                    <a:pt x="5103114" y="1855597"/>
                    <a:pt x="4932299" y="1855597"/>
                  </a:cubicBezTo>
                  <a:lnTo>
                    <a:pt x="309245" y="1855597"/>
                  </a:lnTo>
                  <a:cubicBezTo>
                    <a:pt x="138430" y="1855597"/>
                    <a:pt x="0" y="1717167"/>
                    <a:pt x="0" y="154635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823608" y="7069264"/>
            <a:ext cx="109814" cy="1372676"/>
            <a:chOff x="0" y="0"/>
            <a:chExt cx="146418" cy="183023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431" cy="1830197"/>
            </a:xfrm>
            <a:custGeom>
              <a:avLst/>
              <a:gdLst/>
              <a:ahLst/>
              <a:cxnLst/>
              <a:rect r="r" b="b" t="t" l="l"/>
              <a:pathLst>
                <a:path h="1830197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805813"/>
                  </a:lnTo>
                  <a:cubicBezTo>
                    <a:pt x="146431" y="1819275"/>
                    <a:pt x="135509" y="1830197"/>
                    <a:pt x="122047" y="1830197"/>
                  </a:cubicBezTo>
                  <a:lnTo>
                    <a:pt x="24384" y="1830197"/>
                  </a:lnTo>
                  <a:cubicBezTo>
                    <a:pt x="10922" y="1830197"/>
                    <a:pt x="0" y="1819275"/>
                    <a:pt x="0" y="1805813"/>
                  </a:cubicBezTo>
                  <a:close/>
                </a:path>
              </a:pathLst>
            </a:custGeom>
            <a:solidFill>
              <a:srgbClr val="DC2626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43235" y="7101754"/>
            <a:ext cx="3582676" cy="1185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6"/>
              </a:lnSpc>
            </a:pPr>
            <a:r>
              <a:rPr lang="en-US" sz="3152" b="true">
                <a:solidFill>
                  <a:srgbClr val="DC2626"/>
                </a:solidFill>
                <a:latin typeface="Aptos Bold"/>
                <a:ea typeface="Aptos Bold"/>
                <a:cs typeface="Aptos Bold"/>
                <a:sym typeface="Aptos Bold"/>
              </a:rPr>
              <a:t>R$ 969.23K</a:t>
            </a:r>
          </a:p>
          <a:p>
            <a:pPr algn="l">
              <a:lnSpc>
                <a:spcPts val="2443"/>
              </a:lnSpc>
            </a:pPr>
            <a:r>
              <a:rPr lang="en-US" sz="1576" b="true">
                <a:solidFill>
                  <a:srgbClr val="DC2626"/>
                </a:solidFill>
                <a:latin typeface="Aptos Bold"/>
                <a:ea typeface="Aptos Bold"/>
                <a:cs typeface="Aptos Bold"/>
                <a:sym typeface="Aptos Bold"/>
              </a:rPr>
              <a:t>Total Freight Cost</a:t>
            </a:r>
          </a:p>
          <a:p>
            <a:pPr algn="l">
              <a:lnSpc>
                <a:spcPts val="2094"/>
              </a:lnSpc>
            </a:pPr>
            <a:r>
              <a:rPr lang="en-US" sz="1351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Dashboard grand total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5000720" y="7059730"/>
            <a:ext cx="3931177" cy="1391736"/>
            <a:chOff x="0" y="0"/>
            <a:chExt cx="5241569" cy="185564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241544" cy="1855597"/>
            </a:xfrm>
            <a:custGeom>
              <a:avLst/>
              <a:gdLst/>
              <a:ahLst/>
              <a:cxnLst/>
              <a:rect r="r" b="b" t="t" l="l"/>
              <a:pathLst>
                <a:path h="1855597" w="5241544">
                  <a:moveTo>
                    <a:pt x="0" y="309245"/>
                  </a:moveTo>
                  <a:cubicBezTo>
                    <a:pt x="0" y="138430"/>
                    <a:pt x="138430" y="0"/>
                    <a:pt x="309245" y="0"/>
                  </a:cubicBezTo>
                  <a:lnTo>
                    <a:pt x="4932299" y="0"/>
                  </a:lnTo>
                  <a:cubicBezTo>
                    <a:pt x="5103114" y="0"/>
                    <a:pt x="5241544" y="138430"/>
                    <a:pt x="5241544" y="309245"/>
                  </a:cubicBezTo>
                  <a:lnTo>
                    <a:pt x="5241544" y="1546352"/>
                  </a:lnTo>
                  <a:cubicBezTo>
                    <a:pt x="5241544" y="1717167"/>
                    <a:pt x="5103114" y="1855597"/>
                    <a:pt x="4932299" y="1855597"/>
                  </a:cubicBezTo>
                  <a:lnTo>
                    <a:pt x="309245" y="1855597"/>
                  </a:lnTo>
                  <a:cubicBezTo>
                    <a:pt x="138430" y="1855597"/>
                    <a:pt x="0" y="1717167"/>
                    <a:pt x="0" y="154635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5010255" y="7069264"/>
            <a:ext cx="109814" cy="1372676"/>
            <a:chOff x="0" y="0"/>
            <a:chExt cx="146418" cy="183023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6431" cy="1830197"/>
            </a:xfrm>
            <a:custGeom>
              <a:avLst/>
              <a:gdLst/>
              <a:ahLst/>
              <a:cxnLst/>
              <a:rect r="r" b="b" t="t" l="l"/>
              <a:pathLst>
                <a:path h="1830197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805813"/>
                  </a:lnTo>
                  <a:cubicBezTo>
                    <a:pt x="146431" y="1819275"/>
                    <a:pt x="135509" y="1830197"/>
                    <a:pt x="122047" y="1830197"/>
                  </a:cubicBezTo>
                  <a:lnTo>
                    <a:pt x="24384" y="1830197"/>
                  </a:lnTo>
                  <a:cubicBezTo>
                    <a:pt x="10922" y="1830197"/>
                    <a:pt x="0" y="1819275"/>
                    <a:pt x="0" y="1805813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5229882" y="7101754"/>
            <a:ext cx="3582676" cy="1185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6"/>
              </a:lnSpc>
            </a:pPr>
            <a:r>
              <a:rPr lang="en-US" sz="3152" b="true">
                <a:solidFill>
                  <a:srgbClr val="F59E0B"/>
                </a:solidFill>
                <a:latin typeface="Aptos Bold"/>
                <a:ea typeface="Aptos Bold"/>
                <a:cs typeface="Aptos Bold"/>
                <a:sym typeface="Aptos Bold"/>
              </a:rPr>
              <a:t>R$ 137.94K</a:t>
            </a:r>
          </a:p>
          <a:p>
            <a:pPr algn="l">
              <a:lnSpc>
                <a:spcPts val="2443"/>
              </a:lnSpc>
            </a:pPr>
            <a:r>
              <a:rPr lang="en-US" sz="1576" b="true">
                <a:solidFill>
                  <a:srgbClr val="F59E0B"/>
                </a:solidFill>
                <a:latin typeface="Aptos Bold"/>
                <a:ea typeface="Aptos Bold"/>
                <a:cs typeface="Aptos Bold"/>
                <a:sym typeface="Aptos Bold"/>
              </a:rPr>
              <a:t>Rio de Janeiro Spend</a:t>
            </a:r>
          </a:p>
          <a:p>
            <a:pPr algn="l">
              <a:lnSpc>
                <a:spcPts val="2094"/>
              </a:lnSpc>
            </a:pPr>
            <a:r>
              <a:rPr lang="en-US" sz="1351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High freight state share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187377" y="7059730"/>
            <a:ext cx="3931177" cy="1391736"/>
            <a:chOff x="0" y="0"/>
            <a:chExt cx="5241569" cy="185564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41544" cy="1855597"/>
            </a:xfrm>
            <a:custGeom>
              <a:avLst/>
              <a:gdLst/>
              <a:ahLst/>
              <a:cxnLst/>
              <a:rect r="r" b="b" t="t" l="l"/>
              <a:pathLst>
                <a:path h="1855597" w="5241544">
                  <a:moveTo>
                    <a:pt x="0" y="309245"/>
                  </a:moveTo>
                  <a:cubicBezTo>
                    <a:pt x="0" y="138430"/>
                    <a:pt x="138430" y="0"/>
                    <a:pt x="309245" y="0"/>
                  </a:cubicBezTo>
                  <a:lnTo>
                    <a:pt x="4932299" y="0"/>
                  </a:lnTo>
                  <a:cubicBezTo>
                    <a:pt x="5103114" y="0"/>
                    <a:pt x="5241544" y="138430"/>
                    <a:pt x="5241544" y="309245"/>
                  </a:cubicBezTo>
                  <a:lnTo>
                    <a:pt x="5241544" y="1546352"/>
                  </a:lnTo>
                  <a:cubicBezTo>
                    <a:pt x="5241544" y="1717167"/>
                    <a:pt x="5103114" y="1855597"/>
                    <a:pt x="4932299" y="1855597"/>
                  </a:cubicBezTo>
                  <a:lnTo>
                    <a:pt x="309245" y="1855597"/>
                  </a:lnTo>
                  <a:cubicBezTo>
                    <a:pt x="138430" y="1855597"/>
                    <a:pt x="0" y="1717167"/>
                    <a:pt x="0" y="154635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9196902" y="7069264"/>
            <a:ext cx="109814" cy="1372676"/>
            <a:chOff x="0" y="0"/>
            <a:chExt cx="146418" cy="183023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31" cy="1830197"/>
            </a:xfrm>
            <a:custGeom>
              <a:avLst/>
              <a:gdLst/>
              <a:ahLst/>
              <a:cxnLst/>
              <a:rect r="r" b="b" t="t" l="l"/>
              <a:pathLst>
                <a:path h="1830197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805813"/>
                  </a:lnTo>
                  <a:cubicBezTo>
                    <a:pt x="146431" y="1819275"/>
                    <a:pt x="135509" y="1830197"/>
                    <a:pt x="122047" y="1830197"/>
                  </a:cubicBezTo>
                  <a:lnTo>
                    <a:pt x="24384" y="1830197"/>
                  </a:lnTo>
                  <a:cubicBezTo>
                    <a:pt x="10922" y="1830197"/>
                    <a:pt x="0" y="1819275"/>
                    <a:pt x="0" y="1805813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9416529" y="7101754"/>
            <a:ext cx="3582676" cy="1185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6"/>
              </a:lnSpc>
            </a:pPr>
            <a:r>
              <a:rPr lang="en-US" sz="3152" b="true">
                <a:solidFill>
                  <a:srgbClr val="2563EB"/>
                </a:solidFill>
                <a:latin typeface="Aptos Bold"/>
                <a:ea typeface="Aptos Bold"/>
                <a:cs typeface="Aptos Bold"/>
                <a:sym typeface="Aptos Bold"/>
              </a:rPr>
              <a:t>56K</a:t>
            </a:r>
          </a:p>
          <a:p>
            <a:pPr algn="l">
              <a:lnSpc>
                <a:spcPts val="2443"/>
              </a:lnSpc>
            </a:pPr>
            <a:r>
              <a:rPr lang="en-US" sz="1576" b="true">
                <a:solidFill>
                  <a:srgbClr val="2563EB"/>
                </a:solidFill>
                <a:latin typeface="Aptos Bold"/>
                <a:ea typeface="Aptos Bold"/>
                <a:cs typeface="Aptos Bold"/>
                <a:sym typeface="Aptos Bold"/>
              </a:rPr>
              <a:t>Shipments Analyzed</a:t>
            </a:r>
          </a:p>
          <a:p>
            <a:pPr algn="l">
              <a:lnSpc>
                <a:spcPts val="2094"/>
              </a:lnSpc>
            </a:pPr>
            <a:r>
              <a:rPr lang="en-US" sz="1351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Order shipment volume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3374024" y="7059730"/>
            <a:ext cx="4068451" cy="1391736"/>
            <a:chOff x="0" y="0"/>
            <a:chExt cx="5424602" cy="185564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424551" cy="1855597"/>
            </a:xfrm>
            <a:custGeom>
              <a:avLst/>
              <a:gdLst/>
              <a:ahLst/>
              <a:cxnLst/>
              <a:rect r="r" b="b" t="t" l="l"/>
              <a:pathLst>
                <a:path h="1855597" w="5424551">
                  <a:moveTo>
                    <a:pt x="0" y="309245"/>
                  </a:moveTo>
                  <a:cubicBezTo>
                    <a:pt x="0" y="138430"/>
                    <a:pt x="138430" y="0"/>
                    <a:pt x="309245" y="0"/>
                  </a:cubicBezTo>
                  <a:lnTo>
                    <a:pt x="5115306" y="0"/>
                  </a:lnTo>
                  <a:cubicBezTo>
                    <a:pt x="5286121" y="0"/>
                    <a:pt x="5424551" y="138430"/>
                    <a:pt x="5424551" y="309245"/>
                  </a:cubicBezTo>
                  <a:lnTo>
                    <a:pt x="5424551" y="1546352"/>
                  </a:lnTo>
                  <a:cubicBezTo>
                    <a:pt x="5424551" y="1717167"/>
                    <a:pt x="5286121" y="1855597"/>
                    <a:pt x="5115306" y="1855597"/>
                  </a:cubicBezTo>
                  <a:lnTo>
                    <a:pt x="309245" y="1855597"/>
                  </a:lnTo>
                  <a:cubicBezTo>
                    <a:pt x="138430" y="1855597"/>
                    <a:pt x="0" y="1717167"/>
                    <a:pt x="0" y="154635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3383558" y="7069264"/>
            <a:ext cx="109814" cy="1372676"/>
            <a:chOff x="0" y="0"/>
            <a:chExt cx="146418" cy="183023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6431" cy="1830197"/>
            </a:xfrm>
            <a:custGeom>
              <a:avLst/>
              <a:gdLst/>
              <a:ahLst/>
              <a:cxnLst/>
              <a:rect r="r" b="b" t="t" l="l"/>
              <a:pathLst>
                <a:path h="1830197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805813"/>
                  </a:lnTo>
                  <a:cubicBezTo>
                    <a:pt x="146431" y="1819275"/>
                    <a:pt x="135509" y="1830197"/>
                    <a:pt x="122047" y="1830197"/>
                  </a:cubicBezTo>
                  <a:lnTo>
                    <a:pt x="24384" y="1830197"/>
                  </a:lnTo>
                  <a:cubicBezTo>
                    <a:pt x="10922" y="1830197"/>
                    <a:pt x="0" y="1819275"/>
                    <a:pt x="0" y="1805813"/>
                  </a:cubicBezTo>
                  <a:close/>
                </a:path>
              </a:pathLst>
            </a:custGeom>
            <a:solidFill>
              <a:srgbClr val="16A34A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3603186" y="7101754"/>
            <a:ext cx="3719941" cy="1185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6"/>
              </a:lnSpc>
            </a:pPr>
            <a:r>
              <a:rPr lang="en-US" sz="3152" b="true">
                <a:solidFill>
                  <a:srgbClr val="16A34A"/>
                </a:solidFill>
                <a:latin typeface="Aptos Bold"/>
                <a:ea typeface="Aptos Bold"/>
                <a:cs typeface="Aptos Bold"/>
                <a:sym typeface="Aptos Bold"/>
              </a:rPr>
              <a:t>4.07 / 5.0</a:t>
            </a:r>
          </a:p>
          <a:p>
            <a:pPr algn="l">
              <a:lnSpc>
                <a:spcPts val="2443"/>
              </a:lnSpc>
            </a:pPr>
            <a:r>
              <a:rPr lang="en-US" sz="1576" b="true">
                <a:solidFill>
                  <a:srgbClr val="16A34A"/>
                </a:solidFill>
                <a:latin typeface="Aptos Bold"/>
                <a:ea typeface="Aptos Bold"/>
                <a:cs typeface="Aptos Bold"/>
                <a:sym typeface="Aptos Bold"/>
              </a:rPr>
              <a:t>Avg Supplier Rating</a:t>
            </a:r>
          </a:p>
          <a:p>
            <a:pPr algn="l">
              <a:lnSpc>
                <a:spcPts val="2094"/>
              </a:lnSpc>
            </a:pPr>
            <a:r>
              <a:rPr lang="en-US" sz="1351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Customer experience proxy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814073" y="8569671"/>
            <a:ext cx="16628402" cy="1048569"/>
            <a:chOff x="0" y="0"/>
            <a:chExt cx="22171203" cy="139809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171279" cy="1398143"/>
            </a:xfrm>
            <a:custGeom>
              <a:avLst/>
              <a:gdLst/>
              <a:ahLst/>
              <a:cxnLst/>
              <a:rect r="r" b="b" t="t" l="l"/>
              <a:pathLst>
                <a:path h="1398143" w="22171279">
                  <a:moveTo>
                    <a:pt x="0" y="233045"/>
                  </a:moveTo>
                  <a:cubicBezTo>
                    <a:pt x="0" y="104267"/>
                    <a:pt x="104267" y="0"/>
                    <a:pt x="233045" y="0"/>
                  </a:cubicBezTo>
                  <a:lnTo>
                    <a:pt x="21938235" y="0"/>
                  </a:lnTo>
                  <a:cubicBezTo>
                    <a:pt x="22066886" y="0"/>
                    <a:pt x="22171279" y="104267"/>
                    <a:pt x="22171279" y="233045"/>
                  </a:cubicBezTo>
                  <a:lnTo>
                    <a:pt x="22171279" y="1165098"/>
                  </a:lnTo>
                  <a:cubicBezTo>
                    <a:pt x="22171279" y="1293749"/>
                    <a:pt x="22067013" y="1398143"/>
                    <a:pt x="21938235" y="1398143"/>
                  </a:cubicBezTo>
                  <a:lnTo>
                    <a:pt x="233045" y="1398143"/>
                  </a:lnTo>
                  <a:cubicBezTo>
                    <a:pt x="104267" y="1398143"/>
                    <a:pt x="0" y="1293749"/>
                    <a:pt x="0" y="1165098"/>
                  </a:cubicBezTo>
                  <a:close/>
                </a:path>
              </a:pathLst>
            </a:custGeom>
            <a:solidFill>
              <a:srgbClr val="F5F3FF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823608" y="8579206"/>
            <a:ext cx="109814" cy="1029500"/>
            <a:chOff x="0" y="0"/>
            <a:chExt cx="146418" cy="137266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46431" cy="1372616"/>
            </a:xfrm>
            <a:custGeom>
              <a:avLst/>
              <a:gdLst/>
              <a:ahLst/>
              <a:cxnLst/>
              <a:rect r="r" b="b" t="t" l="l"/>
              <a:pathLst>
                <a:path h="1372616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348232"/>
                  </a:lnTo>
                  <a:cubicBezTo>
                    <a:pt x="146431" y="1361694"/>
                    <a:pt x="135509" y="1372616"/>
                    <a:pt x="122047" y="1372616"/>
                  </a:cubicBezTo>
                  <a:lnTo>
                    <a:pt x="24384" y="1372616"/>
                  </a:lnTo>
                  <a:cubicBezTo>
                    <a:pt x="10922" y="1372616"/>
                    <a:pt x="0" y="1361694"/>
                    <a:pt x="0" y="1348232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098137" y="8771372"/>
            <a:ext cx="16128902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Analytical Integration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Freight spending grew dramatically over the operating lifecycle (+694.99% Sep 2016 to Aug 2018). Spend is heavily concentrated in RJ and MG, with Health &amp; Beauty and Computer Accessories demanding the largest logistics budget.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823608" y="9677343"/>
            <a:ext cx="16654634" cy="20593"/>
            <a:chOff x="0" y="0"/>
            <a:chExt cx="22206179" cy="2745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2206204" cy="27432"/>
            </a:xfrm>
            <a:custGeom>
              <a:avLst/>
              <a:gdLst/>
              <a:ahLst/>
              <a:cxnLst/>
              <a:rect r="r" b="b" t="t" l="l"/>
              <a:pathLst>
                <a:path h="27432" w="22206204">
                  <a:moveTo>
                    <a:pt x="0" y="0"/>
                  </a:moveTo>
                  <a:lnTo>
                    <a:pt x="22206204" y="0"/>
                  </a:lnTo>
                  <a:lnTo>
                    <a:pt x="22206204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D8E3F0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823608" y="9773431"/>
            <a:ext cx="5490686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Slide 13 of 20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987546" y="9773431"/>
            <a:ext cx="5490686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11"/>
              </a:lnSpc>
            </a:pPr>
            <a:r>
              <a:rPr lang="en-US" sz="1426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Final Project Presentation | M1-M4 Complete Journey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9814"/>
            <a:chOff x="0" y="0"/>
            <a:chExt cx="24402453" cy="146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46431"/>
            </a:xfrm>
            <a:custGeom>
              <a:avLst/>
              <a:gdLst/>
              <a:ahLst/>
              <a:cxnLst/>
              <a:rect r="r" b="b" t="t" l="l"/>
              <a:pathLst>
                <a:path h="14643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00B09B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23608" y="301990"/>
            <a:ext cx="10981382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0F766E"/>
                </a:solidFill>
                <a:latin typeface="Aptos Bold"/>
                <a:ea typeface="Aptos Bold"/>
                <a:cs typeface="Aptos Bold"/>
                <a:sym typeface="Aptos Bold"/>
              </a:rPr>
              <a:t>SUPPLY CHAIN VISIBILITY &amp; OPTIMISATION  -  MILESTONE 4 - TEAM 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23608" y="754971"/>
            <a:ext cx="10981382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0F766E"/>
                </a:solidFill>
                <a:latin typeface="Aptos Bold"/>
                <a:ea typeface="Aptos Bold"/>
                <a:cs typeface="Aptos Bold"/>
                <a:sym typeface="Aptos Bold"/>
              </a:rPr>
              <a:t>MILESTONE 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23608" y="1135113"/>
            <a:ext cx="16472068" cy="676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Synthesized Key Findings &amp; Analytical Logic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3608" y="1853108"/>
            <a:ext cx="16472068" cy="480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Consolidating 6 core empirical insights across service reliability, vendor tiers, routes, and spend.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23608" y="2470814"/>
            <a:ext cx="5351716" cy="2528221"/>
            <a:chOff x="0" y="0"/>
            <a:chExt cx="7135622" cy="337096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35622" cy="3370961"/>
            </a:xfrm>
            <a:custGeom>
              <a:avLst/>
              <a:gdLst/>
              <a:ahLst/>
              <a:cxnLst/>
              <a:rect r="r" b="b" t="t" l="l"/>
              <a:pathLst>
                <a:path h="3370961" w="7135622">
                  <a:moveTo>
                    <a:pt x="0" y="78192"/>
                  </a:moveTo>
                  <a:cubicBezTo>
                    <a:pt x="0" y="35007"/>
                    <a:pt x="43040" y="0"/>
                    <a:pt x="96133" y="0"/>
                  </a:cubicBezTo>
                  <a:lnTo>
                    <a:pt x="7039489" y="0"/>
                  </a:lnTo>
                  <a:cubicBezTo>
                    <a:pt x="7092583" y="0"/>
                    <a:pt x="7135622" y="35007"/>
                    <a:pt x="7135622" y="78192"/>
                  </a:cubicBezTo>
                  <a:lnTo>
                    <a:pt x="7135622" y="3292770"/>
                  </a:lnTo>
                  <a:cubicBezTo>
                    <a:pt x="7135622" y="3335954"/>
                    <a:pt x="7092583" y="3370961"/>
                    <a:pt x="7039489" y="3370961"/>
                  </a:cubicBezTo>
                  <a:lnTo>
                    <a:pt x="96133" y="3370961"/>
                  </a:lnTo>
                  <a:cubicBezTo>
                    <a:pt x="43040" y="3370961"/>
                    <a:pt x="0" y="3335954"/>
                    <a:pt x="0" y="329277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823608" y="5305549"/>
            <a:ext cx="5351716" cy="2528221"/>
            <a:chOff x="0" y="0"/>
            <a:chExt cx="7135622" cy="337096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135622" cy="3370961"/>
            </a:xfrm>
            <a:custGeom>
              <a:avLst/>
              <a:gdLst/>
              <a:ahLst/>
              <a:cxnLst/>
              <a:rect r="r" b="b" t="t" l="l"/>
              <a:pathLst>
                <a:path h="3370961" w="7135622">
                  <a:moveTo>
                    <a:pt x="0" y="78192"/>
                  </a:moveTo>
                  <a:cubicBezTo>
                    <a:pt x="0" y="35007"/>
                    <a:pt x="43040" y="0"/>
                    <a:pt x="96133" y="0"/>
                  </a:cubicBezTo>
                  <a:lnTo>
                    <a:pt x="7039489" y="0"/>
                  </a:lnTo>
                  <a:cubicBezTo>
                    <a:pt x="7092583" y="0"/>
                    <a:pt x="7135622" y="35007"/>
                    <a:pt x="7135622" y="78192"/>
                  </a:cubicBezTo>
                  <a:lnTo>
                    <a:pt x="7135622" y="3292770"/>
                  </a:lnTo>
                  <a:cubicBezTo>
                    <a:pt x="7135622" y="3335954"/>
                    <a:pt x="7092583" y="3370961"/>
                    <a:pt x="7039489" y="3370961"/>
                  </a:cubicBezTo>
                  <a:lnTo>
                    <a:pt x="96133" y="3370961"/>
                  </a:lnTo>
                  <a:cubicBezTo>
                    <a:pt x="43040" y="3370961"/>
                    <a:pt x="0" y="3335954"/>
                    <a:pt x="0" y="329277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6451559" y="2470814"/>
            <a:ext cx="5351716" cy="2528221"/>
            <a:chOff x="0" y="0"/>
            <a:chExt cx="7135622" cy="337096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135622" cy="3370961"/>
            </a:xfrm>
            <a:custGeom>
              <a:avLst/>
              <a:gdLst/>
              <a:ahLst/>
              <a:cxnLst/>
              <a:rect r="r" b="b" t="t" l="l"/>
              <a:pathLst>
                <a:path h="3370961" w="7135622">
                  <a:moveTo>
                    <a:pt x="0" y="78192"/>
                  </a:moveTo>
                  <a:cubicBezTo>
                    <a:pt x="0" y="35007"/>
                    <a:pt x="43040" y="0"/>
                    <a:pt x="96133" y="0"/>
                  </a:cubicBezTo>
                  <a:lnTo>
                    <a:pt x="7039489" y="0"/>
                  </a:lnTo>
                  <a:cubicBezTo>
                    <a:pt x="7092583" y="0"/>
                    <a:pt x="7135622" y="35007"/>
                    <a:pt x="7135622" y="78192"/>
                  </a:cubicBezTo>
                  <a:lnTo>
                    <a:pt x="7135622" y="3292770"/>
                  </a:lnTo>
                  <a:cubicBezTo>
                    <a:pt x="7135622" y="3335954"/>
                    <a:pt x="7092583" y="3370961"/>
                    <a:pt x="7039489" y="3370961"/>
                  </a:cubicBezTo>
                  <a:lnTo>
                    <a:pt x="96133" y="3370961"/>
                  </a:lnTo>
                  <a:cubicBezTo>
                    <a:pt x="43040" y="3370961"/>
                    <a:pt x="0" y="3335954"/>
                    <a:pt x="0" y="329277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6451559" y="5305549"/>
            <a:ext cx="5351716" cy="2528221"/>
            <a:chOff x="0" y="0"/>
            <a:chExt cx="7135622" cy="337096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135622" cy="3370961"/>
            </a:xfrm>
            <a:custGeom>
              <a:avLst/>
              <a:gdLst/>
              <a:ahLst/>
              <a:cxnLst/>
              <a:rect r="r" b="b" t="t" l="l"/>
              <a:pathLst>
                <a:path h="3370961" w="7135622">
                  <a:moveTo>
                    <a:pt x="0" y="78192"/>
                  </a:moveTo>
                  <a:cubicBezTo>
                    <a:pt x="0" y="35007"/>
                    <a:pt x="43040" y="0"/>
                    <a:pt x="96133" y="0"/>
                  </a:cubicBezTo>
                  <a:lnTo>
                    <a:pt x="7039489" y="0"/>
                  </a:lnTo>
                  <a:cubicBezTo>
                    <a:pt x="7092583" y="0"/>
                    <a:pt x="7135622" y="35007"/>
                    <a:pt x="7135622" y="78192"/>
                  </a:cubicBezTo>
                  <a:lnTo>
                    <a:pt x="7135622" y="3292770"/>
                  </a:lnTo>
                  <a:cubicBezTo>
                    <a:pt x="7135622" y="3335954"/>
                    <a:pt x="7092583" y="3370961"/>
                    <a:pt x="7039489" y="3370961"/>
                  </a:cubicBezTo>
                  <a:lnTo>
                    <a:pt x="96133" y="3370961"/>
                  </a:lnTo>
                  <a:cubicBezTo>
                    <a:pt x="43040" y="3370961"/>
                    <a:pt x="0" y="3335954"/>
                    <a:pt x="0" y="329277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2081215" y="2470814"/>
            <a:ext cx="5351716" cy="2528221"/>
            <a:chOff x="0" y="0"/>
            <a:chExt cx="7135622" cy="337096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135622" cy="3370961"/>
            </a:xfrm>
            <a:custGeom>
              <a:avLst/>
              <a:gdLst/>
              <a:ahLst/>
              <a:cxnLst/>
              <a:rect r="r" b="b" t="t" l="l"/>
              <a:pathLst>
                <a:path h="3370961" w="7135622">
                  <a:moveTo>
                    <a:pt x="0" y="78192"/>
                  </a:moveTo>
                  <a:cubicBezTo>
                    <a:pt x="0" y="35007"/>
                    <a:pt x="43040" y="0"/>
                    <a:pt x="96133" y="0"/>
                  </a:cubicBezTo>
                  <a:lnTo>
                    <a:pt x="7039489" y="0"/>
                  </a:lnTo>
                  <a:cubicBezTo>
                    <a:pt x="7092583" y="0"/>
                    <a:pt x="7135622" y="35007"/>
                    <a:pt x="7135622" y="78192"/>
                  </a:cubicBezTo>
                  <a:lnTo>
                    <a:pt x="7135622" y="3292770"/>
                  </a:lnTo>
                  <a:cubicBezTo>
                    <a:pt x="7135622" y="3335954"/>
                    <a:pt x="7092583" y="3370961"/>
                    <a:pt x="7039489" y="3370961"/>
                  </a:cubicBezTo>
                  <a:lnTo>
                    <a:pt x="96133" y="3370961"/>
                  </a:lnTo>
                  <a:cubicBezTo>
                    <a:pt x="43040" y="3370961"/>
                    <a:pt x="0" y="3335954"/>
                    <a:pt x="0" y="329277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2081215" y="5305549"/>
            <a:ext cx="5351716" cy="2528221"/>
            <a:chOff x="0" y="0"/>
            <a:chExt cx="7135622" cy="337096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135622" cy="3370961"/>
            </a:xfrm>
            <a:custGeom>
              <a:avLst/>
              <a:gdLst/>
              <a:ahLst/>
              <a:cxnLst/>
              <a:rect r="r" b="b" t="t" l="l"/>
              <a:pathLst>
                <a:path h="3370961" w="7135622">
                  <a:moveTo>
                    <a:pt x="0" y="78192"/>
                  </a:moveTo>
                  <a:cubicBezTo>
                    <a:pt x="0" y="35007"/>
                    <a:pt x="43040" y="0"/>
                    <a:pt x="96133" y="0"/>
                  </a:cubicBezTo>
                  <a:lnTo>
                    <a:pt x="7039489" y="0"/>
                  </a:lnTo>
                  <a:cubicBezTo>
                    <a:pt x="7092583" y="0"/>
                    <a:pt x="7135622" y="35007"/>
                    <a:pt x="7135622" y="78192"/>
                  </a:cubicBezTo>
                  <a:lnTo>
                    <a:pt x="7135622" y="3292770"/>
                  </a:lnTo>
                  <a:cubicBezTo>
                    <a:pt x="7135622" y="3335954"/>
                    <a:pt x="7092583" y="3370961"/>
                    <a:pt x="7039489" y="3370961"/>
                  </a:cubicBezTo>
                  <a:lnTo>
                    <a:pt x="96133" y="3370961"/>
                  </a:lnTo>
                  <a:cubicBezTo>
                    <a:pt x="43040" y="3370961"/>
                    <a:pt x="0" y="3335954"/>
                    <a:pt x="0" y="329277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823608" y="2470814"/>
            <a:ext cx="109814" cy="2539441"/>
            <a:chOff x="0" y="0"/>
            <a:chExt cx="146418" cy="338592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6431" cy="3385947"/>
            </a:xfrm>
            <a:custGeom>
              <a:avLst/>
              <a:gdLst/>
              <a:ahLst/>
              <a:cxnLst/>
              <a:rect r="r" b="b" t="t" l="l"/>
              <a:pathLst>
                <a:path h="3385947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3361563"/>
                  </a:lnTo>
                  <a:cubicBezTo>
                    <a:pt x="146431" y="3375025"/>
                    <a:pt x="135509" y="3385947"/>
                    <a:pt x="122047" y="3385947"/>
                  </a:cubicBezTo>
                  <a:lnTo>
                    <a:pt x="24384" y="3385947"/>
                  </a:lnTo>
                  <a:cubicBezTo>
                    <a:pt x="10922" y="3385947"/>
                    <a:pt x="0" y="3375025"/>
                    <a:pt x="0" y="3361563"/>
                  </a:cubicBezTo>
                  <a:close/>
                </a:path>
              </a:pathLst>
            </a:custGeom>
            <a:solidFill>
              <a:srgbClr val="16A34A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098137" y="2662980"/>
            <a:ext cx="4872990" cy="926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1. High Baseline Service (93.91%)</a:t>
            </a:r>
          </a:p>
          <a:p>
            <a:pPr algn="l">
              <a:lnSpc>
                <a:spcPts val="2807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Overall on-time delivery is strong, but aggregate success conceals severe local exceptions in remote lanes.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451559" y="2470814"/>
            <a:ext cx="109814" cy="2539441"/>
            <a:chOff x="0" y="0"/>
            <a:chExt cx="146418" cy="338592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6431" cy="3385947"/>
            </a:xfrm>
            <a:custGeom>
              <a:avLst/>
              <a:gdLst/>
              <a:ahLst/>
              <a:cxnLst/>
              <a:rect r="r" b="b" t="t" l="l"/>
              <a:pathLst>
                <a:path h="3385947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3361563"/>
                  </a:lnTo>
                  <a:cubicBezTo>
                    <a:pt x="146431" y="3375025"/>
                    <a:pt x="135509" y="3385947"/>
                    <a:pt x="122047" y="3385947"/>
                  </a:cubicBezTo>
                  <a:lnTo>
                    <a:pt x="24384" y="3385947"/>
                  </a:lnTo>
                  <a:cubicBezTo>
                    <a:pt x="10922" y="3385947"/>
                    <a:pt x="0" y="3375025"/>
                    <a:pt x="0" y="3361563"/>
                  </a:cubicBezTo>
                  <a:close/>
                </a:path>
              </a:pathLst>
            </a:custGeom>
            <a:solidFill>
              <a:srgbClr val="DC2626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6726098" y="2662980"/>
            <a:ext cx="4872990" cy="941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2. 46.4% Seller Governance Pool</a:t>
            </a:r>
          </a:p>
          <a:p>
            <a:pPr algn="l">
              <a:lnSpc>
                <a:spcPts val="2882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109 out of 235 eligible vendors require performance remediation across delivery speed, reviews, or freight.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2079519" y="2470814"/>
            <a:ext cx="109814" cy="2539441"/>
            <a:chOff x="0" y="0"/>
            <a:chExt cx="146418" cy="338592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31" cy="3385947"/>
            </a:xfrm>
            <a:custGeom>
              <a:avLst/>
              <a:gdLst/>
              <a:ahLst/>
              <a:cxnLst/>
              <a:rect r="r" b="b" t="t" l="l"/>
              <a:pathLst>
                <a:path h="3385947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3361563"/>
                  </a:lnTo>
                  <a:cubicBezTo>
                    <a:pt x="146431" y="3375025"/>
                    <a:pt x="135509" y="3385947"/>
                    <a:pt x="122047" y="3385947"/>
                  </a:cubicBezTo>
                  <a:lnTo>
                    <a:pt x="24384" y="3385947"/>
                  </a:lnTo>
                  <a:cubicBezTo>
                    <a:pt x="10922" y="3385947"/>
                    <a:pt x="0" y="3375025"/>
                    <a:pt x="0" y="3361563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2354049" y="2662980"/>
            <a:ext cx="4872990" cy="94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3. Geographic Spend Concentration</a:t>
            </a:r>
          </a:p>
          <a:p>
            <a:pPr algn="l">
              <a:lnSpc>
                <a:spcPts val="2867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Freight costs are heavily concentrated in Southeast lanes and inbound shipments to RJ (R$ 137.94K) and MG.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823608" y="5284784"/>
            <a:ext cx="109814" cy="2539441"/>
            <a:chOff x="0" y="0"/>
            <a:chExt cx="146418" cy="338592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6431" cy="3385947"/>
            </a:xfrm>
            <a:custGeom>
              <a:avLst/>
              <a:gdLst/>
              <a:ahLst/>
              <a:cxnLst/>
              <a:rect r="r" b="b" t="t" l="l"/>
              <a:pathLst>
                <a:path h="3385947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3361563"/>
                  </a:lnTo>
                  <a:cubicBezTo>
                    <a:pt x="146431" y="3375025"/>
                    <a:pt x="135509" y="3385947"/>
                    <a:pt x="122047" y="3385947"/>
                  </a:cubicBezTo>
                  <a:lnTo>
                    <a:pt x="24384" y="3385947"/>
                  </a:lnTo>
                  <a:cubicBezTo>
                    <a:pt x="10922" y="3385947"/>
                    <a:pt x="0" y="3375025"/>
                    <a:pt x="0" y="3361563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098137" y="5476961"/>
            <a:ext cx="4872990" cy="94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4. Distance Shapes Transit Times</a:t>
            </a:r>
          </a:p>
          <a:p>
            <a:pPr algn="l">
              <a:lnSpc>
                <a:spcPts val="2867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Transit times scale naturally with distance (SP-&gt;SP is 4.54d vs. SP-&gt;BA at 16.53d); requires tiered SLAs.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6451559" y="5284784"/>
            <a:ext cx="109814" cy="2539441"/>
            <a:chOff x="0" y="0"/>
            <a:chExt cx="146418" cy="338592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46431" cy="3385947"/>
            </a:xfrm>
            <a:custGeom>
              <a:avLst/>
              <a:gdLst/>
              <a:ahLst/>
              <a:cxnLst/>
              <a:rect r="r" b="b" t="t" l="l"/>
              <a:pathLst>
                <a:path h="3385947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3361563"/>
                  </a:lnTo>
                  <a:cubicBezTo>
                    <a:pt x="146431" y="3375025"/>
                    <a:pt x="135509" y="3385947"/>
                    <a:pt x="122047" y="3385947"/>
                  </a:cubicBezTo>
                  <a:lnTo>
                    <a:pt x="24384" y="3385947"/>
                  </a:lnTo>
                  <a:cubicBezTo>
                    <a:pt x="10922" y="3385947"/>
                    <a:pt x="0" y="3375025"/>
                    <a:pt x="0" y="3361563"/>
                  </a:cubicBezTo>
                  <a:close/>
                </a:path>
              </a:pathLst>
            </a:custGeom>
            <a:solidFill>
              <a:srgbClr val="DC2626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6726098" y="5476961"/>
            <a:ext cx="4872990" cy="940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5. Critical Outlier Exceptions</a:t>
            </a:r>
          </a:p>
          <a:p>
            <a:pPr algn="l">
              <a:lnSpc>
                <a:spcPts val="2897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98 orders took &gt;60 days in transit, with max transit reaching 205.19 days, requiring dedicated exception workflows.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2079519" y="5284784"/>
            <a:ext cx="109814" cy="2539441"/>
            <a:chOff x="0" y="0"/>
            <a:chExt cx="146418" cy="338592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46431" cy="3385947"/>
            </a:xfrm>
            <a:custGeom>
              <a:avLst/>
              <a:gdLst/>
              <a:ahLst/>
              <a:cxnLst/>
              <a:rect r="r" b="b" t="t" l="l"/>
              <a:pathLst>
                <a:path h="3385947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3361563"/>
                  </a:lnTo>
                  <a:cubicBezTo>
                    <a:pt x="146431" y="3375025"/>
                    <a:pt x="135509" y="3385947"/>
                    <a:pt x="122047" y="3385947"/>
                  </a:cubicBezTo>
                  <a:lnTo>
                    <a:pt x="24384" y="3385947"/>
                  </a:lnTo>
                  <a:cubicBezTo>
                    <a:pt x="10922" y="3385947"/>
                    <a:pt x="0" y="3375025"/>
                    <a:pt x="0" y="3361563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2354049" y="5476961"/>
            <a:ext cx="4872990" cy="941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6. Speed Drives Rating</a:t>
            </a:r>
          </a:p>
          <a:p>
            <a:pPr algn="l">
              <a:lnSpc>
                <a:spcPts val="2882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Strong inverse correlation: average delivery duration drops from ~17.5 days for 1-star reviews to ~10.1 days for 5-star.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814073" y="8295132"/>
            <a:ext cx="16628402" cy="1254471"/>
            <a:chOff x="0" y="0"/>
            <a:chExt cx="22171203" cy="167262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2171152" cy="1672590"/>
            </a:xfrm>
            <a:custGeom>
              <a:avLst/>
              <a:gdLst/>
              <a:ahLst/>
              <a:cxnLst/>
              <a:rect r="r" b="b" t="t" l="l"/>
              <a:pathLst>
                <a:path h="1672590" w="22171152">
                  <a:moveTo>
                    <a:pt x="0" y="278765"/>
                  </a:moveTo>
                  <a:cubicBezTo>
                    <a:pt x="0" y="124841"/>
                    <a:pt x="124841" y="0"/>
                    <a:pt x="278765" y="0"/>
                  </a:cubicBezTo>
                  <a:lnTo>
                    <a:pt x="21892388" y="0"/>
                  </a:lnTo>
                  <a:cubicBezTo>
                    <a:pt x="22046312" y="0"/>
                    <a:pt x="22171152" y="124841"/>
                    <a:pt x="22171152" y="278765"/>
                  </a:cubicBezTo>
                  <a:lnTo>
                    <a:pt x="22171152" y="1393825"/>
                  </a:lnTo>
                  <a:cubicBezTo>
                    <a:pt x="22171152" y="1547749"/>
                    <a:pt x="22046312" y="1672590"/>
                    <a:pt x="21892388" y="1672590"/>
                  </a:cubicBezTo>
                  <a:lnTo>
                    <a:pt x="278765" y="1672590"/>
                  </a:lnTo>
                  <a:cubicBezTo>
                    <a:pt x="124841" y="1672590"/>
                    <a:pt x="0" y="1547876"/>
                    <a:pt x="0" y="1393825"/>
                  </a:cubicBezTo>
                  <a:close/>
                </a:path>
              </a:pathLst>
            </a:custGeom>
            <a:solidFill>
              <a:srgbClr val="F0FDFA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823608" y="8304667"/>
            <a:ext cx="109814" cy="1235402"/>
            <a:chOff x="0" y="0"/>
            <a:chExt cx="146418" cy="164720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46431" cy="1647190"/>
            </a:xfrm>
            <a:custGeom>
              <a:avLst/>
              <a:gdLst/>
              <a:ahLst/>
              <a:cxnLst/>
              <a:rect r="r" b="b" t="t" l="l"/>
              <a:pathLst>
                <a:path h="1647190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622806"/>
                  </a:lnTo>
                  <a:cubicBezTo>
                    <a:pt x="146431" y="1636268"/>
                    <a:pt x="135509" y="1647190"/>
                    <a:pt x="122047" y="1647190"/>
                  </a:cubicBezTo>
                  <a:lnTo>
                    <a:pt x="24384" y="1647190"/>
                  </a:lnTo>
                  <a:cubicBezTo>
                    <a:pt x="10922" y="1647190"/>
                    <a:pt x="0" y="1636268"/>
                    <a:pt x="0" y="1622806"/>
                  </a:cubicBezTo>
                  <a:close/>
                </a:path>
              </a:pathLst>
            </a:custGeom>
            <a:solidFill>
              <a:srgbClr val="0F766E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098137" y="8420643"/>
            <a:ext cx="16128902" cy="978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1"/>
              </a:lnSpc>
            </a:pPr>
            <a:r>
              <a:rPr lang="en-US" sz="1876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Core Management Takeaway</a:t>
            </a:r>
          </a:p>
          <a:p>
            <a:pPr algn="l">
              <a:lnSpc>
                <a:spcPts val="2416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Optimize the holistic equilibrium of COST + SERVICE RELIABILITY + SELLER QUALITY + ROUTE EFFICIENCY. Cutting freight costs blindly destroys delivery speed and damages customer review sentiment.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823608" y="9677343"/>
            <a:ext cx="16654634" cy="20593"/>
            <a:chOff x="0" y="0"/>
            <a:chExt cx="22206179" cy="27457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2206204" cy="27432"/>
            </a:xfrm>
            <a:custGeom>
              <a:avLst/>
              <a:gdLst/>
              <a:ahLst/>
              <a:cxnLst/>
              <a:rect r="r" b="b" t="t" l="l"/>
              <a:pathLst>
                <a:path h="27432" w="22206204">
                  <a:moveTo>
                    <a:pt x="0" y="0"/>
                  </a:moveTo>
                  <a:lnTo>
                    <a:pt x="22206204" y="0"/>
                  </a:lnTo>
                  <a:lnTo>
                    <a:pt x="22206204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D8E3F0"/>
            </a:solid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823608" y="9773431"/>
            <a:ext cx="5490686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Slide 14 of 20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987546" y="9773431"/>
            <a:ext cx="5490686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11"/>
              </a:lnSpc>
            </a:pPr>
            <a:r>
              <a:rPr lang="en-US" sz="1426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Final Project Presentation | M1-M4 Complete Journey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9814"/>
            <a:chOff x="0" y="0"/>
            <a:chExt cx="24402453" cy="146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46431"/>
            </a:xfrm>
            <a:custGeom>
              <a:avLst/>
              <a:gdLst/>
              <a:ahLst/>
              <a:cxnLst/>
              <a:rect r="r" b="b" t="t" l="l"/>
              <a:pathLst>
                <a:path h="14643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00B09B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23608" y="301990"/>
            <a:ext cx="10981382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0F766E"/>
                </a:solidFill>
                <a:latin typeface="Aptos Bold"/>
                <a:ea typeface="Aptos Bold"/>
                <a:cs typeface="Aptos Bold"/>
                <a:sym typeface="Aptos Bold"/>
              </a:rPr>
              <a:t>SUPPLY CHAIN VISIBILITY &amp; OPTIMISATION  -  MILESTONE 4 - TEAM 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23608" y="754971"/>
            <a:ext cx="10981382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0F766E"/>
                </a:solidFill>
                <a:latin typeface="Aptos Bold"/>
                <a:ea typeface="Aptos Bold"/>
                <a:cs typeface="Aptos Bold"/>
                <a:sym typeface="Aptos Bold"/>
              </a:rPr>
              <a:t>MILESTONE 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23608" y="1135113"/>
            <a:ext cx="16472068" cy="676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Transitioning from Analysis to Executive Decision Support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3608" y="1853108"/>
            <a:ext cx="16472068" cy="480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Synthesizing operational discoveries into four decision-oriented executive control interfaces.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23608" y="2470814"/>
            <a:ext cx="3980755" cy="1166774"/>
            <a:chOff x="0" y="0"/>
            <a:chExt cx="5307673" cy="155569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07711" cy="1555750"/>
            </a:xfrm>
            <a:custGeom>
              <a:avLst/>
              <a:gdLst/>
              <a:ahLst/>
              <a:cxnLst/>
              <a:rect r="r" b="b" t="t" l="l"/>
              <a:pathLst>
                <a:path h="1555750" w="5307711">
                  <a:moveTo>
                    <a:pt x="0" y="259334"/>
                  </a:moveTo>
                  <a:cubicBezTo>
                    <a:pt x="0" y="116078"/>
                    <a:pt x="116078" y="0"/>
                    <a:pt x="259334" y="0"/>
                  </a:cubicBezTo>
                  <a:lnTo>
                    <a:pt x="5048377" y="0"/>
                  </a:lnTo>
                  <a:cubicBezTo>
                    <a:pt x="5191633" y="0"/>
                    <a:pt x="5307711" y="116078"/>
                    <a:pt x="5307711" y="259334"/>
                  </a:cubicBezTo>
                  <a:lnTo>
                    <a:pt x="5307711" y="1296416"/>
                  </a:lnTo>
                  <a:cubicBezTo>
                    <a:pt x="5307711" y="1439672"/>
                    <a:pt x="5191633" y="1555750"/>
                    <a:pt x="5048377" y="1555750"/>
                  </a:cubicBezTo>
                  <a:lnTo>
                    <a:pt x="259334" y="1555750"/>
                  </a:lnTo>
                  <a:cubicBezTo>
                    <a:pt x="116078" y="1555750"/>
                    <a:pt x="0" y="1439545"/>
                    <a:pt x="0" y="1296416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60872" y="2643284"/>
            <a:ext cx="3706216" cy="731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0"/>
              </a:lnSpc>
            </a:pPr>
            <a:r>
              <a:rPr lang="en-US" sz="1801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Executive Overview</a:t>
            </a:r>
          </a:p>
          <a:p>
            <a:pPr algn="l">
              <a:lnSpc>
                <a:spcPts val="2652"/>
              </a:lnSpc>
            </a:pPr>
            <a:r>
              <a:rPr lang="en-US" sz="1426">
                <a:solidFill>
                  <a:srgbClr val="F0FDFA"/>
                </a:solidFill>
                <a:latin typeface="Aptos"/>
                <a:ea typeface="Aptos"/>
                <a:cs typeface="Aptos"/>
                <a:sym typeface="Aptos"/>
              </a:rPr>
              <a:t>COMMERCIAL &amp; FULFILLMENT CONTROL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14073" y="3770938"/>
            <a:ext cx="3990289" cy="4451918"/>
            <a:chOff x="0" y="0"/>
            <a:chExt cx="5320386" cy="59358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20386" cy="5935891"/>
            </a:xfrm>
            <a:custGeom>
              <a:avLst/>
              <a:gdLst/>
              <a:ahLst/>
              <a:cxnLst/>
              <a:rect r="r" b="b" t="t" l="l"/>
              <a:pathLst>
                <a:path h="5935891" w="5320386">
                  <a:moveTo>
                    <a:pt x="0" y="137687"/>
                  </a:moveTo>
                  <a:cubicBezTo>
                    <a:pt x="0" y="61644"/>
                    <a:pt x="32091" y="0"/>
                    <a:pt x="71678" y="0"/>
                  </a:cubicBezTo>
                  <a:lnTo>
                    <a:pt x="5248708" y="0"/>
                  </a:lnTo>
                  <a:cubicBezTo>
                    <a:pt x="5288295" y="0"/>
                    <a:pt x="5320386" y="61644"/>
                    <a:pt x="5320386" y="137687"/>
                  </a:cubicBezTo>
                  <a:lnTo>
                    <a:pt x="5320386" y="5798204"/>
                  </a:lnTo>
                  <a:cubicBezTo>
                    <a:pt x="5320386" y="5874248"/>
                    <a:pt x="5288295" y="5935891"/>
                    <a:pt x="5248708" y="5935891"/>
                  </a:cubicBezTo>
                  <a:lnTo>
                    <a:pt x="71678" y="5935891"/>
                  </a:lnTo>
                  <a:cubicBezTo>
                    <a:pt x="32091" y="5935891"/>
                    <a:pt x="0" y="5874247"/>
                    <a:pt x="0" y="579820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5042440" y="3770938"/>
            <a:ext cx="3990289" cy="4451918"/>
            <a:chOff x="0" y="0"/>
            <a:chExt cx="5320386" cy="593589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320386" cy="5935891"/>
            </a:xfrm>
            <a:custGeom>
              <a:avLst/>
              <a:gdLst/>
              <a:ahLst/>
              <a:cxnLst/>
              <a:rect r="r" b="b" t="t" l="l"/>
              <a:pathLst>
                <a:path h="5935891" w="5320386">
                  <a:moveTo>
                    <a:pt x="0" y="137687"/>
                  </a:moveTo>
                  <a:cubicBezTo>
                    <a:pt x="0" y="61644"/>
                    <a:pt x="32091" y="0"/>
                    <a:pt x="71678" y="0"/>
                  </a:cubicBezTo>
                  <a:lnTo>
                    <a:pt x="5248708" y="0"/>
                  </a:lnTo>
                  <a:cubicBezTo>
                    <a:pt x="5288295" y="0"/>
                    <a:pt x="5320386" y="61644"/>
                    <a:pt x="5320386" y="137687"/>
                  </a:cubicBezTo>
                  <a:lnTo>
                    <a:pt x="5320386" y="5798204"/>
                  </a:lnTo>
                  <a:cubicBezTo>
                    <a:pt x="5320386" y="5874248"/>
                    <a:pt x="5288295" y="5935891"/>
                    <a:pt x="5248708" y="5935891"/>
                  </a:cubicBezTo>
                  <a:lnTo>
                    <a:pt x="71678" y="5935891"/>
                  </a:lnTo>
                  <a:cubicBezTo>
                    <a:pt x="32091" y="5935891"/>
                    <a:pt x="0" y="5874247"/>
                    <a:pt x="0" y="579820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9270854" y="3770938"/>
            <a:ext cx="3990289" cy="4451918"/>
            <a:chOff x="0" y="0"/>
            <a:chExt cx="5320386" cy="593589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320386" cy="5935891"/>
            </a:xfrm>
            <a:custGeom>
              <a:avLst/>
              <a:gdLst/>
              <a:ahLst/>
              <a:cxnLst/>
              <a:rect r="r" b="b" t="t" l="l"/>
              <a:pathLst>
                <a:path h="5935891" w="5320386">
                  <a:moveTo>
                    <a:pt x="0" y="137687"/>
                  </a:moveTo>
                  <a:cubicBezTo>
                    <a:pt x="0" y="61644"/>
                    <a:pt x="32091" y="0"/>
                    <a:pt x="71678" y="0"/>
                  </a:cubicBezTo>
                  <a:lnTo>
                    <a:pt x="5248708" y="0"/>
                  </a:lnTo>
                  <a:cubicBezTo>
                    <a:pt x="5288295" y="0"/>
                    <a:pt x="5320386" y="61644"/>
                    <a:pt x="5320386" y="137687"/>
                  </a:cubicBezTo>
                  <a:lnTo>
                    <a:pt x="5320386" y="5798204"/>
                  </a:lnTo>
                  <a:cubicBezTo>
                    <a:pt x="5320386" y="5874248"/>
                    <a:pt x="5288295" y="5935891"/>
                    <a:pt x="5248708" y="5935891"/>
                  </a:cubicBezTo>
                  <a:lnTo>
                    <a:pt x="71678" y="5935891"/>
                  </a:lnTo>
                  <a:cubicBezTo>
                    <a:pt x="32091" y="5935891"/>
                    <a:pt x="0" y="5874247"/>
                    <a:pt x="0" y="579820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3480218" y="3770938"/>
            <a:ext cx="3990289" cy="4451918"/>
            <a:chOff x="0" y="0"/>
            <a:chExt cx="5320386" cy="59358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320386" cy="5935891"/>
            </a:xfrm>
            <a:custGeom>
              <a:avLst/>
              <a:gdLst/>
              <a:ahLst/>
              <a:cxnLst/>
              <a:rect r="r" b="b" t="t" l="l"/>
              <a:pathLst>
                <a:path h="5935891" w="5320386">
                  <a:moveTo>
                    <a:pt x="0" y="137687"/>
                  </a:moveTo>
                  <a:cubicBezTo>
                    <a:pt x="0" y="61644"/>
                    <a:pt x="32091" y="0"/>
                    <a:pt x="71678" y="0"/>
                  </a:cubicBezTo>
                  <a:lnTo>
                    <a:pt x="5248708" y="0"/>
                  </a:lnTo>
                  <a:cubicBezTo>
                    <a:pt x="5288295" y="0"/>
                    <a:pt x="5320386" y="61644"/>
                    <a:pt x="5320386" y="137687"/>
                  </a:cubicBezTo>
                  <a:lnTo>
                    <a:pt x="5320386" y="5798204"/>
                  </a:lnTo>
                  <a:cubicBezTo>
                    <a:pt x="5320386" y="5874248"/>
                    <a:pt x="5288295" y="5935891"/>
                    <a:pt x="5248708" y="5935891"/>
                  </a:cubicBezTo>
                  <a:lnTo>
                    <a:pt x="71678" y="5935891"/>
                  </a:lnTo>
                  <a:cubicBezTo>
                    <a:pt x="32091" y="5935891"/>
                    <a:pt x="0" y="5874247"/>
                    <a:pt x="0" y="579820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823608" y="3774853"/>
            <a:ext cx="109814" cy="4461186"/>
            <a:chOff x="0" y="0"/>
            <a:chExt cx="146418" cy="594824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6431" cy="5948172"/>
            </a:xfrm>
            <a:custGeom>
              <a:avLst/>
              <a:gdLst/>
              <a:ahLst/>
              <a:cxnLst/>
              <a:rect r="r" b="b" t="t" l="l"/>
              <a:pathLst>
                <a:path h="5948172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5923788"/>
                  </a:lnTo>
                  <a:cubicBezTo>
                    <a:pt x="146431" y="5937250"/>
                    <a:pt x="135509" y="5948172"/>
                    <a:pt x="122047" y="5948172"/>
                  </a:cubicBezTo>
                  <a:lnTo>
                    <a:pt x="24384" y="5948172"/>
                  </a:lnTo>
                  <a:cubicBezTo>
                    <a:pt x="10922" y="5948172"/>
                    <a:pt x="0" y="5937250"/>
                    <a:pt x="0" y="5923788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098137" y="4024170"/>
            <a:ext cx="3500314" cy="3408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7"/>
              </a:lnSpc>
            </a:pPr>
            <a:r>
              <a:rPr lang="en-US" sz="1876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Executive Capabilities</a:t>
            </a:r>
          </a:p>
          <a:p>
            <a:pPr algn="l">
              <a:lnSpc>
                <a:spcPts val="2942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- Consolidates high-level revenue and order flow.</a:t>
            </a:r>
          </a:p>
          <a:p>
            <a:pPr algn="l">
              <a:lnSpc>
                <a:spcPts val="2942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- Monitors fulfillment pipeline (93.75% delivered, 4.69% shipped).</a:t>
            </a:r>
          </a:p>
          <a:p>
            <a:pPr algn="l">
              <a:lnSpc>
                <a:spcPts val="2942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- Tracks geographic order volume across customer states.</a:t>
            </a:r>
          </a:p>
          <a:p>
            <a:pPr algn="l">
              <a:lnSpc>
                <a:spcPts val="2942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- Surfaces top-performing categories (Telephony, Computers).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5037706" y="2470814"/>
            <a:ext cx="3980755" cy="1166774"/>
            <a:chOff x="0" y="0"/>
            <a:chExt cx="5307673" cy="155569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07711" cy="1555750"/>
            </a:xfrm>
            <a:custGeom>
              <a:avLst/>
              <a:gdLst/>
              <a:ahLst/>
              <a:cxnLst/>
              <a:rect r="r" b="b" t="t" l="l"/>
              <a:pathLst>
                <a:path h="1555750" w="5307711">
                  <a:moveTo>
                    <a:pt x="0" y="259334"/>
                  </a:moveTo>
                  <a:cubicBezTo>
                    <a:pt x="0" y="116078"/>
                    <a:pt x="116078" y="0"/>
                    <a:pt x="259334" y="0"/>
                  </a:cubicBezTo>
                  <a:lnTo>
                    <a:pt x="5048377" y="0"/>
                  </a:lnTo>
                  <a:cubicBezTo>
                    <a:pt x="5191633" y="0"/>
                    <a:pt x="5307711" y="116078"/>
                    <a:pt x="5307711" y="259334"/>
                  </a:cubicBezTo>
                  <a:lnTo>
                    <a:pt x="5307711" y="1296416"/>
                  </a:lnTo>
                  <a:cubicBezTo>
                    <a:pt x="5307711" y="1439672"/>
                    <a:pt x="5191633" y="1555750"/>
                    <a:pt x="5048377" y="1555750"/>
                  </a:cubicBezTo>
                  <a:lnTo>
                    <a:pt x="259334" y="1555750"/>
                  </a:lnTo>
                  <a:cubicBezTo>
                    <a:pt x="116078" y="1555750"/>
                    <a:pt x="0" y="1439545"/>
                    <a:pt x="0" y="1296416"/>
                  </a:cubicBezTo>
                  <a:close/>
                </a:path>
              </a:pathLst>
            </a:custGeom>
            <a:solidFill>
              <a:srgbClr val="16A34A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5174971" y="2643284"/>
            <a:ext cx="3706216" cy="731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0"/>
              </a:lnSpc>
            </a:pPr>
            <a:r>
              <a:rPr lang="en-US" sz="1801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Delivery Efficiency</a:t>
            </a:r>
          </a:p>
          <a:p>
            <a:pPr algn="l">
              <a:lnSpc>
                <a:spcPts val="2652"/>
              </a:lnSpc>
            </a:pPr>
            <a:r>
              <a:rPr lang="en-US" sz="1426">
                <a:solidFill>
                  <a:srgbClr val="F0FDFA"/>
                </a:solidFill>
                <a:latin typeface="Aptos"/>
                <a:ea typeface="Aptos"/>
                <a:cs typeface="Aptos"/>
                <a:sym typeface="Aptos"/>
              </a:rPr>
              <a:t>SERVICE SPEED &amp; SEASONALITY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5037706" y="3774853"/>
            <a:ext cx="109814" cy="4461186"/>
            <a:chOff x="0" y="0"/>
            <a:chExt cx="146418" cy="594824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6431" cy="5948172"/>
            </a:xfrm>
            <a:custGeom>
              <a:avLst/>
              <a:gdLst/>
              <a:ahLst/>
              <a:cxnLst/>
              <a:rect r="r" b="b" t="t" l="l"/>
              <a:pathLst>
                <a:path h="5948172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5923788"/>
                  </a:lnTo>
                  <a:cubicBezTo>
                    <a:pt x="146431" y="5937250"/>
                    <a:pt x="135509" y="5948172"/>
                    <a:pt x="122047" y="5948172"/>
                  </a:cubicBezTo>
                  <a:lnTo>
                    <a:pt x="24384" y="5948172"/>
                  </a:lnTo>
                  <a:cubicBezTo>
                    <a:pt x="10922" y="5948172"/>
                    <a:pt x="0" y="5937250"/>
                    <a:pt x="0" y="5923788"/>
                  </a:cubicBezTo>
                  <a:close/>
                </a:path>
              </a:pathLst>
            </a:custGeom>
            <a:solidFill>
              <a:srgbClr val="16A34A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5312245" y="4024170"/>
            <a:ext cx="3500314" cy="3408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7"/>
              </a:lnSpc>
            </a:pPr>
            <a:r>
              <a:rPr lang="en-US" sz="1876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Executive Capabilities</a:t>
            </a:r>
          </a:p>
          <a:p>
            <a:pPr algn="l">
              <a:lnSpc>
                <a:spcPts val="2942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- Evaluates shipment lead times (11.49 days average).</a:t>
            </a:r>
          </a:p>
          <a:p>
            <a:pPr algn="l">
              <a:lnSpc>
                <a:spcPts val="2942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- Identifies monthly seasonality dips (March 86.3%, Nov 89.6%).</a:t>
            </a:r>
          </a:p>
          <a:p>
            <a:pPr algn="l">
              <a:lnSpc>
                <a:spcPts val="2942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- Quantifies delivery lead time impact on customer rating.</a:t>
            </a:r>
          </a:p>
          <a:p>
            <a:pPr algn="l">
              <a:lnSpc>
                <a:spcPts val="2942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- Enables interactive slicing by payment type and order status.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251813" y="2470814"/>
            <a:ext cx="3980755" cy="1166774"/>
            <a:chOff x="0" y="0"/>
            <a:chExt cx="5307673" cy="155569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307711" cy="1555750"/>
            </a:xfrm>
            <a:custGeom>
              <a:avLst/>
              <a:gdLst/>
              <a:ahLst/>
              <a:cxnLst/>
              <a:rect r="r" b="b" t="t" l="l"/>
              <a:pathLst>
                <a:path h="1555750" w="5307711">
                  <a:moveTo>
                    <a:pt x="0" y="259334"/>
                  </a:moveTo>
                  <a:cubicBezTo>
                    <a:pt x="0" y="116078"/>
                    <a:pt x="116078" y="0"/>
                    <a:pt x="259334" y="0"/>
                  </a:cubicBezTo>
                  <a:lnTo>
                    <a:pt x="5048377" y="0"/>
                  </a:lnTo>
                  <a:cubicBezTo>
                    <a:pt x="5191633" y="0"/>
                    <a:pt x="5307711" y="116078"/>
                    <a:pt x="5307711" y="259334"/>
                  </a:cubicBezTo>
                  <a:lnTo>
                    <a:pt x="5307711" y="1296416"/>
                  </a:lnTo>
                  <a:cubicBezTo>
                    <a:pt x="5307711" y="1439672"/>
                    <a:pt x="5191633" y="1555750"/>
                    <a:pt x="5048377" y="1555750"/>
                  </a:cubicBezTo>
                  <a:lnTo>
                    <a:pt x="259334" y="1555750"/>
                  </a:lnTo>
                  <a:cubicBezTo>
                    <a:pt x="116078" y="1555750"/>
                    <a:pt x="0" y="1439545"/>
                    <a:pt x="0" y="1296416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389078" y="2643284"/>
            <a:ext cx="3706216" cy="731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0"/>
              </a:lnSpc>
            </a:pPr>
            <a:r>
              <a:rPr lang="en-US" sz="1801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Transportation Cost</a:t>
            </a:r>
          </a:p>
          <a:p>
            <a:pPr algn="l">
              <a:lnSpc>
                <a:spcPts val="2652"/>
              </a:lnSpc>
            </a:pPr>
            <a:r>
              <a:rPr lang="en-US" sz="1426">
                <a:solidFill>
                  <a:srgbClr val="F0FDFA"/>
                </a:solidFill>
                <a:latin typeface="Aptos"/>
                <a:ea typeface="Aptos"/>
                <a:cs typeface="Aptos"/>
                <a:sym typeface="Aptos"/>
              </a:rPr>
              <a:t>FREIGHT &amp; MARGIN OPTIMIZATION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251813" y="3774853"/>
            <a:ext cx="109814" cy="4461186"/>
            <a:chOff x="0" y="0"/>
            <a:chExt cx="146418" cy="594824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46431" cy="5948172"/>
            </a:xfrm>
            <a:custGeom>
              <a:avLst/>
              <a:gdLst/>
              <a:ahLst/>
              <a:cxnLst/>
              <a:rect r="r" b="b" t="t" l="l"/>
              <a:pathLst>
                <a:path h="5948172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5923788"/>
                  </a:lnTo>
                  <a:cubicBezTo>
                    <a:pt x="146431" y="5937250"/>
                    <a:pt x="135509" y="5948172"/>
                    <a:pt x="122047" y="5948172"/>
                  </a:cubicBezTo>
                  <a:lnTo>
                    <a:pt x="24384" y="5948172"/>
                  </a:lnTo>
                  <a:cubicBezTo>
                    <a:pt x="10922" y="5948172"/>
                    <a:pt x="0" y="5937250"/>
                    <a:pt x="0" y="5923788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9526343" y="4024170"/>
            <a:ext cx="3500314" cy="3408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7"/>
              </a:lnSpc>
            </a:pPr>
            <a:r>
              <a:rPr lang="en-US" sz="1876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Executive Capabilities</a:t>
            </a:r>
          </a:p>
          <a:p>
            <a:pPr algn="l">
              <a:lnSpc>
                <a:spcPts val="2942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- Analyzes R$ 969.23K freight expenditure distribution.</a:t>
            </a:r>
          </a:p>
          <a:p>
            <a:pPr algn="l">
              <a:lnSpc>
                <a:spcPts val="2942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- Diagnoses origin seller state dominance (SP &gt; R$ 0.6M).</a:t>
            </a:r>
          </a:p>
          <a:p>
            <a:pPr algn="l">
              <a:lnSpc>
                <a:spcPts val="2942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- Discovers price vs. freight imbalances across catalog items.</a:t>
            </a:r>
          </a:p>
          <a:p>
            <a:pPr algn="l">
              <a:lnSpc>
                <a:spcPts val="2942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- Pinpoints categories generating disproportionate shipping drain.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3465912" y="2470814"/>
            <a:ext cx="3980755" cy="1166774"/>
            <a:chOff x="0" y="0"/>
            <a:chExt cx="5307673" cy="155569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307711" cy="1555750"/>
            </a:xfrm>
            <a:custGeom>
              <a:avLst/>
              <a:gdLst/>
              <a:ahLst/>
              <a:cxnLst/>
              <a:rect r="r" b="b" t="t" l="l"/>
              <a:pathLst>
                <a:path h="1555750" w="5307711">
                  <a:moveTo>
                    <a:pt x="0" y="259334"/>
                  </a:moveTo>
                  <a:cubicBezTo>
                    <a:pt x="0" y="116078"/>
                    <a:pt x="116078" y="0"/>
                    <a:pt x="259334" y="0"/>
                  </a:cubicBezTo>
                  <a:lnTo>
                    <a:pt x="5048377" y="0"/>
                  </a:lnTo>
                  <a:cubicBezTo>
                    <a:pt x="5191633" y="0"/>
                    <a:pt x="5307711" y="116078"/>
                    <a:pt x="5307711" y="259334"/>
                  </a:cubicBezTo>
                  <a:lnTo>
                    <a:pt x="5307711" y="1296416"/>
                  </a:lnTo>
                  <a:cubicBezTo>
                    <a:pt x="5307711" y="1439672"/>
                    <a:pt x="5191633" y="1555750"/>
                    <a:pt x="5048377" y="1555750"/>
                  </a:cubicBezTo>
                  <a:lnTo>
                    <a:pt x="259334" y="1555750"/>
                  </a:lnTo>
                  <a:cubicBezTo>
                    <a:pt x="116078" y="1555750"/>
                    <a:pt x="0" y="1439545"/>
                    <a:pt x="0" y="1296416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3603186" y="2643284"/>
            <a:ext cx="3706216" cy="731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0"/>
              </a:lnSpc>
            </a:pPr>
            <a:r>
              <a:rPr lang="en-US" sz="1801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Customer Experience</a:t>
            </a:r>
          </a:p>
          <a:p>
            <a:pPr algn="l">
              <a:lnSpc>
                <a:spcPts val="2652"/>
              </a:lnSpc>
            </a:pPr>
            <a:r>
              <a:rPr lang="en-US" sz="1426">
                <a:solidFill>
                  <a:srgbClr val="F0FDFA"/>
                </a:solidFill>
                <a:latin typeface="Aptos"/>
                <a:ea typeface="Aptos"/>
                <a:cs typeface="Aptos"/>
                <a:sym typeface="Aptos"/>
              </a:rPr>
              <a:t>SENTIMENT &amp; RETENTION GOVERNANCE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3465912" y="3774853"/>
            <a:ext cx="109814" cy="4461186"/>
            <a:chOff x="0" y="0"/>
            <a:chExt cx="146418" cy="594824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46431" cy="5948172"/>
            </a:xfrm>
            <a:custGeom>
              <a:avLst/>
              <a:gdLst/>
              <a:ahLst/>
              <a:cxnLst/>
              <a:rect r="r" b="b" t="t" l="l"/>
              <a:pathLst>
                <a:path h="5948172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5923788"/>
                  </a:lnTo>
                  <a:cubicBezTo>
                    <a:pt x="146431" y="5937250"/>
                    <a:pt x="135509" y="5948172"/>
                    <a:pt x="122047" y="5948172"/>
                  </a:cubicBezTo>
                  <a:lnTo>
                    <a:pt x="24384" y="5948172"/>
                  </a:lnTo>
                  <a:cubicBezTo>
                    <a:pt x="10922" y="5948172"/>
                    <a:pt x="0" y="5937250"/>
                    <a:pt x="0" y="5923788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3740451" y="4024170"/>
            <a:ext cx="3500314" cy="3408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7"/>
              </a:lnSpc>
            </a:pPr>
            <a:r>
              <a:rPr lang="en-US" sz="1876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Executive Capabilities</a:t>
            </a:r>
          </a:p>
          <a:p>
            <a:pPr algn="l">
              <a:lnSpc>
                <a:spcPts val="2942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- Tracks 55K customer reviews with 4.07 / 5.0 rating average.</a:t>
            </a:r>
          </a:p>
          <a:p>
            <a:pPr algn="l">
              <a:lnSpc>
                <a:spcPts val="2942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- Analyzes rating mix (57.97% 5-star vs. 12.1% 1-star).</a:t>
            </a:r>
          </a:p>
          <a:p>
            <a:pPr algn="l">
              <a:lnSpc>
                <a:spcPts val="2942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- Maps direct correlation between delivery delays and bad reviews.</a:t>
            </a:r>
          </a:p>
          <a:p>
            <a:pPr algn="l">
              <a:lnSpc>
                <a:spcPts val="2942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- Provides category-specific customer sentiment indicators.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814073" y="8432406"/>
            <a:ext cx="16628402" cy="1048569"/>
            <a:chOff x="0" y="0"/>
            <a:chExt cx="22171203" cy="139809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2171279" cy="1398143"/>
            </a:xfrm>
            <a:custGeom>
              <a:avLst/>
              <a:gdLst/>
              <a:ahLst/>
              <a:cxnLst/>
              <a:rect r="r" b="b" t="t" l="l"/>
              <a:pathLst>
                <a:path h="1398143" w="22171279">
                  <a:moveTo>
                    <a:pt x="0" y="233045"/>
                  </a:moveTo>
                  <a:cubicBezTo>
                    <a:pt x="0" y="104267"/>
                    <a:pt x="104267" y="0"/>
                    <a:pt x="233045" y="0"/>
                  </a:cubicBezTo>
                  <a:lnTo>
                    <a:pt x="21938235" y="0"/>
                  </a:lnTo>
                  <a:cubicBezTo>
                    <a:pt x="22066886" y="0"/>
                    <a:pt x="22171279" y="104267"/>
                    <a:pt x="22171279" y="233045"/>
                  </a:cubicBezTo>
                  <a:lnTo>
                    <a:pt x="22171279" y="1165098"/>
                  </a:lnTo>
                  <a:cubicBezTo>
                    <a:pt x="22171279" y="1293749"/>
                    <a:pt x="22067013" y="1398143"/>
                    <a:pt x="21938235" y="1398143"/>
                  </a:cubicBezTo>
                  <a:lnTo>
                    <a:pt x="233045" y="1398143"/>
                  </a:lnTo>
                  <a:cubicBezTo>
                    <a:pt x="104267" y="1398143"/>
                    <a:pt x="0" y="1293749"/>
                    <a:pt x="0" y="1165098"/>
                  </a:cubicBezTo>
                  <a:close/>
                </a:path>
              </a:pathLst>
            </a:custGeom>
            <a:solidFill>
              <a:srgbClr val="F0FDFA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823608" y="8441931"/>
            <a:ext cx="109814" cy="1029500"/>
            <a:chOff x="0" y="0"/>
            <a:chExt cx="146418" cy="1372667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46431" cy="1372616"/>
            </a:xfrm>
            <a:custGeom>
              <a:avLst/>
              <a:gdLst/>
              <a:ahLst/>
              <a:cxnLst/>
              <a:rect r="r" b="b" t="t" l="l"/>
              <a:pathLst>
                <a:path h="1372616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348232"/>
                  </a:lnTo>
                  <a:cubicBezTo>
                    <a:pt x="146431" y="1361694"/>
                    <a:pt x="135509" y="1372616"/>
                    <a:pt x="122047" y="1372616"/>
                  </a:cubicBezTo>
                  <a:lnTo>
                    <a:pt x="24384" y="1372616"/>
                  </a:lnTo>
                  <a:cubicBezTo>
                    <a:pt x="10922" y="1372616"/>
                    <a:pt x="0" y="1361694"/>
                    <a:pt x="0" y="1348232"/>
                  </a:cubicBezTo>
                  <a:close/>
                </a:path>
              </a:pathLst>
            </a:custGeom>
            <a:solidFill>
              <a:srgbClr val="0F766E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1098137" y="8634108"/>
            <a:ext cx="16128902" cy="645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The Milestone 4 Mandate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Milestone 4 elevates data analytics into an active management dashboard suite, empowering supply chain leaders to balance customer satisfaction against freight spending and carrier turnaround times.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823608" y="9677343"/>
            <a:ext cx="16654634" cy="20593"/>
            <a:chOff x="0" y="0"/>
            <a:chExt cx="22206179" cy="2745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2206204" cy="27432"/>
            </a:xfrm>
            <a:custGeom>
              <a:avLst/>
              <a:gdLst/>
              <a:ahLst/>
              <a:cxnLst/>
              <a:rect r="r" b="b" t="t" l="l"/>
              <a:pathLst>
                <a:path h="27432" w="22206204">
                  <a:moveTo>
                    <a:pt x="0" y="0"/>
                  </a:moveTo>
                  <a:lnTo>
                    <a:pt x="22206204" y="0"/>
                  </a:lnTo>
                  <a:lnTo>
                    <a:pt x="22206204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D8E3F0"/>
            </a:solid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823608" y="9773431"/>
            <a:ext cx="5490686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Slide 15 of 20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987546" y="9773431"/>
            <a:ext cx="5490686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11"/>
              </a:lnSpc>
            </a:pPr>
            <a:r>
              <a:rPr lang="en-US" sz="1426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Final Project Presentation | M1-M4 Complete Journey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9814"/>
            <a:chOff x="0" y="0"/>
            <a:chExt cx="24402453" cy="146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46431"/>
            </a:xfrm>
            <a:custGeom>
              <a:avLst/>
              <a:gdLst/>
              <a:ahLst/>
              <a:cxnLst/>
              <a:rect r="r" b="b" t="t" l="l"/>
              <a:pathLst>
                <a:path h="14643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00B09B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23608" y="301990"/>
            <a:ext cx="10981382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0F766E"/>
                </a:solidFill>
                <a:latin typeface="Aptos Bold"/>
                <a:ea typeface="Aptos Bold"/>
                <a:cs typeface="Aptos Bold"/>
                <a:sym typeface="Aptos Bold"/>
              </a:rPr>
              <a:t>SUPPLY CHAIN VISIBILITY &amp; OPTIMISATION  -  MILESTONE 4 - TEAM 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23608" y="754971"/>
            <a:ext cx="10981382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0F766E"/>
                </a:solidFill>
                <a:latin typeface="Aptos Bold"/>
                <a:ea typeface="Aptos Bold"/>
                <a:cs typeface="Aptos Bold"/>
                <a:sym typeface="Aptos Bold"/>
              </a:rPr>
              <a:t>MILESTONE 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23608" y="1325613"/>
            <a:ext cx="1647206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Executive Overview Dashboard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3608" y="1948358"/>
            <a:ext cx="1647206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Strategic leadership overview monitoring order volume, fulfillment status mix, and state distribution.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23608" y="2480348"/>
            <a:ext cx="8785108" cy="5216157"/>
            <a:chOff x="0" y="0"/>
            <a:chExt cx="11713477" cy="6954876"/>
          </a:xfrm>
        </p:grpSpPr>
        <p:sp>
          <p:nvSpPr>
            <p:cNvPr name="Freeform 9" id="9" descr="m4_page_1.png"/>
            <p:cNvSpPr/>
            <p:nvPr/>
          </p:nvSpPr>
          <p:spPr>
            <a:xfrm flipH="false" flipV="false" rot="0">
              <a:off x="0" y="0"/>
              <a:ext cx="11713464" cy="6954901"/>
            </a:xfrm>
            <a:custGeom>
              <a:avLst/>
              <a:gdLst/>
              <a:ahLst/>
              <a:cxnLst/>
              <a:rect r="r" b="b" t="t" l="l"/>
              <a:pathLst>
                <a:path h="6954901" w="11713464">
                  <a:moveTo>
                    <a:pt x="0" y="0"/>
                  </a:moveTo>
                  <a:lnTo>
                    <a:pt x="11713464" y="0"/>
                  </a:lnTo>
                  <a:lnTo>
                    <a:pt x="11713464" y="6954901"/>
                  </a:lnTo>
                  <a:lnTo>
                    <a:pt x="0" y="6954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334" t="0" r="-1334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873710" y="2461279"/>
            <a:ext cx="3725285" cy="1323108"/>
            <a:chOff x="0" y="0"/>
            <a:chExt cx="4967046" cy="17641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966970" cy="1764030"/>
            </a:xfrm>
            <a:custGeom>
              <a:avLst/>
              <a:gdLst/>
              <a:ahLst/>
              <a:cxnLst/>
              <a:rect r="r" b="b" t="t" l="l"/>
              <a:pathLst>
                <a:path h="1764030" w="4966970">
                  <a:moveTo>
                    <a:pt x="0" y="294005"/>
                  </a:moveTo>
                  <a:cubicBezTo>
                    <a:pt x="0" y="131699"/>
                    <a:pt x="131699" y="0"/>
                    <a:pt x="294005" y="0"/>
                  </a:cubicBezTo>
                  <a:lnTo>
                    <a:pt x="4672965" y="0"/>
                  </a:lnTo>
                  <a:cubicBezTo>
                    <a:pt x="4835398" y="0"/>
                    <a:pt x="4966970" y="131699"/>
                    <a:pt x="4966970" y="294005"/>
                  </a:cubicBezTo>
                  <a:lnTo>
                    <a:pt x="4966970" y="1470025"/>
                  </a:lnTo>
                  <a:cubicBezTo>
                    <a:pt x="4966970" y="1632458"/>
                    <a:pt x="4835271" y="1764030"/>
                    <a:pt x="4672965" y="1764030"/>
                  </a:cubicBezTo>
                  <a:lnTo>
                    <a:pt x="294005" y="1764030"/>
                  </a:lnTo>
                  <a:cubicBezTo>
                    <a:pt x="131699" y="1764157"/>
                    <a:pt x="0" y="1632458"/>
                    <a:pt x="0" y="147015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883245" y="2470814"/>
            <a:ext cx="109814" cy="1304039"/>
            <a:chOff x="0" y="0"/>
            <a:chExt cx="146418" cy="173871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431" cy="1738757"/>
            </a:xfrm>
            <a:custGeom>
              <a:avLst/>
              <a:gdLst/>
              <a:ahLst/>
              <a:cxnLst/>
              <a:rect r="r" b="b" t="t" l="l"/>
              <a:pathLst>
                <a:path h="1738757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714373"/>
                  </a:lnTo>
                  <a:cubicBezTo>
                    <a:pt x="146431" y="1727835"/>
                    <a:pt x="135509" y="1738757"/>
                    <a:pt x="122047" y="1738757"/>
                  </a:cubicBezTo>
                  <a:lnTo>
                    <a:pt x="24384" y="1738757"/>
                  </a:lnTo>
                  <a:cubicBezTo>
                    <a:pt x="10922" y="1738757"/>
                    <a:pt x="0" y="1727835"/>
                    <a:pt x="0" y="1714373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102872" y="2603259"/>
            <a:ext cx="3376774" cy="1001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2"/>
              </a:lnSpc>
            </a:pPr>
            <a:r>
              <a:rPr lang="en-US" sz="3152" b="true">
                <a:solidFill>
                  <a:srgbClr val="2563EB"/>
                </a:solidFill>
                <a:latin typeface="Aptos Bold"/>
                <a:ea typeface="Aptos Bold"/>
                <a:cs typeface="Aptos Bold"/>
                <a:sym typeface="Aptos Bold"/>
              </a:rPr>
              <a:t>R$ 37.59K</a:t>
            </a:r>
          </a:p>
          <a:p>
            <a:pPr algn="l">
              <a:lnSpc>
                <a:spcPts val="2096"/>
              </a:lnSpc>
            </a:pPr>
            <a:r>
              <a:rPr lang="en-US" sz="1576" b="true">
                <a:solidFill>
                  <a:srgbClr val="2563EB"/>
                </a:solidFill>
                <a:latin typeface="Aptos Bold"/>
                <a:ea typeface="Aptos Bold"/>
                <a:cs typeface="Aptos Bold"/>
                <a:sym typeface="Aptos Bold"/>
              </a:rPr>
              <a:t>State Order Value</a:t>
            </a:r>
          </a:p>
          <a:p>
            <a:pPr algn="l">
              <a:lnSpc>
                <a:spcPts val="1796"/>
              </a:lnSpc>
            </a:pPr>
            <a:r>
              <a:rPr lang="en-US" sz="1351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Filtered state view (e.g. MA)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3854455" y="2461279"/>
            <a:ext cx="3588010" cy="1323108"/>
            <a:chOff x="0" y="0"/>
            <a:chExt cx="4784014" cy="176414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783963" cy="1764030"/>
            </a:xfrm>
            <a:custGeom>
              <a:avLst/>
              <a:gdLst/>
              <a:ahLst/>
              <a:cxnLst/>
              <a:rect r="r" b="b" t="t" l="l"/>
              <a:pathLst>
                <a:path h="1764030" w="4783963">
                  <a:moveTo>
                    <a:pt x="0" y="294005"/>
                  </a:moveTo>
                  <a:cubicBezTo>
                    <a:pt x="0" y="131699"/>
                    <a:pt x="131699" y="0"/>
                    <a:pt x="294005" y="0"/>
                  </a:cubicBezTo>
                  <a:lnTo>
                    <a:pt x="4489958" y="0"/>
                  </a:lnTo>
                  <a:cubicBezTo>
                    <a:pt x="4652391" y="0"/>
                    <a:pt x="4783963" y="131699"/>
                    <a:pt x="4783963" y="294005"/>
                  </a:cubicBezTo>
                  <a:lnTo>
                    <a:pt x="4783963" y="1470025"/>
                  </a:lnTo>
                  <a:cubicBezTo>
                    <a:pt x="4783963" y="1632458"/>
                    <a:pt x="4652264" y="1764030"/>
                    <a:pt x="4489958" y="1764030"/>
                  </a:cubicBezTo>
                  <a:lnTo>
                    <a:pt x="294005" y="1764030"/>
                  </a:lnTo>
                  <a:cubicBezTo>
                    <a:pt x="131699" y="1764157"/>
                    <a:pt x="0" y="1632458"/>
                    <a:pt x="0" y="147015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3863990" y="2470814"/>
            <a:ext cx="109814" cy="1304039"/>
            <a:chOff x="0" y="0"/>
            <a:chExt cx="146418" cy="173871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6431" cy="1738757"/>
            </a:xfrm>
            <a:custGeom>
              <a:avLst/>
              <a:gdLst/>
              <a:ahLst/>
              <a:cxnLst/>
              <a:rect r="r" b="b" t="t" l="l"/>
              <a:pathLst>
                <a:path h="1738757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714373"/>
                  </a:lnTo>
                  <a:cubicBezTo>
                    <a:pt x="146431" y="1727835"/>
                    <a:pt x="135509" y="1738757"/>
                    <a:pt x="122047" y="1738757"/>
                  </a:cubicBezTo>
                  <a:lnTo>
                    <a:pt x="24384" y="1738757"/>
                  </a:lnTo>
                  <a:cubicBezTo>
                    <a:pt x="10922" y="1738757"/>
                    <a:pt x="0" y="1727835"/>
                    <a:pt x="0" y="1714373"/>
                  </a:cubicBezTo>
                  <a:close/>
                </a:path>
              </a:pathLst>
            </a:custGeom>
            <a:solidFill>
              <a:srgbClr val="00B09B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4083617" y="2603259"/>
            <a:ext cx="3239510" cy="1001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2"/>
              </a:lnSpc>
            </a:pPr>
            <a:r>
              <a:rPr lang="en-US" sz="3152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223</a:t>
            </a:r>
          </a:p>
          <a:p>
            <a:pPr algn="l">
              <a:lnSpc>
                <a:spcPts val="2096"/>
              </a:lnSpc>
            </a:pPr>
            <a:r>
              <a:rPr lang="en-US" sz="1576" b="true">
                <a:solidFill>
                  <a:srgbClr val="1F2937"/>
                </a:solidFill>
                <a:latin typeface="Aptos Bold"/>
                <a:ea typeface="Aptos Bold"/>
                <a:cs typeface="Aptos Bold"/>
                <a:sym typeface="Aptos Bold"/>
              </a:rPr>
              <a:t>State Orders</a:t>
            </a:r>
          </a:p>
          <a:p>
            <a:pPr algn="l">
              <a:lnSpc>
                <a:spcPts val="1796"/>
              </a:lnSpc>
            </a:pPr>
            <a:r>
              <a:rPr lang="en-US" sz="1351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Customer state volume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873710" y="3971220"/>
            <a:ext cx="3725285" cy="1323108"/>
            <a:chOff x="0" y="0"/>
            <a:chExt cx="4967046" cy="17641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966970" cy="1764030"/>
            </a:xfrm>
            <a:custGeom>
              <a:avLst/>
              <a:gdLst/>
              <a:ahLst/>
              <a:cxnLst/>
              <a:rect r="r" b="b" t="t" l="l"/>
              <a:pathLst>
                <a:path h="1764030" w="4966970">
                  <a:moveTo>
                    <a:pt x="0" y="294005"/>
                  </a:moveTo>
                  <a:cubicBezTo>
                    <a:pt x="0" y="131699"/>
                    <a:pt x="131699" y="0"/>
                    <a:pt x="294005" y="0"/>
                  </a:cubicBezTo>
                  <a:lnTo>
                    <a:pt x="4672965" y="0"/>
                  </a:lnTo>
                  <a:cubicBezTo>
                    <a:pt x="4835398" y="0"/>
                    <a:pt x="4966970" y="131699"/>
                    <a:pt x="4966970" y="294005"/>
                  </a:cubicBezTo>
                  <a:lnTo>
                    <a:pt x="4966970" y="1470025"/>
                  </a:lnTo>
                  <a:cubicBezTo>
                    <a:pt x="4966970" y="1632458"/>
                    <a:pt x="4835271" y="1764030"/>
                    <a:pt x="4672965" y="1764030"/>
                  </a:cubicBezTo>
                  <a:lnTo>
                    <a:pt x="294005" y="1764030"/>
                  </a:lnTo>
                  <a:cubicBezTo>
                    <a:pt x="131699" y="1764157"/>
                    <a:pt x="0" y="1632458"/>
                    <a:pt x="0" y="147015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883245" y="3980755"/>
            <a:ext cx="109814" cy="1304039"/>
            <a:chOff x="0" y="0"/>
            <a:chExt cx="146418" cy="173871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6431" cy="1738757"/>
            </a:xfrm>
            <a:custGeom>
              <a:avLst/>
              <a:gdLst/>
              <a:ahLst/>
              <a:cxnLst/>
              <a:rect r="r" b="b" t="t" l="l"/>
              <a:pathLst>
                <a:path h="1738757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714373"/>
                  </a:lnTo>
                  <a:cubicBezTo>
                    <a:pt x="146431" y="1727835"/>
                    <a:pt x="135509" y="1738757"/>
                    <a:pt x="122047" y="1738757"/>
                  </a:cubicBezTo>
                  <a:lnTo>
                    <a:pt x="24384" y="1738757"/>
                  </a:lnTo>
                  <a:cubicBezTo>
                    <a:pt x="10922" y="1738757"/>
                    <a:pt x="0" y="1727835"/>
                    <a:pt x="0" y="1714373"/>
                  </a:cubicBezTo>
                  <a:close/>
                </a:path>
              </a:pathLst>
            </a:custGeom>
            <a:solidFill>
              <a:srgbClr val="16A34A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0102872" y="4113200"/>
            <a:ext cx="3376774" cy="1001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2"/>
              </a:lnSpc>
            </a:pPr>
            <a:r>
              <a:rPr lang="en-US" sz="3152" b="true">
                <a:solidFill>
                  <a:srgbClr val="16A34A"/>
                </a:solidFill>
                <a:latin typeface="Aptos Bold"/>
                <a:ea typeface="Aptos Bold"/>
                <a:cs typeface="Aptos Bold"/>
                <a:sym typeface="Aptos Bold"/>
              </a:rPr>
              <a:t>93.75%</a:t>
            </a:r>
          </a:p>
          <a:p>
            <a:pPr algn="l">
              <a:lnSpc>
                <a:spcPts val="2096"/>
              </a:lnSpc>
            </a:pPr>
            <a:r>
              <a:rPr lang="en-US" sz="1576" b="true">
                <a:solidFill>
                  <a:srgbClr val="16A34A"/>
                </a:solidFill>
                <a:latin typeface="Aptos Bold"/>
                <a:ea typeface="Aptos Bold"/>
                <a:cs typeface="Aptos Bold"/>
                <a:sym typeface="Aptos Bold"/>
              </a:rPr>
              <a:t>Delivered Status</a:t>
            </a:r>
          </a:p>
          <a:p>
            <a:pPr algn="l">
              <a:lnSpc>
                <a:spcPts val="1796"/>
              </a:lnSpc>
            </a:pPr>
            <a:r>
              <a:rPr lang="en-US" sz="1351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240 items completed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3854455" y="3971220"/>
            <a:ext cx="3588010" cy="1323108"/>
            <a:chOff x="0" y="0"/>
            <a:chExt cx="4784014" cy="176414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783963" cy="1764030"/>
            </a:xfrm>
            <a:custGeom>
              <a:avLst/>
              <a:gdLst/>
              <a:ahLst/>
              <a:cxnLst/>
              <a:rect r="r" b="b" t="t" l="l"/>
              <a:pathLst>
                <a:path h="1764030" w="4783963">
                  <a:moveTo>
                    <a:pt x="0" y="294005"/>
                  </a:moveTo>
                  <a:cubicBezTo>
                    <a:pt x="0" y="131699"/>
                    <a:pt x="131699" y="0"/>
                    <a:pt x="294005" y="0"/>
                  </a:cubicBezTo>
                  <a:lnTo>
                    <a:pt x="4489958" y="0"/>
                  </a:lnTo>
                  <a:cubicBezTo>
                    <a:pt x="4652391" y="0"/>
                    <a:pt x="4783963" y="131699"/>
                    <a:pt x="4783963" y="294005"/>
                  </a:cubicBezTo>
                  <a:lnTo>
                    <a:pt x="4783963" y="1470025"/>
                  </a:lnTo>
                  <a:cubicBezTo>
                    <a:pt x="4783963" y="1632458"/>
                    <a:pt x="4652264" y="1764030"/>
                    <a:pt x="4489958" y="1764030"/>
                  </a:cubicBezTo>
                  <a:lnTo>
                    <a:pt x="294005" y="1764030"/>
                  </a:lnTo>
                  <a:cubicBezTo>
                    <a:pt x="131699" y="1764157"/>
                    <a:pt x="0" y="1632458"/>
                    <a:pt x="0" y="147015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3863990" y="3980755"/>
            <a:ext cx="109814" cy="1304039"/>
            <a:chOff x="0" y="0"/>
            <a:chExt cx="146418" cy="173871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46431" cy="1738757"/>
            </a:xfrm>
            <a:custGeom>
              <a:avLst/>
              <a:gdLst/>
              <a:ahLst/>
              <a:cxnLst/>
              <a:rect r="r" b="b" t="t" l="l"/>
              <a:pathLst>
                <a:path h="1738757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714373"/>
                  </a:lnTo>
                  <a:cubicBezTo>
                    <a:pt x="146431" y="1727835"/>
                    <a:pt x="135509" y="1738757"/>
                    <a:pt x="122047" y="1738757"/>
                  </a:cubicBezTo>
                  <a:lnTo>
                    <a:pt x="24384" y="1738757"/>
                  </a:lnTo>
                  <a:cubicBezTo>
                    <a:pt x="10922" y="1738757"/>
                    <a:pt x="0" y="1727835"/>
                    <a:pt x="0" y="1714373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4083617" y="4113200"/>
            <a:ext cx="3239510" cy="1001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2"/>
              </a:lnSpc>
            </a:pPr>
            <a:r>
              <a:rPr lang="en-US" sz="3152" b="true">
                <a:solidFill>
                  <a:srgbClr val="F59E0B"/>
                </a:solidFill>
                <a:latin typeface="Aptos Bold"/>
                <a:ea typeface="Aptos Bold"/>
                <a:cs typeface="Aptos Bold"/>
                <a:sym typeface="Aptos Bold"/>
              </a:rPr>
              <a:t>4.69%</a:t>
            </a:r>
          </a:p>
          <a:p>
            <a:pPr algn="l">
              <a:lnSpc>
                <a:spcPts val="2096"/>
              </a:lnSpc>
            </a:pPr>
            <a:r>
              <a:rPr lang="en-US" sz="1576" b="true">
                <a:solidFill>
                  <a:srgbClr val="F59E0B"/>
                </a:solidFill>
                <a:latin typeface="Aptos Bold"/>
                <a:ea typeface="Aptos Bold"/>
                <a:cs typeface="Aptos Bold"/>
                <a:sym typeface="Aptos Bold"/>
              </a:rPr>
              <a:t>In-Transit / Shipped</a:t>
            </a:r>
          </a:p>
          <a:p>
            <a:pPr algn="l">
              <a:lnSpc>
                <a:spcPts val="1796"/>
              </a:lnSpc>
            </a:pPr>
            <a:r>
              <a:rPr lang="en-US" sz="1351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12 items in pipeline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873710" y="5481161"/>
            <a:ext cx="7568765" cy="2215344"/>
            <a:chOff x="0" y="0"/>
            <a:chExt cx="10091687" cy="295379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091674" cy="2953766"/>
            </a:xfrm>
            <a:custGeom>
              <a:avLst/>
              <a:gdLst/>
              <a:ahLst/>
              <a:cxnLst/>
              <a:rect r="r" b="b" t="t" l="l"/>
              <a:pathLst>
                <a:path h="2953766" w="10091674">
                  <a:moveTo>
                    <a:pt x="0" y="492252"/>
                  </a:moveTo>
                  <a:cubicBezTo>
                    <a:pt x="0" y="220472"/>
                    <a:pt x="220472" y="0"/>
                    <a:pt x="492252" y="0"/>
                  </a:cubicBezTo>
                  <a:lnTo>
                    <a:pt x="9599422" y="0"/>
                  </a:lnTo>
                  <a:cubicBezTo>
                    <a:pt x="9871328" y="0"/>
                    <a:pt x="10091674" y="220472"/>
                    <a:pt x="10091674" y="492252"/>
                  </a:cubicBezTo>
                  <a:lnTo>
                    <a:pt x="10091674" y="2461514"/>
                  </a:lnTo>
                  <a:cubicBezTo>
                    <a:pt x="10091674" y="2733421"/>
                    <a:pt x="9871202" y="2953766"/>
                    <a:pt x="9599422" y="2953766"/>
                  </a:cubicBezTo>
                  <a:lnTo>
                    <a:pt x="492252" y="2953766"/>
                  </a:lnTo>
                  <a:cubicBezTo>
                    <a:pt x="220472" y="2953766"/>
                    <a:pt x="0" y="2733421"/>
                    <a:pt x="0" y="2461514"/>
                  </a:cubicBezTo>
                  <a:close/>
                </a:path>
              </a:pathLst>
            </a:custGeom>
            <a:solidFill>
              <a:srgbClr val="F8FAFC"/>
            </a:solidFill>
            <a:ln w="19065" cap="sq">
              <a:solidFill>
                <a:srgbClr val="CBD5E1"/>
              </a:solidFill>
              <a:prstDash val="solid"/>
              <a:miter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10198122" y="5791000"/>
            <a:ext cx="7110441" cy="30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0F766E"/>
                </a:solidFill>
                <a:latin typeface="Aptos Bold"/>
                <a:ea typeface="Aptos Bold"/>
                <a:cs typeface="Aptos Bold"/>
                <a:sym typeface="Aptos Bold"/>
              </a:rPr>
              <a:t>DAX FORMULAS — EXECUTIVE OVERVIEW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198122" y="6091866"/>
            <a:ext cx="7110441" cy="1675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-- 1. Total Order Value (Aggregated Payments)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Total Order Value = SUM('Table'[payment_value])</a:t>
            </a:r>
          </a:p>
          <a:p>
            <a:pPr algn="l">
              <a:lnSpc>
                <a:spcPts val="1621"/>
              </a:lnSpc>
            </a:pP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-- 2. Total Order Volume (Distinct Orders)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Total Orders = DISTINCTCOUNT('Table'[order_id])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814073" y="7951965"/>
            <a:ext cx="16628402" cy="1460373"/>
            <a:chOff x="0" y="0"/>
            <a:chExt cx="22171203" cy="194716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2171152" cy="1947164"/>
            </a:xfrm>
            <a:custGeom>
              <a:avLst/>
              <a:gdLst/>
              <a:ahLst/>
              <a:cxnLst/>
              <a:rect r="r" b="b" t="t" l="l"/>
              <a:pathLst>
                <a:path h="1947164" w="22171152">
                  <a:moveTo>
                    <a:pt x="0" y="324485"/>
                  </a:moveTo>
                  <a:cubicBezTo>
                    <a:pt x="0" y="145288"/>
                    <a:pt x="145288" y="0"/>
                    <a:pt x="324485" y="0"/>
                  </a:cubicBezTo>
                  <a:lnTo>
                    <a:pt x="21846667" y="0"/>
                  </a:lnTo>
                  <a:cubicBezTo>
                    <a:pt x="22025863" y="0"/>
                    <a:pt x="22171152" y="145288"/>
                    <a:pt x="22171152" y="324485"/>
                  </a:cubicBezTo>
                  <a:lnTo>
                    <a:pt x="22171152" y="1622679"/>
                  </a:lnTo>
                  <a:cubicBezTo>
                    <a:pt x="22171152" y="1801876"/>
                    <a:pt x="22025863" y="1947164"/>
                    <a:pt x="21846667" y="1947164"/>
                  </a:cubicBezTo>
                  <a:lnTo>
                    <a:pt x="324485" y="1947164"/>
                  </a:lnTo>
                  <a:cubicBezTo>
                    <a:pt x="145288" y="1947164"/>
                    <a:pt x="0" y="1801876"/>
                    <a:pt x="0" y="1622679"/>
                  </a:cubicBezTo>
                  <a:close/>
                </a:path>
              </a:pathLst>
            </a:custGeom>
            <a:solidFill>
              <a:srgbClr val="F0F9FF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823608" y="7961500"/>
            <a:ext cx="109814" cy="1441304"/>
            <a:chOff x="0" y="0"/>
            <a:chExt cx="146418" cy="192173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46431" cy="1921764"/>
            </a:xfrm>
            <a:custGeom>
              <a:avLst/>
              <a:gdLst/>
              <a:ahLst/>
              <a:cxnLst/>
              <a:rect r="r" b="b" t="t" l="l"/>
              <a:pathLst>
                <a:path h="1921764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897380"/>
                  </a:lnTo>
                  <a:cubicBezTo>
                    <a:pt x="146431" y="1910842"/>
                    <a:pt x="135509" y="1921764"/>
                    <a:pt x="122047" y="1921764"/>
                  </a:cubicBezTo>
                  <a:lnTo>
                    <a:pt x="24384" y="1921764"/>
                  </a:lnTo>
                  <a:cubicBezTo>
                    <a:pt x="10922" y="1921764"/>
                    <a:pt x="0" y="1910842"/>
                    <a:pt x="0" y="1897380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098137" y="8039376"/>
            <a:ext cx="16128902" cy="1115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0"/>
              </a:lnSpc>
            </a:pPr>
            <a:r>
              <a:rPr lang="en-US" sz="1876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Operational Analysis &amp; Caution</a:t>
            </a:r>
          </a:p>
          <a:p>
            <a:pPr algn="l">
              <a:lnSpc>
                <a:spcPts val="2792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- The dashboard provides rapid visual slicing by customer state (MA displayed) and top product categories (Telephony, Computer Accessories, Health &amp; Beauty).</a:t>
            </a:r>
          </a:p>
          <a:p>
            <a:pPr algn="l">
              <a:lnSpc>
                <a:spcPts val="2792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- Analytical Note: As shown in Power BI Desktop, KPI cards reflect the active customer state filter context.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823608" y="9677343"/>
            <a:ext cx="16654634" cy="20593"/>
            <a:chOff x="0" y="0"/>
            <a:chExt cx="22206179" cy="2745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2206204" cy="27432"/>
            </a:xfrm>
            <a:custGeom>
              <a:avLst/>
              <a:gdLst/>
              <a:ahLst/>
              <a:cxnLst/>
              <a:rect r="r" b="b" t="t" l="l"/>
              <a:pathLst>
                <a:path h="27432" w="22206204">
                  <a:moveTo>
                    <a:pt x="0" y="0"/>
                  </a:moveTo>
                  <a:lnTo>
                    <a:pt x="22206204" y="0"/>
                  </a:lnTo>
                  <a:lnTo>
                    <a:pt x="22206204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D8E3F0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823608" y="9773431"/>
            <a:ext cx="5490686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Slide 16 of 20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987546" y="9773431"/>
            <a:ext cx="5490686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11"/>
              </a:lnSpc>
            </a:pPr>
            <a:r>
              <a:rPr lang="en-US" sz="1426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Final Project Presentation | M1-M4 Complete Journey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9814"/>
            <a:chOff x="0" y="0"/>
            <a:chExt cx="24402453" cy="146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46431"/>
            </a:xfrm>
            <a:custGeom>
              <a:avLst/>
              <a:gdLst/>
              <a:ahLst/>
              <a:cxnLst/>
              <a:rect r="r" b="b" t="t" l="l"/>
              <a:pathLst>
                <a:path h="14643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00B09B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23608" y="301990"/>
            <a:ext cx="10981382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0F766E"/>
                </a:solidFill>
                <a:latin typeface="Aptos Bold"/>
                <a:ea typeface="Aptos Bold"/>
                <a:cs typeface="Aptos Bold"/>
                <a:sym typeface="Aptos Bold"/>
              </a:rPr>
              <a:t>SUPPLY CHAIN VISIBILITY &amp; OPTIMISATION  -  MILESTONE 4 - TEAM 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23608" y="754971"/>
            <a:ext cx="10981382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0F766E"/>
                </a:solidFill>
                <a:latin typeface="Aptos Bold"/>
                <a:ea typeface="Aptos Bold"/>
                <a:cs typeface="Aptos Bold"/>
                <a:sym typeface="Aptos Bold"/>
              </a:rPr>
              <a:t>MILESTONE 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23608" y="1135113"/>
            <a:ext cx="9169451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Delivery Efficiency &amp; Seasonality Dashboard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14073" y="2469109"/>
            <a:ext cx="8785108" cy="5216157"/>
            <a:chOff x="0" y="0"/>
            <a:chExt cx="11713477" cy="6954876"/>
          </a:xfrm>
        </p:grpSpPr>
        <p:sp>
          <p:nvSpPr>
            <p:cNvPr name="Freeform 8" id="8" descr="delivery-1.png"/>
            <p:cNvSpPr/>
            <p:nvPr/>
          </p:nvSpPr>
          <p:spPr>
            <a:xfrm flipH="false" flipV="false" rot="0">
              <a:off x="0" y="0"/>
              <a:ext cx="11713464" cy="6954901"/>
            </a:xfrm>
            <a:custGeom>
              <a:avLst/>
              <a:gdLst/>
              <a:ahLst/>
              <a:cxnLst/>
              <a:rect r="r" b="b" t="t" l="l"/>
              <a:pathLst>
                <a:path h="6954901" w="11713464">
                  <a:moveTo>
                    <a:pt x="0" y="0"/>
                  </a:moveTo>
                  <a:lnTo>
                    <a:pt x="11713464" y="0"/>
                  </a:lnTo>
                  <a:lnTo>
                    <a:pt x="11713464" y="6954901"/>
                  </a:lnTo>
                  <a:lnTo>
                    <a:pt x="0" y="6954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795" t="0" r="-1795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823608" y="1853108"/>
            <a:ext cx="833898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Tracking on-time fulfillment rates, seasonal volume dips, and delivery lead time correlations.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873710" y="904294"/>
            <a:ext cx="3725285" cy="1323108"/>
            <a:chOff x="0" y="0"/>
            <a:chExt cx="4967046" cy="17641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966970" cy="1764030"/>
            </a:xfrm>
            <a:custGeom>
              <a:avLst/>
              <a:gdLst/>
              <a:ahLst/>
              <a:cxnLst/>
              <a:rect r="r" b="b" t="t" l="l"/>
              <a:pathLst>
                <a:path h="1764030" w="4966970">
                  <a:moveTo>
                    <a:pt x="0" y="294005"/>
                  </a:moveTo>
                  <a:cubicBezTo>
                    <a:pt x="0" y="131699"/>
                    <a:pt x="131699" y="0"/>
                    <a:pt x="294005" y="0"/>
                  </a:cubicBezTo>
                  <a:lnTo>
                    <a:pt x="4672965" y="0"/>
                  </a:lnTo>
                  <a:cubicBezTo>
                    <a:pt x="4835398" y="0"/>
                    <a:pt x="4966970" y="131699"/>
                    <a:pt x="4966970" y="294005"/>
                  </a:cubicBezTo>
                  <a:lnTo>
                    <a:pt x="4966970" y="1470025"/>
                  </a:lnTo>
                  <a:cubicBezTo>
                    <a:pt x="4966970" y="1632458"/>
                    <a:pt x="4835271" y="1764030"/>
                    <a:pt x="4672965" y="1764030"/>
                  </a:cubicBezTo>
                  <a:lnTo>
                    <a:pt x="294005" y="1764030"/>
                  </a:lnTo>
                  <a:cubicBezTo>
                    <a:pt x="131699" y="1764157"/>
                    <a:pt x="0" y="1632458"/>
                    <a:pt x="0" y="147015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883245" y="913829"/>
            <a:ext cx="109814" cy="1304039"/>
            <a:chOff x="0" y="0"/>
            <a:chExt cx="146418" cy="173871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431" cy="1738757"/>
            </a:xfrm>
            <a:custGeom>
              <a:avLst/>
              <a:gdLst/>
              <a:ahLst/>
              <a:cxnLst/>
              <a:rect r="r" b="b" t="t" l="l"/>
              <a:pathLst>
                <a:path h="1738757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714373"/>
                  </a:lnTo>
                  <a:cubicBezTo>
                    <a:pt x="146431" y="1727835"/>
                    <a:pt x="135509" y="1738757"/>
                    <a:pt x="122047" y="1738757"/>
                  </a:cubicBezTo>
                  <a:lnTo>
                    <a:pt x="24384" y="1738757"/>
                  </a:lnTo>
                  <a:cubicBezTo>
                    <a:pt x="10922" y="1738757"/>
                    <a:pt x="0" y="1727835"/>
                    <a:pt x="0" y="1714373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102872" y="1051093"/>
            <a:ext cx="3376774" cy="1029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2"/>
              </a:lnSpc>
            </a:pPr>
            <a:r>
              <a:rPr lang="en-US" sz="3152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56K</a:t>
            </a:r>
          </a:p>
          <a:p>
            <a:pPr algn="l">
              <a:lnSpc>
                <a:spcPts val="1891"/>
              </a:lnSpc>
            </a:pPr>
            <a:r>
              <a:rPr lang="en-US" sz="1576" b="true">
                <a:solidFill>
                  <a:srgbClr val="1F2937"/>
                </a:solidFill>
                <a:latin typeface="Aptos Bold"/>
                <a:ea typeface="Aptos Bold"/>
                <a:cs typeface="Aptos Bold"/>
                <a:sym typeface="Aptos Bold"/>
              </a:rPr>
              <a:t>Total Shipments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Distinct orders fulfilled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3854455" y="904294"/>
            <a:ext cx="3588010" cy="1323108"/>
            <a:chOff x="0" y="0"/>
            <a:chExt cx="4784014" cy="176414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783963" cy="1764030"/>
            </a:xfrm>
            <a:custGeom>
              <a:avLst/>
              <a:gdLst/>
              <a:ahLst/>
              <a:cxnLst/>
              <a:rect r="r" b="b" t="t" l="l"/>
              <a:pathLst>
                <a:path h="1764030" w="4783963">
                  <a:moveTo>
                    <a:pt x="0" y="294005"/>
                  </a:moveTo>
                  <a:cubicBezTo>
                    <a:pt x="0" y="131699"/>
                    <a:pt x="131699" y="0"/>
                    <a:pt x="294005" y="0"/>
                  </a:cubicBezTo>
                  <a:lnTo>
                    <a:pt x="4489958" y="0"/>
                  </a:lnTo>
                  <a:cubicBezTo>
                    <a:pt x="4652391" y="0"/>
                    <a:pt x="4783963" y="131699"/>
                    <a:pt x="4783963" y="294005"/>
                  </a:cubicBezTo>
                  <a:lnTo>
                    <a:pt x="4783963" y="1470025"/>
                  </a:lnTo>
                  <a:cubicBezTo>
                    <a:pt x="4783963" y="1632458"/>
                    <a:pt x="4652264" y="1764030"/>
                    <a:pt x="4489958" y="1764030"/>
                  </a:cubicBezTo>
                  <a:lnTo>
                    <a:pt x="294005" y="1764030"/>
                  </a:lnTo>
                  <a:cubicBezTo>
                    <a:pt x="131699" y="1764157"/>
                    <a:pt x="0" y="1632458"/>
                    <a:pt x="0" y="147015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3863990" y="913829"/>
            <a:ext cx="109814" cy="1304039"/>
            <a:chOff x="0" y="0"/>
            <a:chExt cx="146418" cy="173871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6431" cy="1738757"/>
            </a:xfrm>
            <a:custGeom>
              <a:avLst/>
              <a:gdLst/>
              <a:ahLst/>
              <a:cxnLst/>
              <a:rect r="r" b="b" t="t" l="l"/>
              <a:pathLst>
                <a:path h="1738757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714373"/>
                  </a:lnTo>
                  <a:cubicBezTo>
                    <a:pt x="146431" y="1727835"/>
                    <a:pt x="135509" y="1738757"/>
                    <a:pt x="122047" y="1738757"/>
                  </a:cubicBezTo>
                  <a:lnTo>
                    <a:pt x="24384" y="1738757"/>
                  </a:lnTo>
                  <a:cubicBezTo>
                    <a:pt x="10922" y="1738757"/>
                    <a:pt x="0" y="1727835"/>
                    <a:pt x="0" y="1714373"/>
                  </a:cubicBezTo>
                  <a:close/>
                </a:path>
              </a:pathLst>
            </a:custGeom>
            <a:solidFill>
              <a:srgbClr val="16A34A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4083617" y="1051093"/>
            <a:ext cx="3239510" cy="1029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2"/>
              </a:lnSpc>
            </a:pPr>
            <a:r>
              <a:rPr lang="en-US" sz="3152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94%</a:t>
            </a:r>
          </a:p>
          <a:p>
            <a:pPr algn="l">
              <a:lnSpc>
                <a:spcPts val="1891"/>
              </a:lnSpc>
            </a:pPr>
            <a:r>
              <a:rPr lang="en-US" sz="1576" b="true">
                <a:solidFill>
                  <a:srgbClr val="1F2937"/>
                </a:solidFill>
                <a:latin typeface="Aptos Bold"/>
                <a:ea typeface="Aptos Bold"/>
                <a:cs typeface="Aptos Bold"/>
                <a:sym typeface="Aptos Bold"/>
              </a:rPr>
              <a:t>On-Time Delivery %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Fulfilled on/before ETA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873710" y="2414235"/>
            <a:ext cx="3725285" cy="1323108"/>
            <a:chOff x="0" y="0"/>
            <a:chExt cx="4967046" cy="17641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966970" cy="1764030"/>
            </a:xfrm>
            <a:custGeom>
              <a:avLst/>
              <a:gdLst/>
              <a:ahLst/>
              <a:cxnLst/>
              <a:rect r="r" b="b" t="t" l="l"/>
              <a:pathLst>
                <a:path h="1764030" w="4966970">
                  <a:moveTo>
                    <a:pt x="0" y="294005"/>
                  </a:moveTo>
                  <a:cubicBezTo>
                    <a:pt x="0" y="131699"/>
                    <a:pt x="131699" y="0"/>
                    <a:pt x="294005" y="0"/>
                  </a:cubicBezTo>
                  <a:lnTo>
                    <a:pt x="4672965" y="0"/>
                  </a:lnTo>
                  <a:cubicBezTo>
                    <a:pt x="4835398" y="0"/>
                    <a:pt x="4966970" y="131699"/>
                    <a:pt x="4966970" y="294005"/>
                  </a:cubicBezTo>
                  <a:lnTo>
                    <a:pt x="4966970" y="1470025"/>
                  </a:lnTo>
                  <a:cubicBezTo>
                    <a:pt x="4966970" y="1632458"/>
                    <a:pt x="4835271" y="1764030"/>
                    <a:pt x="4672965" y="1764030"/>
                  </a:cubicBezTo>
                  <a:lnTo>
                    <a:pt x="294005" y="1764030"/>
                  </a:lnTo>
                  <a:cubicBezTo>
                    <a:pt x="131699" y="1764157"/>
                    <a:pt x="0" y="1632458"/>
                    <a:pt x="0" y="147015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883245" y="2423770"/>
            <a:ext cx="109814" cy="1304039"/>
            <a:chOff x="0" y="0"/>
            <a:chExt cx="146418" cy="173871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6431" cy="1738757"/>
            </a:xfrm>
            <a:custGeom>
              <a:avLst/>
              <a:gdLst/>
              <a:ahLst/>
              <a:cxnLst/>
              <a:rect r="r" b="b" t="t" l="l"/>
              <a:pathLst>
                <a:path h="1738757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714373"/>
                  </a:lnTo>
                  <a:cubicBezTo>
                    <a:pt x="146431" y="1727835"/>
                    <a:pt x="135509" y="1738757"/>
                    <a:pt x="122047" y="1738757"/>
                  </a:cubicBezTo>
                  <a:lnTo>
                    <a:pt x="24384" y="1738757"/>
                  </a:lnTo>
                  <a:cubicBezTo>
                    <a:pt x="10922" y="1738757"/>
                    <a:pt x="0" y="1727835"/>
                    <a:pt x="0" y="1714373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0102872" y="2561034"/>
            <a:ext cx="3376774" cy="1029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2"/>
              </a:lnSpc>
            </a:pPr>
            <a:r>
              <a:rPr lang="en-US" sz="3152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11.49 Days</a:t>
            </a:r>
          </a:p>
          <a:p>
            <a:pPr algn="l">
              <a:lnSpc>
                <a:spcPts val="1891"/>
              </a:lnSpc>
            </a:pPr>
            <a:r>
              <a:rPr lang="en-US" sz="1576" b="true">
                <a:solidFill>
                  <a:srgbClr val="1F2937"/>
                </a:solidFill>
                <a:latin typeface="Aptos Bold"/>
                <a:ea typeface="Aptos Bold"/>
                <a:cs typeface="Aptos Bold"/>
                <a:sym typeface="Aptos Bold"/>
              </a:rPr>
              <a:t>Avg Delivery Time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Purchase to delivery drop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3854455" y="2414235"/>
            <a:ext cx="3588010" cy="1323108"/>
            <a:chOff x="0" y="0"/>
            <a:chExt cx="4784014" cy="176414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783963" cy="1764030"/>
            </a:xfrm>
            <a:custGeom>
              <a:avLst/>
              <a:gdLst/>
              <a:ahLst/>
              <a:cxnLst/>
              <a:rect r="r" b="b" t="t" l="l"/>
              <a:pathLst>
                <a:path h="1764030" w="4783963">
                  <a:moveTo>
                    <a:pt x="0" y="294005"/>
                  </a:moveTo>
                  <a:cubicBezTo>
                    <a:pt x="0" y="131699"/>
                    <a:pt x="131699" y="0"/>
                    <a:pt x="294005" y="0"/>
                  </a:cubicBezTo>
                  <a:lnTo>
                    <a:pt x="4489958" y="0"/>
                  </a:lnTo>
                  <a:cubicBezTo>
                    <a:pt x="4652391" y="0"/>
                    <a:pt x="4783963" y="131699"/>
                    <a:pt x="4783963" y="294005"/>
                  </a:cubicBezTo>
                  <a:lnTo>
                    <a:pt x="4783963" y="1470025"/>
                  </a:lnTo>
                  <a:cubicBezTo>
                    <a:pt x="4783963" y="1632458"/>
                    <a:pt x="4652264" y="1764030"/>
                    <a:pt x="4489958" y="1764030"/>
                  </a:cubicBezTo>
                  <a:lnTo>
                    <a:pt x="294005" y="1764030"/>
                  </a:lnTo>
                  <a:cubicBezTo>
                    <a:pt x="131699" y="1764157"/>
                    <a:pt x="0" y="1632458"/>
                    <a:pt x="0" y="147015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3863990" y="2423770"/>
            <a:ext cx="109814" cy="1304039"/>
            <a:chOff x="0" y="0"/>
            <a:chExt cx="146418" cy="173871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46431" cy="1738757"/>
            </a:xfrm>
            <a:custGeom>
              <a:avLst/>
              <a:gdLst/>
              <a:ahLst/>
              <a:cxnLst/>
              <a:rect r="r" b="b" t="t" l="l"/>
              <a:pathLst>
                <a:path h="1738757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714373"/>
                  </a:lnTo>
                  <a:cubicBezTo>
                    <a:pt x="146431" y="1727835"/>
                    <a:pt x="135509" y="1738757"/>
                    <a:pt x="122047" y="1738757"/>
                  </a:cubicBezTo>
                  <a:lnTo>
                    <a:pt x="24384" y="1738757"/>
                  </a:lnTo>
                  <a:cubicBezTo>
                    <a:pt x="10922" y="1738757"/>
                    <a:pt x="0" y="1727835"/>
                    <a:pt x="0" y="1714373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4083617" y="2561034"/>
            <a:ext cx="3239510" cy="1029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2"/>
              </a:lnSpc>
            </a:pPr>
            <a:r>
              <a:rPr lang="en-US" sz="3152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R$ 17.42</a:t>
            </a:r>
          </a:p>
          <a:p>
            <a:pPr algn="l">
              <a:lnSpc>
                <a:spcPts val="1891"/>
              </a:lnSpc>
            </a:pPr>
            <a:r>
              <a:rPr lang="en-US" sz="1576" b="true">
                <a:solidFill>
                  <a:srgbClr val="1F2937"/>
                </a:solidFill>
                <a:latin typeface="Aptos Bold"/>
                <a:ea typeface="Aptos Bold"/>
                <a:cs typeface="Aptos Bold"/>
                <a:sym typeface="Aptos Bold"/>
              </a:rPr>
              <a:t>Freight / Shipment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Average shipping charge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873710" y="4070718"/>
            <a:ext cx="7568765" cy="3625786"/>
            <a:chOff x="0" y="0"/>
            <a:chExt cx="10091687" cy="483438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091674" cy="4834341"/>
            </a:xfrm>
            <a:custGeom>
              <a:avLst/>
              <a:gdLst/>
              <a:ahLst/>
              <a:cxnLst/>
              <a:rect r="r" b="b" t="t" l="l"/>
              <a:pathLst>
                <a:path h="4834341" w="10091674">
                  <a:moveTo>
                    <a:pt x="0" y="805654"/>
                  </a:moveTo>
                  <a:cubicBezTo>
                    <a:pt x="0" y="360840"/>
                    <a:pt x="220472" y="0"/>
                    <a:pt x="492252" y="0"/>
                  </a:cubicBezTo>
                  <a:lnTo>
                    <a:pt x="9599422" y="0"/>
                  </a:lnTo>
                  <a:cubicBezTo>
                    <a:pt x="9871328" y="0"/>
                    <a:pt x="10091674" y="360840"/>
                    <a:pt x="10091674" y="805654"/>
                  </a:cubicBezTo>
                  <a:lnTo>
                    <a:pt x="10091674" y="4028687"/>
                  </a:lnTo>
                  <a:cubicBezTo>
                    <a:pt x="10091674" y="4473709"/>
                    <a:pt x="9871202" y="4834341"/>
                    <a:pt x="9599422" y="4834341"/>
                  </a:cubicBezTo>
                  <a:lnTo>
                    <a:pt x="492252" y="4834341"/>
                  </a:lnTo>
                  <a:cubicBezTo>
                    <a:pt x="220472" y="4834341"/>
                    <a:pt x="0" y="4473708"/>
                    <a:pt x="0" y="4028687"/>
                  </a:cubicBezTo>
                  <a:close/>
                </a:path>
              </a:pathLst>
            </a:custGeom>
            <a:solidFill>
              <a:srgbClr val="F8FAFC"/>
            </a:solidFill>
            <a:ln w="19065" cap="sq">
              <a:solidFill>
                <a:srgbClr val="CBD5E1"/>
              </a:solidFill>
              <a:prstDash val="solid"/>
              <a:miter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10102872" y="4213593"/>
            <a:ext cx="7110441" cy="30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0F766E"/>
                </a:solidFill>
                <a:latin typeface="Aptos Bold"/>
                <a:ea typeface="Aptos Bold"/>
                <a:cs typeface="Aptos Bold"/>
                <a:sym typeface="Aptos Bold"/>
              </a:rPr>
              <a:t>DAX FORMULAS — DELIVERY EFFICIENCY &amp; TRANSIT DAYS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102872" y="4514459"/>
            <a:ext cx="7110441" cy="2886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1"/>
              </a:lnSpc>
            </a:pPr>
            <a:r>
              <a:rPr lang="en-US" sz="12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-- 1. On-Time Delivery Percentage</a:t>
            </a:r>
          </a:p>
          <a:p>
            <a:pPr algn="l">
              <a:lnSpc>
                <a:spcPts val="1501"/>
              </a:lnSpc>
            </a:pPr>
            <a:r>
              <a:rPr lang="en-US" sz="12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On-Time Delivery % =</a:t>
            </a:r>
          </a:p>
          <a:p>
            <a:pPr algn="l">
              <a:lnSpc>
                <a:spcPts val="1501"/>
              </a:lnSpc>
            </a:pPr>
            <a:r>
              <a:rPr lang="en-US" sz="12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DIVIDE(</a:t>
            </a:r>
          </a:p>
          <a:p>
            <a:pPr algn="l">
              <a:lnSpc>
                <a:spcPts val="1501"/>
              </a:lnSpc>
            </a:pPr>
            <a:r>
              <a:rPr lang="en-US" sz="12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    CALCULATE(DISTINCTCOUNT('Dataset'[order_id]), 'Dataset'[delivery_delay] &lt;= 0),</a:t>
            </a:r>
          </a:p>
          <a:p>
            <a:pPr algn="l">
              <a:lnSpc>
                <a:spcPts val="1501"/>
              </a:lnSpc>
            </a:pPr>
            <a:r>
              <a:rPr lang="en-US" sz="12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    [Total Shipments]</a:t>
            </a:r>
          </a:p>
          <a:p>
            <a:pPr algn="l">
              <a:lnSpc>
                <a:spcPts val="1501"/>
              </a:lnSpc>
            </a:pPr>
            <a:r>
              <a:rPr lang="en-US" sz="12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</a:p>
          <a:p>
            <a:pPr algn="l">
              <a:lnSpc>
                <a:spcPts val="1501"/>
              </a:lnSpc>
            </a:pPr>
          </a:p>
          <a:p>
            <a:pPr algn="l">
              <a:lnSpc>
                <a:spcPts val="1501"/>
              </a:lnSpc>
            </a:pPr>
            <a:r>
              <a:rPr lang="en-US" sz="12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-- 2. Average Lead Time Duration (Days)</a:t>
            </a:r>
          </a:p>
          <a:p>
            <a:pPr algn="l">
              <a:lnSpc>
                <a:spcPts val="1501"/>
              </a:lnSpc>
            </a:pPr>
            <a:r>
              <a:rPr lang="en-US" sz="12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Average Delivery Time =</a:t>
            </a:r>
          </a:p>
          <a:p>
            <a:pPr algn="l">
              <a:lnSpc>
                <a:spcPts val="1501"/>
              </a:lnSpc>
            </a:pPr>
            <a:r>
              <a:rPr lang="en-US" sz="12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AVERAGEX(</a:t>
            </a:r>
          </a:p>
          <a:p>
            <a:pPr algn="l">
              <a:lnSpc>
                <a:spcPts val="1501"/>
              </a:lnSpc>
            </a:pPr>
            <a:r>
              <a:rPr lang="en-US" sz="12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    FILTER('Dataset', NOT ISBLANK('Dataset'[order_delivered_customer_date])),</a:t>
            </a:r>
          </a:p>
          <a:p>
            <a:pPr algn="l">
              <a:lnSpc>
                <a:spcPts val="1501"/>
              </a:lnSpc>
            </a:pPr>
            <a:r>
              <a:rPr lang="en-US" sz="12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    DATEDIFF('Dataset'[order_purchase_timestamp], 'Dataset'[order_delivered_customer_date], DAY)</a:t>
            </a:r>
          </a:p>
          <a:p>
            <a:pPr algn="l">
              <a:lnSpc>
                <a:spcPts val="1501"/>
              </a:lnSpc>
            </a:pPr>
            <a:r>
              <a:rPr lang="en-US" sz="12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814073" y="7951965"/>
            <a:ext cx="16628402" cy="1460373"/>
            <a:chOff x="0" y="0"/>
            <a:chExt cx="22171203" cy="194716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2171152" cy="1947164"/>
            </a:xfrm>
            <a:custGeom>
              <a:avLst/>
              <a:gdLst/>
              <a:ahLst/>
              <a:cxnLst/>
              <a:rect r="r" b="b" t="t" l="l"/>
              <a:pathLst>
                <a:path h="1947164" w="22171152">
                  <a:moveTo>
                    <a:pt x="0" y="324485"/>
                  </a:moveTo>
                  <a:cubicBezTo>
                    <a:pt x="0" y="145288"/>
                    <a:pt x="145288" y="0"/>
                    <a:pt x="324485" y="0"/>
                  </a:cubicBezTo>
                  <a:lnTo>
                    <a:pt x="21846667" y="0"/>
                  </a:lnTo>
                  <a:cubicBezTo>
                    <a:pt x="22025863" y="0"/>
                    <a:pt x="22171152" y="145288"/>
                    <a:pt x="22171152" y="324485"/>
                  </a:cubicBezTo>
                  <a:lnTo>
                    <a:pt x="22171152" y="1622679"/>
                  </a:lnTo>
                  <a:cubicBezTo>
                    <a:pt x="22171152" y="1801876"/>
                    <a:pt x="22025863" y="1947164"/>
                    <a:pt x="21846667" y="1947164"/>
                  </a:cubicBezTo>
                  <a:lnTo>
                    <a:pt x="324485" y="1947164"/>
                  </a:lnTo>
                  <a:cubicBezTo>
                    <a:pt x="145288" y="1947164"/>
                    <a:pt x="0" y="1801876"/>
                    <a:pt x="0" y="1622679"/>
                  </a:cubicBezTo>
                  <a:close/>
                </a:path>
              </a:pathLst>
            </a:custGeom>
            <a:solidFill>
              <a:srgbClr val="F0FDFA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823608" y="7961500"/>
            <a:ext cx="109814" cy="1441304"/>
            <a:chOff x="0" y="0"/>
            <a:chExt cx="146418" cy="192173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46431" cy="1921764"/>
            </a:xfrm>
            <a:custGeom>
              <a:avLst/>
              <a:gdLst/>
              <a:ahLst/>
              <a:cxnLst/>
              <a:rect r="r" b="b" t="t" l="l"/>
              <a:pathLst>
                <a:path h="1921764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897380"/>
                  </a:lnTo>
                  <a:cubicBezTo>
                    <a:pt x="146431" y="1910842"/>
                    <a:pt x="135509" y="1921764"/>
                    <a:pt x="122047" y="1921764"/>
                  </a:cubicBezTo>
                  <a:lnTo>
                    <a:pt x="24384" y="1921764"/>
                  </a:lnTo>
                  <a:cubicBezTo>
                    <a:pt x="10922" y="1921764"/>
                    <a:pt x="0" y="1910842"/>
                    <a:pt x="0" y="1897380"/>
                  </a:cubicBezTo>
                  <a:close/>
                </a:path>
              </a:pathLst>
            </a:custGeom>
            <a:solidFill>
              <a:srgbClr val="0F766E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098137" y="8039376"/>
            <a:ext cx="16128902" cy="109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3"/>
              </a:lnSpc>
            </a:pPr>
            <a:r>
              <a:rPr lang="en-US" sz="1876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Operational Insights: Seasonality &amp; Sentiment Impact</a:t>
            </a:r>
          </a:p>
          <a:p>
            <a:pPr algn="l">
              <a:lnSpc>
                <a:spcPts val="2747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- Seasonal Performance Curve: On-time delivery drops significantly in March (86.30%) and November (89.60%), but peaks in June (98.66%) and July (97.15%).</a:t>
            </a:r>
          </a:p>
          <a:p>
            <a:pPr algn="l">
              <a:lnSpc>
                <a:spcPts val="2747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- Direct Sentiment Impact: Orders with 1-star reviews suffer an average lead time of ~17.5 days, compared to ~10.1 days for 5-star reviews.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823608" y="9677343"/>
            <a:ext cx="16654634" cy="20593"/>
            <a:chOff x="0" y="0"/>
            <a:chExt cx="22206179" cy="2745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2206204" cy="27432"/>
            </a:xfrm>
            <a:custGeom>
              <a:avLst/>
              <a:gdLst/>
              <a:ahLst/>
              <a:cxnLst/>
              <a:rect r="r" b="b" t="t" l="l"/>
              <a:pathLst>
                <a:path h="27432" w="22206204">
                  <a:moveTo>
                    <a:pt x="0" y="0"/>
                  </a:moveTo>
                  <a:lnTo>
                    <a:pt x="22206204" y="0"/>
                  </a:lnTo>
                  <a:lnTo>
                    <a:pt x="22206204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D8E3F0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823608" y="9773431"/>
            <a:ext cx="5490686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Slide 17 of 20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987546" y="9773431"/>
            <a:ext cx="5490686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11"/>
              </a:lnSpc>
            </a:pPr>
            <a:r>
              <a:rPr lang="en-US" sz="1426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Final Project Presentation | M1-M4 Complete Journey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9814"/>
            <a:chOff x="0" y="0"/>
            <a:chExt cx="24402453" cy="146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46431"/>
            </a:xfrm>
            <a:custGeom>
              <a:avLst/>
              <a:gdLst/>
              <a:ahLst/>
              <a:cxnLst/>
              <a:rect r="r" b="b" t="t" l="l"/>
              <a:pathLst>
                <a:path h="14643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00B09B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23608" y="301990"/>
            <a:ext cx="10981382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0F766E"/>
                </a:solidFill>
                <a:latin typeface="Aptos Bold"/>
                <a:ea typeface="Aptos Bold"/>
                <a:cs typeface="Aptos Bold"/>
                <a:sym typeface="Aptos Bold"/>
              </a:rPr>
              <a:t>SUPPLY CHAIN VISIBILITY &amp; OPTIMISATION  -  MILESTONE 4 - TEAM 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23608" y="754971"/>
            <a:ext cx="10981382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0F766E"/>
                </a:solidFill>
                <a:latin typeface="Aptos Bold"/>
                <a:ea typeface="Aptos Bold"/>
                <a:cs typeface="Aptos Bold"/>
                <a:sym typeface="Aptos Bold"/>
              </a:rPr>
              <a:t>MILESTONE 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23608" y="1230363"/>
            <a:ext cx="1647206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Transportation Cost Performance &amp; Customer Experience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3608" y="1853108"/>
            <a:ext cx="1647206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Integrating logistics expenditure diagnostics with customer satisfaction and rating distributions.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23608" y="2371639"/>
            <a:ext cx="8098765" cy="4392549"/>
            <a:chOff x="0" y="0"/>
            <a:chExt cx="10798353" cy="5856732"/>
          </a:xfrm>
        </p:grpSpPr>
        <p:sp>
          <p:nvSpPr>
            <p:cNvPr name="Freeform 9" id="9" descr="m4_page_2.png"/>
            <p:cNvSpPr/>
            <p:nvPr/>
          </p:nvSpPr>
          <p:spPr>
            <a:xfrm flipH="false" flipV="false" rot="0">
              <a:off x="0" y="0"/>
              <a:ext cx="10798302" cy="5856732"/>
            </a:xfrm>
            <a:custGeom>
              <a:avLst/>
              <a:gdLst/>
              <a:ahLst/>
              <a:cxnLst/>
              <a:rect r="r" b="b" t="t" l="l"/>
              <a:pathLst>
                <a:path h="5856732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5856732"/>
                  </a:lnTo>
                  <a:lnTo>
                    <a:pt x="0" y="5856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13" r="0" b="-3313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334176" y="2371639"/>
            <a:ext cx="8098765" cy="4392549"/>
            <a:chOff x="0" y="0"/>
            <a:chExt cx="10798353" cy="5856732"/>
          </a:xfrm>
        </p:grpSpPr>
        <p:sp>
          <p:nvSpPr>
            <p:cNvPr name="Freeform 11" id="11" descr="m4_page_3.png"/>
            <p:cNvSpPr/>
            <p:nvPr/>
          </p:nvSpPr>
          <p:spPr>
            <a:xfrm flipH="false" flipV="false" rot="0">
              <a:off x="0" y="0"/>
              <a:ext cx="10798302" cy="5856732"/>
            </a:xfrm>
            <a:custGeom>
              <a:avLst/>
              <a:gdLst/>
              <a:ahLst/>
              <a:cxnLst/>
              <a:rect r="r" b="b" t="t" l="l"/>
              <a:pathLst>
                <a:path h="5856732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5856732"/>
                  </a:lnTo>
                  <a:lnTo>
                    <a:pt x="0" y="5856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313" r="0" b="-3313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14073" y="6964480"/>
            <a:ext cx="3931177" cy="1391736"/>
            <a:chOff x="0" y="0"/>
            <a:chExt cx="5241569" cy="185564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241544" cy="1855597"/>
            </a:xfrm>
            <a:custGeom>
              <a:avLst/>
              <a:gdLst/>
              <a:ahLst/>
              <a:cxnLst/>
              <a:rect r="r" b="b" t="t" l="l"/>
              <a:pathLst>
                <a:path h="1855597" w="5241544">
                  <a:moveTo>
                    <a:pt x="0" y="309245"/>
                  </a:moveTo>
                  <a:cubicBezTo>
                    <a:pt x="0" y="138430"/>
                    <a:pt x="138430" y="0"/>
                    <a:pt x="309245" y="0"/>
                  </a:cubicBezTo>
                  <a:lnTo>
                    <a:pt x="4932299" y="0"/>
                  </a:lnTo>
                  <a:cubicBezTo>
                    <a:pt x="5103114" y="0"/>
                    <a:pt x="5241544" y="138430"/>
                    <a:pt x="5241544" y="309245"/>
                  </a:cubicBezTo>
                  <a:lnTo>
                    <a:pt x="5241544" y="1546352"/>
                  </a:lnTo>
                  <a:cubicBezTo>
                    <a:pt x="5241544" y="1717167"/>
                    <a:pt x="5103114" y="1855597"/>
                    <a:pt x="4932299" y="1855597"/>
                  </a:cubicBezTo>
                  <a:lnTo>
                    <a:pt x="309245" y="1855597"/>
                  </a:lnTo>
                  <a:cubicBezTo>
                    <a:pt x="138430" y="1855597"/>
                    <a:pt x="0" y="1717167"/>
                    <a:pt x="0" y="154635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823608" y="6974014"/>
            <a:ext cx="109814" cy="1372676"/>
            <a:chOff x="0" y="0"/>
            <a:chExt cx="146418" cy="183023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431" cy="1830197"/>
            </a:xfrm>
            <a:custGeom>
              <a:avLst/>
              <a:gdLst/>
              <a:ahLst/>
              <a:cxnLst/>
              <a:rect r="r" b="b" t="t" l="l"/>
              <a:pathLst>
                <a:path h="1830197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805813"/>
                  </a:lnTo>
                  <a:cubicBezTo>
                    <a:pt x="146431" y="1819275"/>
                    <a:pt x="135509" y="1830197"/>
                    <a:pt x="122047" y="1830197"/>
                  </a:cubicBezTo>
                  <a:lnTo>
                    <a:pt x="24384" y="1830197"/>
                  </a:lnTo>
                  <a:cubicBezTo>
                    <a:pt x="10922" y="1830197"/>
                    <a:pt x="0" y="1819275"/>
                    <a:pt x="0" y="1805813"/>
                  </a:cubicBezTo>
                  <a:close/>
                </a:path>
              </a:pathLst>
            </a:custGeom>
            <a:solidFill>
              <a:srgbClr val="DC2626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43235" y="7111279"/>
            <a:ext cx="3582676" cy="109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2"/>
              </a:lnSpc>
            </a:pPr>
            <a:r>
              <a:rPr lang="en-US" sz="3152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R$ 969.23K</a:t>
            </a:r>
          </a:p>
          <a:p>
            <a:pPr algn="l">
              <a:lnSpc>
                <a:spcPts val="1891"/>
              </a:lnSpc>
            </a:pPr>
            <a:r>
              <a:rPr lang="en-US" sz="1576" b="true">
                <a:solidFill>
                  <a:srgbClr val="1F2937"/>
                </a:solidFill>
                <a:latin typeface="Aptos Bold"/>
                <a:ea typeface="Aptos Bold"/>
                <a:cs typeface="Aptos Bold"/>
                <a:sym typeface="Aptos Bold"/>
              </a:rPr>
              <a:t>Total Freight Cost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Logistics spend pool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5000720" y="6964480"/>
            <a:ext cx="3931177" cy="1391736"/>
            <a:chOff x="0" y="0"/>
            <a:chExt cx="5241569" cy="185564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241544" cy="1855597"/>
            </a:xfrm>
            <a:custGeom>
              <a:avLst/>
              <a:gdLst/>
              <a:ahLst/>
              <a:cxnLst/>
              <a:rect r="r" b="b" t="t" l="l"/>
              <a:pathLst>
                <a:path h="1855597" w="5241544">
                  <a:moveTo>
                    <a:pt x="0" y="309245"/>
                  </a:moveTo>
                  <a:cubicBezTo>
                    <a:pt x="0" y="138430"/>
                    <a:pt x="138430" y="0"/>
                    <a:pt x="309245" y="0"/>
                  </a:cubicBezTo>
                  <a:lnTo>
                    <a:pt x="4932299" y="0"/>
                  </a:lnTo>
                  <a:cubicBezTo>
                    <a:pt x="5103114" y="0"/>
                    <a:pt x="5241544" y="138430"/>
                    <a:pt x="5241544" y="309245"/>
                  </a:cubicBezTo>
                  <a:lnTo>
                    <a:pt x="5241544" y="1546352"/>
                  </a:lnTo>
                  <a:cubicBezTo>
                    <a:pt x="5241544" y="1717167"/>
                    <a:pt x="5103114" y="1855597"/>
                    <a:pt x="4932299" y="1855597"/>
                  </a:cubicBezTo>
                  <a:lnTo>
                    <a:pt x="309245" y="1855597"/>
                  </a:lnTo>
                  <a:cubicBezTo>
                    <a:pt x="138430" y="1855597"/>
                    <a:pt x="0" y="1717167"/>
                    <a:pt x="0" y="154635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5010255" y="6974014"/>
            <a:ext cx="109814" cy="1372676"/>
            <a:chOff x="0" y="0"/>
            <a:chExt cx="146418" cy="183023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6431" cy="1830197"/>
            </a:xfrm>
            <a:custGeom>
              <a:avLst/>
              <a:gdLst/>
              <a:ahLst/>
              <a:cxnLst/>
              <a:rect r="r" b="b" t="t" l="l"/>
              <a:pathLst>
                <a:path h="1830197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805813"/>
                  </a:lnTo>
                  <a:cubicBezTo>
                    <a:pt x="146431" y="1819275"/>
                    <a:pt x="135509" y="1830197"/>
                    <a:pt x="122047" y="1830197"/>
                  </a:cubicBezTo>
                  <a:lnTo>
                    <a:pt x="24384" y="1830197"/>
                  </a:lnTo>
                  <a:cubicBezTo>
                    <a:pt x="10922" y="1830197"/>
                    <a:pt x="0" y="1819275"/>
                    <a:pt x="0" y="1805813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5229882" y="7111279"/>
            <a:ext cx="3582676" cy="109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2"/>
              </a:lnSpc>
            </a:pPr>
            <a:r>
              <a:rPr lang="en-US" sz="3152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R$ 14.68</a:t>
            </a:r>
          </a:p>
          <a:p>
            <a:pPr algn="l">
              <a:lnSpc>
                <a:spcPts val="1891"/>
              </a:lnSpc>
            </a:pPr>
            <a:r>
              <a:rPr lang="en-US" sz="1576" b="true">
                <a:solidFill>
                  <a:srgbClr val="1F2937"/>
                </a:solidFill>
                <a:latin typeface="Aptos Bold"/>
                <a:ea typeface="Aptos Bold"/>
                <a:cs typeface="Aptos Bold"/>
                <a:sym typeface="Aptos Bold"/>
              </a:rPr>
              <a:t>Avg Freight / Move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Per-movement freight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187377" y="6964480"/>
            <a:ext cx="3931177" cy="1391736"/>
            <a:chOff x="0" y="0"/>
            <a:chExt cx="5241569" cy="185564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41544" cy="1855597"/>
            </a:xfrm>
            <a:custGeom>
              <a:avLst/>
              <a:gdLst/>
              <a:ahLst/>
              <a:cxnLst/>
              <a:rect r="r" b="b" t="t" l="l"/>
              <a:pathLst>
                <a:path h="1855597" w="5241544">
                  <a:moveTo>
                    <a:pt x="0" y="309245"/>
                  </a:moveTo>
                  <a:cubicBezTo>
                    <a:pt x="0" y="138430"/>
                    <a:pt x="138430" y="0"/>
                    <a:pt x="309245" y="0"/>
                  </a:cubicBezTo>
                  <a:lnTo>
                    <a:pt x="4932299" y="0"/>
                  </a:lnTo>
                  <a:cubicBezTo>
                    <a:pt x="5103114" y="0"/>
                    <a:pt x="5241544" y="138430"/>
                    <a:pt x="5241544" y="309245"/>
                  </a:cubicBezTo>
                  <a:lnTo>
                    <a:pt x="5241544" y="1546352"/>
                  </a:lnTo>
                  <a:cubicBezTo>
                    <a:pt x="5241544" y="1717167"/>
                    <a:pt x="5103114" y="1855597"/>
                    <a:pt x="4932299" y="1855597"/>
                  </a:cubicBezTo>
                  <a:lnTo>
                    <a:pt x="309245" y="1855597"/>
                  </a:lnTo>
                  <a:cubicBezTo>
                    <a:pt x="138430" y="1855597"/>
                    <a:pt x="0" y="1717167"/>
                    <a:pt x="0" y="154635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9196902" y="6974014"/>
            <a:ext cx="109814" cy="1372676"/>
            <a:chOff x="0" y="0"/>
            <a:chExt cx="146418" cy="183023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31" cy="1830197"/>
            </a:xfrm>
            <a:custGeom>
              <a:avLst/>
              <a:gdLst/>
              <a:ahLst/>
              <a:cxnLst/>
              <a:rect r="r" b="b" t="t" l="l"/>
              <a:pathLst>
                <a:path h="1830197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805813"/>
                  </a:lnTo>
                  <a:cubicBezTo>
                    <a:pt x="146431" y="1819275"/>
                    <a:pt x="135509" y="1830197"/>
                    <a:pt x="122047" y="1830197"/>
                  </a:cubicBezTo>
                  <a:lnTo>
                    <a:pt x="24384" y="1830197"/>
                  </a:lnTo>
                  <a:cubicBezTo>
                    <a:pt x="10922" y="1830197"/>
                    <a:pt x="0" y="1819275"/>
                    <a:pt x="0" y="1805813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9416529" y="7111279"/>
            <a:ext cx="3582676" cy="109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2"/>
              </a:lnSpc>
            </a:pPr>
            <a:r>
              <a:rPr lang="en-US" sz="3152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55K Reviews</a:t>
            </a:r>
          </a:p>
          <a:p>
            <a:pPr algn="l">
              <a:lnSpc>
                <a:spcPts val="1891"/>
              </a:lnSpc>
            </a:pPr>
            <a:r>
              <a:rPr lang="en-US" sz="1576" b="true">
                <a:solidFill>
                  <a:srgbClr val="1F2937"/>
                </a:solidFill>
                <a:latin typeface="Aptos Bold"/>
                <a:ea typeface="Aptos Bold"/>
                <a:cs typeface="Aptos Bold"/>
                <a:sym typeface="Aptos Bold"/>
              </a:rPr>
              <a:t>Total Customer Reviews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Rating population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3374024" y="6964480"/>
            <a:ext cx="4068451" cy="1391736"/>
            <a:chOff x="0" y="0"/>
            <a:chExt cx="5424602" cy="185564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424551" cy="1855597"/>
            </a:xfrm>
            <a:custGeom>
              <a:avLst/>
              <a:gdLst/>
              <a:ahLst/>
              <a:cxnLst/>
              <a:rect r="r" b="b" t="t" l="l"/>
              <a:pathLst>
                <a:path h="1855597" w="5424551">
                  <a:moveTo>
                    <a:pt x="0" y="309245"/>
                  </a:moveTo>
                  <a:cubicBezTo>
                    <a:pt x="0" y="138430"/>
                    <a:pt x="138430" y="0"/>
                    <a:pt x="309245" y="0"/>
                  </a:cubicBezTo>
                  <a:lnTo>
                    <a:pt x="5115306" y="0"/>
                  </a:lnTo>
                  <a:cubicBezTo>
                    <a:pt x="5286121" y="0"/>
                    <a:pt x="5424551" y="138430"/>
                    <a:pt x="5424551" y="309245"/>
                  </a:cubicBezTo>
                  <a:lnTo>
                    <a:pt x="5424551" y="1546352"/>
                  </a:lnTo>
                  <a:cubicBezTo>
                    <a:pt x="5424551" y="1717167"/>
                    <a:pt x="5286121" y="1855597"/>
                    <a:pt x="5115306" y="1855597"/>
                  </a:cubicBezTo>
                  <a:lnTo>
                    <a:pt x="309245" y="1855597"/>
                  </a:lnTo>
                  <a:cubicBezTo>
                    <a:pt x="138430" y="1855597"/>
                    <a:pt x="0" y="1717167"/>
                    <a:pt x="0" y="154635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3383558" y="6974014"/>
            <a:ext cx="109814" cy="1372676"/>
            <a:chOff x="0" y="0"/>
            <a:chExt cx="146418" cy="183023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6431" cy="1830197"/>
            </a:xfrm>
            <a:custGeom>
              <a:avLst/>
              <a:gdLst/>
              <a:ahLst/>
              <a:cxnLst/>
              <a:rect r="r" b="b" t="t" l="l"/>
              <a:pathLst>
                <a:path h="1830197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805813"/>
                  </a:lnTo>
                  <a:cubicBezTo>
                    <a:pt x="146431" y="1819275"/>
                    <a:pt x="135509" y="1830197"/>
                    <a:pt x="122047" y="1830197"/>
                  </a:cubicBezTo>
                  <a:lnTo>
                    <a:pt x="24384" y="1830197"/>
                  </a:lnTo>
                  <a:cubicBezTo>
                    <a:pt x="10922" y="1830197"/>
                    <a:pt x="0" y="1819275"/>
                    <a:pt x="0" y="1805813"/>
                  </a:cubicBezTo>
                  <a:close/>
                </a:path>
              </a:pathLst>
            </a:custGeom>
            <a:solidFill>
              <a:srgbClr val="16A34A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3603186" y="7111279"/>
            <a:ext cx="3719941" cy="109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2"/>
              </a:lnSpc>
            </a:pPr>
            <a:r>
              <a:rPr lang="en-US" sz="3152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4.07 / 5.0</a:t>
            </a:r>
          </a:p>
          <a:p>
            <a:pPr algn="l">
              <a:lnSpc>
                <a:spcPts val="1891"/>
              </a:lnSpc>
            </a:pPr>
            <a:r>
              <a:rPr lang="en-US" sz="1576" b="true">
                <a:solidFill>
                  <a:srgbClr val="1F2937"/>
                </a:solidFill>
                <a:latin typeface="Aptos Bold"/>
                <a:ea typeface="Aptos Bold"/>
                <a:cs typeface="Aptos Bold"/>
                <a:sym typeface="Aptos Bold"/>
              </a:rPr>
              <a:t>Avg Review Score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57.97% 5-star ratings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814073" y="8489566"/>
            <a:ext cx="8117834" cy="1124769"/>
            <a:chOff x="0" y="0"/>
            <a:chExt cx="10823778" cy="149969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823828" cy="1499743"/>
            </a:xfrm>
            <a:custGeom>
              <a:avLst/>
              <a:gdLst/>
              <a:ahLst/>
              <a:cxnLst/>
              <a:rect r="r" b="b" t="t" l="l"/>
              <a:pathLst>
                <a:path h="1499743" w="10823828">
                  <a:moveTo>
                    <a:pt x="0" y="249981"/>
                  </a:moveTo>
                  <a:cubicBezTo>
                    <a:pt x="0" y="111844"/>
                    <a:pt x="104267" y="0"/>
                    <a:pt x="233045" y="0"/>
                  </a:cubicBezTo>
                  <a:lnTo>
                    <a:pt x="10590784" y="0"/>
                  </a:lnTo>
                  <a:cubicBezTo>
                    <a:pt x="10719435" y="0"/>
                    <a:pt x="10823828" y="111844"/>
                    <a:pt x="10823828" y="249981"/>
                  </a:cubicBezTo>
                  <a:lnTo>
                    <a:pt x="10823828" y="1249766"/>
                  </a:lnTo>
                  <a:cubicBezTo>
                    <a:pt x="10823828" y="1387766"/>
                    <a:pt x="10719562" y="1499743"/>
                    <a:pt x="10590784" y="1499743"/>
                  </a:cubicBezTo>
                  <a:lnTo>
                    <a:pt x="233045" y="1499743"/>
                  </a:lnTo>
                  <a:cubicBezTo>
                    <a:pt x="104267" y="1499743"/>
                    <a:pt x="0" y="1387766"/>
                    <a:pt x="0" y="1249766"/>
                  </a:cubicBezTo>
                  <a:close/>
                </a:path>
              </a:pathLst>
            </a:custGeom>
            <a:solidFill>
              <a:srgbClr val="F8FAFC"/>
            </a:solidFill>
            <a:ln w="19065" cap="sq">
              <a:solidFill>
                <a:srgbClr val="CBD5E1"/>
              </a:solidFill>
              <a:prstDash val="solid"/>
              <a:miter/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1043235" y="8603866"/>
            <a:ext cx="7659510" cy="30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0F766E"/>
                </a:solidFill>
                <a:latin typeface="Aptos Bold"/>
                <a:ea typeface="Aptos Bold"/>
                <a:cs typeface="Aptos Bold"/>
                <a:sym typeface="Aptos Bold"/>
              </a:rPr>
              <a:t>TRANSPORTATION DAX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43235" y="8905856"/>
            <a:ext cx="7659510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Total Freight Cost = SUM('Table'[freight_value])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Average Freight Cost = AVERAGE('Table'[freight_value])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Average Product Price = AVERAGE('Table'[price])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324642" y="8489566"/>
            <a:ext cx="8117834" cy="1124769"/>
            <a:chOff x="0" y="0"/>
            <a:chExt cx="10823778" cy="149969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823828" cy="1499743"/>
            </a:xfrm>
            <a:custGeom>
              <a:avLst/>
              <a:gdLst/>
              <a:ahLst/>
              <a:cxnLst/>
              <a:rect r="r" b="b" t="t" l="l"/>
              <a:pathLst>
                <a:path h="1499743" w="10823828">
                  <a:moveTo>
                    <a:pt x="0" y="249981"/>
                  </a:moveTo>
                  <a:cubicBezTo>
                    <a:pt x="0" y="111844"/>
                    <a:pt x="104267" y="0"/>
                    <a:pt x="233045" y="0"/>
                  </a:cubicBezTo>
                  <a:lnTo>
                    <a:pt x="10590784" y="0"/>
                  </a:lnTo>
                  <a:cubicBezTo>
                    <a:pt x="10719435" y="0"/>
                    <a:pt x="10823828" y="111844"/>
                    <a:pt x="10823828" y="249981"/>
                  </a:cubicBezTo>
                  <a:lnTo>
                    <a:pt x="10823828" y="1249766"/>
                  </a:lnTo>
                  <a:cubicBezTo>
                    <a:pt x="10823828" y="1387766"/>
                    <a:pt x="10719562" y="1499743"/>
                    <a:pt x="10590784" y="1499743"/>
                  </a:cubicBezTo>
                  <a:lnTo>
                    <a:pt x="233045" y="1499743"/>
                  </a:lnTo>
                  <a:cubicBezTo>
                    <a:pt x="104267" y="1499743"/>
                    <a:pt x="0" y="1387766"/>
                    <a:pt x="0" y="1249766"/>
                  </a:cubicBezTo>
                  <a:close/>
                </a:path>
              </a:pathLst>
            </a:custGeom>
            <a:solidFill>
              <a:srgbClr val="F8FAFC"/>
            </a:solidFill>
            <a:ln w="19065" cap="sq">
              <a:solidFill>
                <a:srgbClr val="CBD5E1"/>
              </a:solidFill>
              <a:prstDash val="solid"/>
              <a:miter/>
            </a:ln>
          </p:spPr>
        </p:sp>
      </p:grpSp>
      <p:sp>
        <p:nvSpPr>
          <p:cNvPr name="TextBox 38" id="38"/>
          <p:cNvSpPr txBox="true"/>
          <p:nvPr/>
        </p:nvSpPr>
        <p:spPr>
          <a:xfrm rot="0">
            <a:off x="9553804" y="8603866"/>
            <a:ext cx="7659510" cy="30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0F766E"/>
                </a:solidFill>
                <a:latin typeface="Aptos Bold"/>
                <a:ea typeface="Aptos Bold"/>
                <a:cs typeface="Aptos Bold"/>
                <a:sym typeface="Aptos Bold"/>
              </a:rPr>
              <a:t>CUSTOMER EXPERIENCE DAX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553804" y="8905856"/>
            <a:ext cx="7659510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Total Reviews = DISTINCTCOUNT('Table'[review_id])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Average Review Score = AVERAGE('Table'[review_score])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Total Order Value = SUM('Table'[payment_value])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823608" y="9677343"/>
            <a:ext cx="16654634" cy="20593"/>
            <a:chOff x="0" y="0"/>
            <a:chExt cx="22206179" cy="2745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2206204" cy="27432"/>
            </a:xfrm>
            <a:custGeom>
              <a:avLst/>
              <a:gdLst/>
              <a:ahLst/>
              <a:cxnLst/>
              <a:rect r="r" b="b" t="t" l="l"/>
              <a:pathLst>
                <a:path h="27432" w="22206204">
                  <a:moveTo>
                    <a:pt x="0" y="0"/>
                  </a:moveTo>
                  <a:lnTo>
                    <a:pt x="22206204" y="0"/>
                  </a:lnTo>
                  <a:lnTo>
                    <a:pt x="22206204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D8E3F0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823608" y="9773431"/>
            <a:ext cx="5490686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Slide 18 of 20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987546" y="9773431"/>
            <a:ext cx="5490686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11"/>
              </a:lnSpc>
            </a:pPr>
            <a:r>
              <a:rPr lang="en-US" sz="1426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Final Project Presentation | M1-M4 Complete Journey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9814"/>
            <a:chOff x="0" y="0"/>
            <a:chExt cx="24402453" cy="146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46431"/>
            </a:xfrm>
            <a:custGeom>
              <a:avLst/>
              <a:gdLst/>
              <a:ahLst/>
              <a:cxnLst/>
              <a:rect r="r" b="b" t="t" l="l"/>
              <a:pathLst>
                <a:path h="14643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00B09B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23608" y="301990"/>
            <a:ext cx="10981382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0F766E"/>
                </a:solidFill>
                <a:latin typeface="Aptos Bold"/>
                <a:ea typeface="Aptos Bold"/>
                <a:cs typeface="Aptos Bold"/>
                <a:sym typeface="Aptos Bold"/>
              </a:rPr>
              <a:t>SUPPLY CHAIN VISIBILITY &amp; OPTIMISATION  -  MILESTONE 4 - TEAM 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23608" y="754971"/>
            <a:ext cx="10981382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0F766E"/>
                </a:solidFill>
                <a:latin typeface="Aptos Bold"/>
                <a:ea typeface="Aptos Bold"/>
                <a:cs typeface="Aptos Bold"/>
                <a:sym typeface="Aptos Bold"/>
              </a:rPr>
              <a:t>STRATEGIC GOVERNANCE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23608" y="1230363"/>
            <a:ext cx="1647206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End-to-End Strategic Insights &amp; Recommendations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3608" y="1825734"/>
            <a:ext cx="1647206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Translating analytical milestones into an executive operating cadence for sustainable supply chain optimization.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30252" y="2282940"/>
            <a:ext cx="1509337" cy="1125138"/>
            <a:chOff x="0" y="0"/>
            <a:chExt cx="2013255" cy="150078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13331" cy="1500886"/>
            </a:xfrm>
            <a:custGeom>
              <a:avLst/>
              <a:gdLst/>
              <a:ahLst/>
              <a:cxnLst/>
              <a:rect r="r" b="b" t="t" l="l"/>
              <a:pathLst>
                <a:path h="1500886" w="2013331">
                  <a:moveTo>
                    <a:pt x="0" y="250190"/>
                  </a:moveTo>
                  <a:cubicBezTo>
                    <a:pt x="0" y="112014"/>
                    <a:pt x="112014" y="0"/>
                    <a:pt x="250190" y="0"/>
                  </a:cubicBezTo>
                  <a:lnTo>
                    <a:pt x="1763141" y="0"/>
                  </a:lnTo>
                  <a:cubicBezTo>
                    <a:pt x="1901317" y="0"/>
                    <a:pt x="2013331" y="112014"/>
                    <a:pt x="2013331" y="250190"/>
                  </a:cubicBezTo>
                  <a:lnTo>
                    <a:pt x="2013331" y="1250696"/>
                  </a:lnTo>
                  <a:cubicBezTo>
                    <a:pt x="2013331" y="1388872"/>
                    <a:pt x="1901317" y="1500886"/>
                    <a:pt x="1763141" y="1500886"/>
                  </a:cubicBezTo>
                  <a:lnTo>
                    <a:pt x="250190" y="1500886"/>
                  </a:lnTo>
                  <a:cubicBezTo>
                    <a:pt x="112014" y="1500759"/>
                    <a:pt x="0" y="1388745"/>
                    <a:pt x="0" y="1250696"/>
                  </a:cubicBezTo>
                  <a:close/>
                </a:path>
              </a:pathLst>
            </a:custGeom>
            <a:solidFill>
              <a:srgbClr val="DC2626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30252" y="2731250"/>
            <a:ext cx="1509337" cy="228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HIGH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2535879" y="2273409"/>
            <a:ext cx="14906597" cy="1144200"/>
            <a:chOff x="0" y="0"/>
            <a:chExt cx="19883412" cy="15262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883374" cy="1526286"/>
            </a:xfrm>
            <a:custGeom>
              <a:avLst/>
              <a:gdLst/>
              <a:ahLst/>
              <a:cxnLst/>
              <a:rect r="r" b="b" t="t" l="l"/>
              <a:pathLst>
                <a:path h="1526286" w="19883374">
                  <a:moveTo>
                    <a:pt x="0" y="254381"/>
                  </a:moveTo>
                  <a:cubicBezTo>
                    <a:pt x="0" y="113919"/>
                    <a:pt x="113919" y="0"/>
                    <a:pt x="254381" y="0"/>
                  </a:cubicBezTo>
                  <a:lnTo>
                    <a:pt x="19628993" y="0"/>
                  </a:lnTo>
                  <a:cubicBezTo>
                    <a:pt x="19769455" y="0"/>
                    <a:pt x="19883374" y="113919"/>
                    <a:pt x="19883374" y="254381"/>
                  </a:cubicBezTo>
                  <a:lnTo>
                    <a:pt x="19883374" y="1271905"/>
                  </a:lnTo>
                  <a:cubicBezTo>
                    <a:pt x="19883374" y="1412367"/>
                    <a:pt x="19769455" y="1526286"/>
                    <a:pt x="19628993" y="1526286"/>
                  </a:cubicBezTo>
                  <a:lnTo>
                    <a:pt x="254381" y="1526286"/>
                  </a:lnTo>
                  <a:cubicBezTo>
                    <a:pt x="113919" y="1526159"/>
                    <a:pt x="0" y="1412367"/>
                    <a:pt x="0" y="1271778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2545400" y="2282940"/>
            <a:ext cx="109770" cy="1125138"/>
            <a:chOff x="0" y="0"/>
            <a:chExt cx="146418" cy="150078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431" cy="1500759"/>
            </a:xfrm>
            <a:custGeom>
              <a:avLst/>
              <a:gdLst/>
              <a:ahLst/>
              <a:cxnLst/>
              <a:rect r="r" b="b" t="t" l="l"/>
              <a:pathLst>
                <a:path h="1500759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476375"/>
                  </a:lnTo>
                  <a:cubicBezTo>
                    <a:pt x="146431" y="1489837"/>
                    <a:pt x="135509" y="1500759"/>
                    <a:pt x="122047" y="1500759"/>
                  </a:cubicBezTo>
                  <a:lnTo>
                    <a:pt x="24384" y="1500759"/>
                  </a:lnTo>
                  <a:cubicBezTo>
                    <a:pt x="10922" y="1500759"/>
                    <a:pt x="0" y="1489837"/>
                    <a:pt x="0" y="1476375"/>
                  </a:cubicBezTo>
                  <a:close/>
                </a:path>
              </a:pathLst>
            </a:custGeom>
            <a:solidFill>
              <a:srgbClr val="DC2626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2819829" y="2475030"/>
            <a:ext cx="14407296" cy="740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Supplier Performance Remediation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Establish monthly governance reviews targeting the 109 sellers in Watchlist (52) and Needs Improvement (57). Enforce corrective action plans on the weakest individual quartile metric (Speed, Freight, or Reliability).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30252" y="3579678"/>
            <a:ext cx="1509337" cy="1125138"/>
            <a:chOff x="0" y="0"/>
            <a:chExt cx="2013255" cy="150078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13331" cy="1500886"/>
            </a:xfrm>
            <a:custGeom>
              <a:avLst/>
              <a:gdLst/>
              <a:ahLst/>
              <a:cxnLst/>
              <a:rect r="r" b="b" t="t" l="l"/>
              <a:pathLst>
                <a:path h="1500886" w="2013331">
                  <a:moveTo>
                    <a:pt x="0" y="250190"/>
                  </a:moveTo>
                  <a:cubicBezTo>
                    <a:pt x="0" y="112014"/>
                    <a:pt x="112014" y="0"/>
                    <a:pt x="250190" y="0"/>
                  </a:cubicBezTo>
                  <a:lnTo>
                    <a:pt x="1763141" y="0"/>
                  </a:lnTo>
                  <a:cubicBezTo>
                    <a:pt x="1901317" y="0"/>
                    <a:pt x="2013331" y="112014"/>
                    <a:pt x="2013331" y="250190"/>
                  </a:cubicBezTo>
                  <a:lnTo>
                    <a:pt x="2013331" y="1250696"/>
                  </a:lnTo>
                  <a:cubicBezTo>
                    <a:pt x="2013331" y="1388872"/>
                    <a:pt x="1901317" y="1500886"/>
                    <a:pt x="1763141" y="1500886"/>
                  </a:cubicBezTo>
                  <a:lnTo>
                    <a:pt x="250190" y="1500886"/>
                  </a:lnTo>
                  <a:cubicBezTo>
                    <a:pt x="112014" y="1500759"/>
                    <a:pt x="0" y="1388745"/>
                    <a:pt x="0" y="1250696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830252" y="4058260"/>
            <a:ext cx="1509337" cy="228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HIGH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2535879" y="3570147"/>
            <a:ext cx="14906597" cy="1144200"/>
            <a:chOff x="0" y="0"/>
            <a:chExt cx="19883412" cy="152621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883374" cy="1526286"/>
            </a:xfrm>
            <a:custGeom>
              <a:avLst/>
              <a:gdLst/>
              <a:ahLst/>
              <a:cxnLst/>
              <a:rect r="r" b="b" t="t" l="l"/>
              <a:pathLst>
                <a:path h="1526286" w="19883374">
                  <a:moveTo>
                    <a:pt x="0" y="254381"/>
                  </a:moveTo>
                  <a:cubicBezTo>
                    <a:pt x="0" y="113919"/>
                    <a:pt x="113919" y="0"/>
                    <a:pt x="254381" y="0"/>
                  </a:cubicBezTo>
                  <a:lnTo>
                    <a:pt x="19628993" y="0"/>
                  </a:lnTo>
                  <a:cubicBezTo>
                    <a:pt x="19769455" y="0"/>
                    <a:pt x="19883374" y="113919"/>
                    <a:pt x="19883374" y="254381"/>
                  </a:cubicBezTo>
                  <a:lnTo>
                    <a:pt x="19883374" y="1271905"/>
                  </a:lnTo>
                  <a:cubicBezTo>
                    <a:pt x="19883374" y="1412367"/>
                    <a:pt x="19769455" y="1526286"/>
                    <a:pt x="19628993" y="1526286"/>
                  </a:cubicBezTo>
                  <a:lnTo>
                    <a:pt x="254381" y="1526286"/>
                  </a:lnTo>
                  <a:cubicBezTo>
                    <a:pt x="113919" y="1526159"/>
                    <a:pt x="0" y="1412367"/>
                    <a:pt x="0" y="1271778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2545400" y="3579678"/>
            <a:ext cx="109770" cy="1125138"/>
            <a:chOff x="0" y="0"/>
            <a:chExt cx="146418" cy="150078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6431" cy="1500759"/>
            </a:xfrm>
            <a:custGeom>
              <a:avLst/>
              <a:gdLst/>
              <a:ahLst/>
              <a:cxnLst/>
              <a:rect r="r" b="b" t="t" l="l"/>
              <a:pathLst>
                <a:path h="1500759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476375"/>
                  </a:lnTo>
                  <a:cubicBezTo>
                    <a:pt x="146431" y="1489837"/>
                    <a:pt x="135509" y="1500759"/>
                    <a:pt x="122047" y="1500759"/>
                  </a:cubicBezTo>
                  <a:lnTo>
                    <a:pt x="24384" y="1500759"/>
                  </a:lnTo>
                  <a:cubicBezTo>
                    <a:pt x="10922" y="1500759"/>
                    <a:pt x="0" y="1489837"/>
                    <a:pt x="0" y="1476375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2819829" y="3771768"/>
            <a:ext cx="14407296" cy="740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Route Exception Management Workflow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Deploy automated trigger alerts for shipments exceeding distance-specific lead time thresholds. Establish dedicated escalation protocols for extreme outlier orders (&gt;60 days in transit).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30252" y="4885802"/>
            <a:ext cx="1509337" cy="1125138"/>
            <a:chOff x="0" y="0"/>
            <a:chExt cx="2013255" cy="150078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13331" cy="1500886"/>
            </a:xfrm>
            <a:custGeom>
              <a:avLst/>
              <a:gdLst/>
              <a:ahLst/>
              <a:cxnLst/>
              <a:rect r="r" b="b" t="t" l="l"/>
              <a:pathLst>
                <a:path h="1500886" w="2013331">
                  <a:moveTo>
                    <a:pt x="0" y="250190"/>
                  </a:moveTo>
                  <a:cubicBezTo>
                    <a:pt x="0" y="112014"/>
                    <a:pt x="112014" y="0"/>
                    <a:pt x="250190" y="0"/>
                  </a:cubicBezTo>
                  <a:lnTo>
                    <a:pt x="1763141" y="0"/>
                  </a:lnTo>
                  <a:cubicBezTo>
                    <a:pt x="1901317" y="0"/>
                    <a:pt x="2013331" y="112014"/>
                    <a:pt x="2013331" y="250190"/>
                  </a:cubicBezTo>
                  <a:lnTo>
                    <a:pt x="2013331" y="1250696"/>
                  </a:lnTo>
                  <a:cubicBezTo>
                    <a:pt x="2013331" y="1388872"/>
                    <a:pt x="1901317" y="1500886"/>
                    <a:pt x="1763141" y="1500886"/>
                  </a:cubicBezTo>
                  <a:lnTo>
                    <a:pt x="250190" y="1500886"/>
                  </a:lnTo>
                  <a:cubicBezTo>
                    <a:pt x="112014" y="1500759"/>
                    <a:pt x="0" y="1388745"/>
                    <a:pt x="0" y="1250696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830252" y="5364385"/>
            <a:ext cx="1509337" cy="228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HIGH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2535879" y="4876272"/>
            <a:ext cx="14906597" cy="1144200"/>
            <a:chOff x="0" y="0"/>
            <a:chExt cx="19883412" cy="152621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9883374" cy="1526286"/>
            </a:xfrm>
            <a:custGeom>
              <a:avLst/>
              <a:gdLst/>
              <a:ahLst/>
              <a:cxnLst/>
              <a:rect r="r" b="b" t="t" l="l"/>
              <a:pathLst>
                <a:path h="1526286" w="19883374">
                  <a:moveTo>
                    <a:pt x="0" y="254381"/>
                  </a:moveTo>
                  <a:cubicBezTo>
                    <a:pt x="0" y="113919"/>
                    <a:pt x="113919" y="0"/>
                    <a:pt x="254381" y="0"/>
                  </a:cubicBezTo>
                  <a:lnTo>
                    <a:pt x="19628993" y="0"/>
                  </a:lnTo>
                  <a:cubicBezTo>
                    <a:pt x="19769455" y="0"/>
                    <a:pt x="19883374" y="113919"/>
                    <a:pt x="19883374" y="254381"/>
                  </a:cubicBezTo>
                  <a:lnTo>
                    <a:pt x="19883374" y="1271905"/>
                  </a:lnTo>
                  <a:cubicBezTo>
                    <a:pt x="19883374" y="1412367"/>
                    <a:pt x="19769455" y="1526286"/>
                    <a:pt x="19628993" y="1526286"/>
                  </a:cubicBezTo>
                  <a:lnTo>
                    <a:pt x="254381" y="1526286"/>
                  </a:lnTo>
                  <a:cubicBezTo>
                    <a:pt x="113919" y="1526159"/>
                    <a:pt x="0" y="1412367"/>
                    <a:pt x="0" y="1271778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2545400" y="4885802"/>
            <a:ext cx="109770" cy="1125138"/>
            <a:chOff x="0" y="0"/>
            <a:chExt cx="146418" cy="150078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6431" cy="1500759"/>
            </a:xfrm>
            <a:custGeom>
              <a:avLst/>
              <a:gdLst/>
              <a:ahLst/>
              <a:cxnLst/>
              <a:rect r="r" b="b" t="t" l="l"/>
              <a:pathLst>
                <a:path h="1500759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476375"/>
                  </a:lnTo>
                  <a:cubicBezTo>
                    <a:pt x="146431" y="1489837"/>
                    <a:pt x="135509" y="1500759"/>
                    <a:pt x="122047" y="1500759"/>
                  </a:cubicBezTo>
                  <a:lnTo>
                    <a:pt x="24384" y="1500759"/>
                  </a:lnTo>
                  <a:cubicBezTo>
                    <a:pt x="10922" y="1500759"/>
                    <a:pt x="0" y="1489837"/>
                    <a:pt x="0" y="1476375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2819829" y="5077892"/>
            <a:ext cx="14407296" cy="740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Freight Cost Rationalization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Re-negotiate regional carrier rates in high-spend destination hubs (RJ at R$ 137.94K and MG). Scrutinize catalog items where freight cost represents an excessively high percentage of product retail value.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830252" y="6191917"/>
            <a:ext cx="1509337" cy="1125138"/>
            <a:chOff x="0" y="0"/>
            <a:chExt cx="2013255" cy="150078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013331" cy="1500886"/>
            </a:xfrm>
            <a:custGeom>
              <a:avLst/>
              <a:gdLst/>
              <a:ahLst/>
              <a:cxnLst/>
              <a:rect r="r" b="b" t="t" l="l"/>
              <a:pathLst>
                <a:path h="1500886" w="2013331">
                  <a:moveTo>
                    <a:pt x="0" y="250190"/>
                  </a:moveTo>
                  <a:cubicBezTo>
                    <a:pt x="0" y="112014"/>
                    <a:pt x="112014" y="0"/>
                    <a:pt x="250190" y="0"/>
                  </a:cubicBezTo>
                  <a:lnTo>
                    <a:pt x="1763141" y="0"/>
                  </a:lnTo>
                  <a:cubicBezTo>
                    <a:pt x="1901317" y="0"/>
                    <a:pt x="2013331" y="112014"/>
                    <a:pt x="2013331" y="250190"/>
                  </a:cubicBezTo>
                  <a:lnTo>
                    <a:pt x="2013331" y="1250696"/>
                  </a:lnTo>
                  <a:cubicBezTo>
                    <a:pt x="2013331" y="1388872"/>
                    <a:pt x="1901317" y="1500886"/>
                    <a:pt x="1763141" y="1500886"/>
                  </a:cubicBezTo>
                  <a:lnTo>
                    <a:pt x="250190" y="1500886"/>
                  </a:lnTo>
                  <a:cubicBezTo>
                    <a:pt x="112014" y="1500759"/>
                    <a:pt x="0" y="1388745"/>
                    <a:pt x="0" y="1250696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830252" y="6640232"/>
            <a:ext cx="1509337" cy="228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MEDIUM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2535879" y="6182396"/>
            <a:ext cx="14906597" cy="1144200"/>
            <a:chOff x="0" y="0"/>
            <a:chExt cx="19883412" cy="152621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9883374" cy="1526286"/>
            </a:xfrm>
            <a:custGeom>
              <a:avLst/>
              <a:gdLst/>
              <a:ahLst/>
              <a:cxnLst/>
              <a:rect r="r" b="b" t="t" l="l"/>
              <a:pathLst>
                <a:path h="1526286" w="19883374">
                  <a:moveTo>
                    <a:pt x="0" y="254381"/>
                  </a:moveTo>
                  <a:cubicBezTo>
                    <a:pt x="0" y="113919"/>
                    <a:pt x="113919" y="0"/>
                    <a:pt x="254381" y="0"/>
                  </a:cubicBezTo>
                  <a:lnTo>
                    <a:pt x="19628993" y="0"/>
                  </a:lnTo>
                  <a:cubicBezTo>
                    <a:pt x="19769455" y="0"/>
                    <a:pt x="19883374" y="113919"/>
                    <a:pt x="19883374" y="254381"/>
                  </a:cubicBezTo>
                  <a:lnTo>
                    <a:pt x="19883374" y="1271905"/>
                  </a:lnTo>
                  <a:cubicBezTo>
                    <a:pt x="19883374" y="1412367"/>
                    <a:pt x="19769455" y="1526286"/>
                    <a:pt x="19628993" y="1526286"/>
                  </a:cubicBezTo>
                  <a:lnTo>
                    <a:pt x="254381" y="1526286"/>
                  </a:lnTo>
                  <a:cubicBezTo>
                    <a:pt x="113919" y="1526159"/>
                    <a:pt x="0" y="1412367"/>
                    <a:pt x="0" y="1271778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2545400" y="6191917"/>
            <a:ext cx="109770" cy="1125138"/>
            <a:chOff x="0" y="0"/>
            <a:chExt cx="146418" cy="150078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46431" cy="1500759"/>
            </a:xfrm>
            <a:custGeom>
              <a:avLst/>
              <a:gdLst/>
              <a:ahLst/>
              <a:cxnLst/>
              <a:rect r="r" b="b" t="t" l="l"/>
              <a:pathLst>
                <a:path h="1500759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476375"/>
                  </a:lnTo>
                  <a:cubicBezTo>
                    <a:pt x="146431" y="1489837"/>
                    <a:pt x="135509" y="1500759"/>
                    <a:pt x="122047" y="1500759"/>
                  </a:cubicBezTo>
                  <a:lnTo>
                    <a:pt x="24384" y="1500759"/>
                  </a:lnTo>
                  <a:cubicBezTo>
                    <a:pt x="10922" y="1500759"/>
                    <a:pt x="0" y="1489837"/>
                    <a:pt x="0" y="1476375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2819829" y="6384017"/>
            <a:ext cx="14407296" cy="740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Distance-Tiered Customer Delivery SLAs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Replace monolithic countrywide estimated delivery dates with dynamic distance-band SLAs (e.g., 0-100km, 101-500km, 500-1000km, 1000km+) to prevent false delay alarms and improve customer satisfaction.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830252" y="7488517"/>
            <a:ext cx="1509337" cy="1125138"/>
            <a:chOff x="0" y="0"/>
            <a:chExt cx="2013255" cy="150078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013331" cy="1500886"/>
            </a:xfrm>
            <a:custGeom>
              <a:avLst/>
              <a:gdLst/>
              <a:ahLst/>
              <a:cxnLst/>
              <a:rect r="r" b="b" t="t" l="l"/>
              <a:pathLst>
                <a:path h="1500886" w="2013331">
                  <a:moveTo>
                    <a:pt x="0" y="250190"/>
                  </a:moveTo>
                  <a:cubicBezTo>
                    <a:pt x="0" y="112014"/>
                    <a:pt x="112014" y="0"/>
                    <a:pt x="250190" y="0"/>
                  </a:cubicBezTo>
                  <a:lnTo>
                    <a:pt x="1763141" y="0"/>
                  </a:lnTo>
                  <a:cubicBezTo>
                    <a:pt x="1901317" y="0"/>
                    <a:pt x="2013331" y="112014"/>
                    <a:pt x="2013331" y="250190"/>
                  </a:cubicBezTo>
                  <a:lnTo>
                    <a:pt x="2013331" y="1250696"/>
                  </a:lnTo>
                  <a:cubicBezTo>
                    <a:pt x="2013331" y="1388872"/>
                    <a:pt x="1901317" y="1500886"/>
                    <a:pt x="1763141" y="1500886"/>
                  </a:cubicBezTo>
                  <a:lnTo>
                    <a:pt x="250190" y="1500886"/>
                  </a:lnTo>
                  <a:cubicBezTo>
                    <a:pt x="112014" y="1500759"/>
                    <a:pt x="0" y="1388745"/>
                    <a:pt x="0" y="1250696"/>
                  </a:cubicBezTo>
                  <a:close/>
                </a:path>
              </a:pathLst>
            </a:custGeom>
            <a:solidFill>
              <a:srgbClr val="00B09B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830252" y="7967100"/>
            <a:ext cx="1509337" cy="228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MEDIUM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2535879" y="7478996"/>
            <a:ext cx="14906597" cy="1144200"/>
            <a:chOff x="0" y="0"/>
            <a:chExt cx="19883412" cy="152621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9883374" cy="1526286"/>
            </a:xfrm>
            <a:custGeom>
              <a:avLst/>
              <a:gdLst/>
              <a:ahLst/>
              <a:cxnLst/>
              <a:rect r="r" b="b" t="t" l="l"/>
              <a:pathLst>
                <a:path h="1526286" w="19883374">
                  <a:moveTo>
                    <a:pt x="0" y="254381"/>
                  </a:moveTo>
                  <a:cubicBezTo>
                    <a:pt x="0" y="113919"/>
                    <a:pt x="113919" y="0"/>
                    <a:pt x="254381" y="0"/>
                  </a:cubicBezTo>
                  <a:lnTo>
                    <a:pt x="19628993" y="0"/>
                  </a:lnTo>
                  <a:cubicBezTo>
                    <a:pt x="19769455" y="0"/>
                    <a:pt x="19883374" y="113919"/>
                    <a:pt x="19883374" y="254381"/>
                  </a:cubicBezTo>
                  <a:lnTo>
                    <a:pt x="19883374" y="1271905"/>
                  </a:lnTo>
                  <a:cubicBezTo>
                    <a:pt x="19883374" y="1412367"/>
                    <a:pt x="19769455" y="1526286"/>
                    <a:pt x="19628993" y="1526286"/>
                  </a:cubicBezTo>
                  <a:lnTo>
                    <a:pt x="254381" y="1526286"/>
                  </a:lnTo>
                  <a:cubicBezTo>
                    <a:pt x="113919" y="1526159"/>
                    <a:pt x="0" y="1412367"/>
                    <a:pt x="0" y="1271778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2545400" y="7488517"/>
            <a:ext cx="109770" cy="1125138"/>
            <a:chOff x="0" y="0"/>
            <a:chExt cx="146418" cy="150078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46431" cy="1500759"/>
            </a:xfrm>
            <a:custGeom>
              <a:avLst/>
              <a:gdLst/>
              <a:ahLst/>
              <a:cxnLst/>
              <a:rect r="r" b="b" t="t" l="l"/>
              <a:pathLst>
                <a:path h="1500759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476375"/>
                  </a:lnTo>
                  <a:cubicBezTo>
                    <a:pt x="146431" y="1489837"/>
                    <a:pt x="135509" y="1500759"/>
                    <a:pt x="122047" y="1500759"/>
                  </a:cubicBezTo>
                  <a:lnTo>
                    <a:pt x="24384" y="1500759"/>
                  </a:lnTo>
                  <a:cubicBezTo>
                    <a:pt x="10922" y="1500759"/>
                    <a:pt x="0" y="1489837"/>
                    <a:pt x="0" y="1476375"/>
                  </a:cubicBezTo>
                  <a:close/>
                </a:path>
              </a:pathLst>
            </a:custGeom>
            <a:solidFill>
              <a:srgbClr val="00B09B"/>
            </a:solid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2819829" y="7680617"/>
            <a:ext cx="14407296" cy="740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Closed-Loop Customer Experience Loop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Direct customer review feedback into vendor scorecards and carrier SLAs. Prioritize immediate customer service follow-ups whenever actual delivery lags promised date by &gt;3 days.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814073" y="8702891"/>
            <a:ext cx="16628402" cy="898252"/>
            <a:chOff x="0" y="0"/>
            <a:chExt cx="22171203" cy="1197669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2171152" cy="1197633"/>
            </a:xfrm>
            <a:custGeom>
              <a:avLst/>
              <a:gdLst/>
              <a:ahLst/>
              <a:cxnLst/>
              <a:rect r="r" b="b" t="t" l="l"/>
              <a:pathLst>
                <a:path h="1197633" w="22171152">
                  <a:moveTo>
                    <a:pt x="0" y="199576"/>
                  </a:moveTo>
                  <a:cubicBezTo>
                    <a:pt x="0" y="89397"/>
                    <a:pt x="63373" y="0"/>
                    <a:pt x="141478" y="0"/>
                  </a:cubicBezTo>
                  <a:lnTo>
                    <a:pt x="22029674" y="0"/>
                  </a:lnTo>
                  <a:cubicBezTo>
                    <a:pt x="22107779" y="0"/>
                    <a:pt x="22171152" y="89397"/>
                    <a:pt x="22171152" y="199576"/>
                  </a:cubicBezTo>
                  <a:lnTo>
                    <a:pt x="22171152" y="998057"/>
                  </a:lnTo>
                  <a:cubicBezTo>
                    <a:pt x="22171152" y="1108236"/>
                    <a:pt x="22107779" y="1197633"/>
                    <a:pt x="22029674" y="1197633"/>
                  </a:cubicBezTo>
                  <a:lnTo>
                    <a:pt x="141478" y="1197633"/>
                  </a:lnTo>
                  <a:cubicBezTo>
                    <a:pt x="63373" y="1197633"/>
                    <a:pt x="0" y="1108236"/>
                    <a:pt x="0" y="998057"/>
                  </a:cubicBezTo>
                  <a:close/>
                </a:path>
              </a:pathLst>
            </a:custGeom>
            <a:solidFill>
              <a:srgbClr val="F0FDFA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823608" y="8705826"/>
            <a:ext cx="109814" cy="871365"/>
            <a:chOff x="0" y="0"/>
            <a:chExt cx="146418" cy="11618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46431" cy="1161802"/>
            </a:xfrm>
            <a:custGeom>
              <a:avLst/>
              <a:gdLst/>
              <a:ahLst/>
              <a:cxnLst/>
              <a:rect r="r" b="b" t="t" l="l"/>
              <a:pathLst>
                <a:path h="1161802" w="146431">
                  <a:moveTo>
                    <a:pt x="0" y="34397"/>
                  </a:moveTo>
                  <a:cubicBezTo>
                    <a:pt x="0" y="15407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5407"/>
                    <a:pt x="146431" y="34397"/>
                  </a:cubicBezTo>
                  <a:lnTo>
                    <a:pt x="146431" y="1127405"/>
                  </a:lnTo>
                  <a:cubicBezTo>
                    <a:pt x="146431" y="1146395"/>
                    <a:pt x="135509" y="1161802"/>
                    <a:pt x="122047" y="1161802"/>
                  </a:cubicBezTo>
                  <a:lnTo>
                    <a:pt x="24384" y="1161802"/>
                  </a:lnTo>
                  <a:cubicBezTo>
                    <a:pt x="10922" y="1161802"/>
                    <a:pt x="0" y="1146395"/>
                    <a:pt x="0" y="1127405"/>
                  </a:cubicBezTo>
                  <a:close/>
                </a:path>
              </a:pathLst>
            </a:custGeom>
            <a:solidFill>
              <a:srgbClr val="0F766E"/>
            </a:solidFill>
          </p:spPr>
        </p:sp>
      </p:grpSp>
      <p:sp>
        <p:nvSpPr>
          <p:cNvPr name="TextBox 52" id="52"/>
          <p:cNvSpPr txBox="true"/>
          <p:nvPr/>
        </p:nvSpPr>
        <p:spPr>
          <a:xfrm rot="0">
            <a:off x="1098137" y="8764832"/>
            <a:ext cx="11314063" cy="677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7"/>
              </a:lnSpc>
            </a:pPr>
            <a:r>
              <a:rPr lang="en-US" sz="1876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Recommended Operating Rhythm</a:t>
            </a:r>
          </a:p>
          <a:p>
            <a:pPr algn="l">
              <a:lnSpc>
                <a:spcPts val="2461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Weekly: Outlier shipment escalations (&gt;60d)  -  Monthly: Seller scorecard reviews  -  Quarterly: Regional freight rate &amp; carrier renegotiations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823608" y="9677343"/>
            <a:ext cx="16654634" cy="20593"/>
            <a:chOff x="0" y="0"/>
            <a:chExt cx="22206179" cy="27457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2206204" cy="27432"/>
            </a:xfrm>
            <a:custGeom>
              <a:avLst/>
              <a:gdLst/>
              <a:ahLst/>
              <a:cxnLst/>
              <a:rect r="r" b="b" t="t" l="l"/>
              <a:pathLst>
                <a:path h="27432" w="22206204">
                  <a:moveTo>
                    <a:pt x="0" y="0"/>
                  </a:moveTo>
                  <a:lnTo>
                    <a:pt x="22206204" y="0"/>
                  </a:lnTo>
                  <a:lnTo>
                    <a:pt x="22206204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D8E3F0"/>
            </a:solidFill>
          </p:spPr>
        </p:sp>
      </p:grpSp>
      <p:sp>
        <p:nvSpPr>
          <p:cNvPr name="TextBox 55" id="55"/>
          <p:cNvSpPr txBox="true"/>
          <p:nvPr/>
        </p:nvSpPr>
        <p:spPr>
          <a:xfrm rot="0">
            <a:off x="823608" y="9773431"/>
            <a:ext cx="5490686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Slide 19 of 20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1987546" y="9773431"/>
            <a:ext cx="5490686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11"/>
              </a:lnSpc>
            </a:pPr>
            <a:r>
              <a:rPr lang="en-US" sz="1426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Final Project Presentation | M1-M4 Complete Journey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37265"/>
            <a:chOff x="0" y="0"/>
            <a:chExt cx="24402453" cy="183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83007"/>
            </a:xfrm>
            <a:custGeom>
              <a:avLst/>
              <a:gdLst/>
              <a:ahLst/>
              <a:cxnLst/>
              <a:rect r="r" b="b" t="t" l="l"/>
              <a:pathLst>
                <a:path h="183007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83007"/>
                  </a:lnTo>
                  <a:lnTo>
                    <a:pt x="0" y="183007"/>
                  </a:lnTo>
                  <a:close/>
                </a:path>
              </a:pathLst>
            </a:custGeom>
            <a:solidFill>
              <a:srgbClr val="00B09B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98137" y="1098137"/>
            <a:ext cx="15785735" cy="1994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0F766E"/>
                </a:solidFill>
                <a:latin typeface="Aptos Bold"/>
                <a:ea typeface="Aptos Bold"/>
                <a:cs typeface="Aptos Bold"/>
                <a:sym typeface="Aptos Bold"/>
              </a:rPr>
              <a:t>PROJECT ACHIEVEMENT &amp; CONCLUSION</a:t>
            </a:r>
          </a:p>
          <a:p>
            <a:pPr algn="l">
              <a:lnSpc>
                <a:spcPts val="7259"/>
              </a:lnSpc>
            </a:pPr>
            <a:r>
              <a:rPr lang="en-US" sz="3903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From Transactional Data to Strategic Executive Decision Support</a:t>
            </a:r>
          </a:p>
          <a:p>
            <a:pPr algn="l">
              <a:lnSpc>
                <a:spcPts val="3629"/>
              </a:lnSpc>
            </a:pPr>
            <a:r>
              <a:rPr lang="en-US" sz="195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The project successfully establishes a complete end-to-end analytics continuum—transforming raw Brazilian e-commerce logs into clean data assets, a 5-page operational control tower, diagnostic supplier scorecards, and executive decision dashboards.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88603" y="3833946"/>
            <a:ext cx="3725285" cy="1529001"/>
            <a:chOff x="0" y="0"/>
            <a:chExt cx="4967046" cy="20386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66970" cy="2038604"/>
            </a:xfrm>
            <a:custGeom>
              <a:avLst/>
              <a:gdLst/>
              <a:ahLst/>
              <a:cxnLst/>
              <a:rect r="r" b="b" t="t" l="l"/>
              <a:pathLst>
                <a:path h="2038604" w="4966970">
                  <a:moveTo>
                    <a:pt x="0" y="339725"/>
                  </a:moveTo>
                  <a:cubicBezTo>
                    <a:pt x="0" y="152146"/>
                    <a:pt x="152146" y="0"/>
                    <a:pt x="339725" y="0"/>
                  </a:cubicBezTo>
                  <a:lnTo>
                    <a:pt x="4627245" y="0"/>
                  </a:lnTo>
                  <a:cubicBezTo>
                    <a:pt x="4814951" y="0"/>
                    <a:pt x="4966970" y="152146"/>
                    <a:pt x="4966970" y="339725"/>
                  </a:cubicBezTo>
                  <a:lnTo>
                    <a:pt x="4966970" y="1698879"/>
                  </a:lnTo>
                  <a:cubicBezTo>
                    <a:pt x="4966970" y="1886585"/>
                    <a:pt x="4814824" y="2038604"/>
                    <a:pt x="4627245" y="2038604"/>
                  </a:cubicBezTo>
                  <a:lnTo>
                    <a:pt x="339725" y="2038604"/>
                  </a:lnTo>
                  <a:cubicBezTo>
                    <a:pt x="152146" y="2038731"/>
                    <a:pt x="0" y="1886585"/>
                    <a:pt x="0" y="169887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098137" y="3843480"/>
            <a:ext cx="109814" cy="1509941"/>
            <a:chOff x="0" y="0"/>
            <a:chExt cx="146418" cy="201325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6431" cy="2013204"/>
            </a:xfrm>
            <a:custGeom>
              <a:avLst/>
              <a:gdLst/>
              <a:ahLst/>
              <a:cxnLst/>
              <a:rect r="r" b="b" t="t" l="l"/>
              <a:pathLst>
                <a:path h="2013204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988820"/>
                  </a:lnTo>
                  <a:cubicBezTo>
                    <a:pt x="146431" y="2002282"/>
                    <a:pt x="135509" y="2013204"/>
                    <a:pt x="122047" y="2013204"/>
                  </a:cubicBezTo>
                  <a:lnTo>
                    <a:pt x="24384" y="2013204"/>
                  </a:lnTo>
                  <a:cubicBezTo>
                    <a:pt x="10922" y="2013204"/>
                    <a:pt x="0" y="2002282"/>
                    <a:pt x="0" y="1988820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317765" y="3809305"/>
            <a:ext cx="3376774" cy="1347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6"/>
              </a:lnSpc>
            </a:pPr>
            <a:r>
              <a:rPr lang="en-US" sz="3152" b="true">
                <a:solidFill>
                  <a:srgbClr val="2563EB"/>
                </a:solidFill>
                <a:latin typeface="Aptos Bold"/>
                <a:ea typeface="Aptos Bold"/>
                <a:cs typeface="Aptos Bold"/>
                <a:sym typeface="Aptos Bold"/>
              </a:rPr>
              <a:t>66,039</a:t>
            </a:r>
          </a:p>
          <a:p>
            <a:pPr algn="l">
              <a:lnSpc>
                <a:spcPts val="2758"/>
              </a:lnSpc>
            </a:pPr>
            <a:r>
              <a:rPr lang="en-US" sz="1576" b="true">
                <a:solidFill>
                  <a:srgbClr val="2563EB"/>
                </a:solidFill>
                <a:latin typeface="Aptos Bold"/>
                <a:ea typeface="Aptos Bold"/>
                <a:cs typeface="Aptos Bold"/>
                <a:sym typeface="Aptos Bold"/>
              </a:rPr>
              <a:t>Cleaned Records</a:t>
            </a:r>
          </a:p>
          <a:p>
            <a:pPr algn="l">
              <a:lnSpc>
                <a:spcPts val="2364"/>
              </a:lnSpc>
            </a:pPr>
            <a:r>
              <a:rPr lang="en-US" sz="1351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M1 Data Quality Standard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206622" y="3833946"/>
            <a:ext cx="3725285" cy="1529001"/>
            <a:chOff x="0" y="0"/>
            <a:chExt cx="4967046" cy="20386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966970" cy="2038604"/>
            </a:xfrm>
            <a:custGeom>
              <a:avLst/>
              <a:gdLst/>
              <a:ahLst/>
              <a:cxnLst/>
              <a:rect r="r" b="b" t="t" l="l"/>
              <a:pathLst>
                <a:path h="2038604" w="4966970">
                  <a:moveTo>
                    <a:pt x="0" y="339725"/>
                  </a:moveTo>
                  <a:cubicBezTo>
                    <a:pt x="0" y="152146"/>
                    <a:pt x="152146" y="0"/>
                    <a:pt x="339725" y="0"/>
                  </a:cubicBezTo>
                  <a:lnTo>
                    <a:pt x="4627245" y="0"/>
                  </a:lnTo>
                  <a:cubicBezTo>
                    <a:pt x="4814951" y="0"/>
                    <a:pt x="4966970" y="152146"/>
                    <a:pt x="4966970" y="339725"/>
                  </a:cubicBezTo>
                  <a:lnTo>
                    <a:pt x="4966970" y="1698879"/>
                  </a:lnTo>
                  <a:cubicBezTo>
                    <a:pt x="4966970" y="1886585"/>
                    <a:pt x="4814824" y="2038604"/>
                    <a:pt x="4627245" y="2038604"/>
                  </a:cubicBezTo>
                  <a:lnTo>
                    <a:pt x="339725" y="2038604"/>
                  </a:lnTo>
                  <a:cubicBezTo>
                    <a:pt x="152146" y="2038731"/>
                    <a:pt x="0" y="1886585"/>
                    <a:pt x="0" y="169887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5216157" y="3843480"/>
            <a:ext cx="109814" cy="1509941"/>
            <a:chOff x="0" y="0"/>
            <a:chExt cx="146418" cy="201325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431" cy="2013204"/>
            </a:xfrm>
            <a:custGeom>
              <a:avLst/>
              <a:gdLst/>
              <a:ahLst/>
              <a:cxnLst/>
              <a:rect r="r" b="b" t="t" l="l"/>
              <a:pathLst>
                <a:path h="2013204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988820"/>
                  </a:lnTo>
                  <a:cubicBezTo>
                    <a:pt x="146431" y="2002282"/>
                    <a:pt x="135509" y="2013204"/>
                    <a:pt x="122047" y="2013204"/>
                  </a:cubicBezTo>
                  <a:lnTo>
                    <a:pt x="24384" y="2013204"/>
                  </a:lnTo>
                  <a:cubicBezTo>
                    <a:pt x="10922" y="2013204"/>
                    <a:pt x="0" y="2002282"/>
                    <a:pt x="0" y="1988820"/>
                  </a:cubicBezTo>
                  <a:close/>
                </a:path>
              </a:pathLst>
            </a:custGeom>
            <a:solidFill>
              <a:srgbClr val="00B09B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435784" y="3809305"/>
            <a:ext cx="3376774" cy="1347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6"/>
              </a:lnSpc>
            </a:pPr>
            <a:r>
              <a:rPr lang="en-US" sz="3152" b="true">
                <a:solidFill>
                  <a:srgbClr val="00B09B"/>
                </a:solidFill>
                <a:latin typeface="Aptos Bold"/>
                <a:ea typeface="Aptos Bold"/>
                <a:cs typeface="Aptos Bold"/>
                <a:sym typeface="Aptos Bold"/>
              </a:rPr>
              <a:t>5 Pages</a:t>
            </a:r>
          </a:p>
          <a:p>
            <a:pPr algn="l">
              <a:lnSpc>
                <a:spcPts val="2758"/>
              </a:lnSpc>
            </a:pPr>
            <a:r>
              <a:rPr lang="en-US" sz="1576" b="true">
                <a:solidFill>
                  <a:srgbClr val="00B09B"/>
                </a:solidFill>
                <a:latin typeface="Aptos Bold"/>
                <a:ea typeface="Aptos Bold"/>
                <a:cs typeface="Aptos Bold"/>
                <a:sym typeface="Aptos Bold"/>
              </a:rPr>
              <a:t>Control Tower Views</a:t>
            </a:r>
          </a:p>
          <a:p>
            <a:pPr algn="l">
              <a:lnSpc>
                <a:spcPts val="2364"/>
              </a:lnSpc>
            </a:pPr>
            <a:r>
              <a:rPr lang="en-US" sz="1351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M2 Operational Visibility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324642" y="3833946"/>
            <a:ext cx="3725285" cy="1529001"/>
            <a:chOff x="0" y="0"/>
            <a:chExt cx="4967046" cy="203866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966970" cy="2038604"/>
            </a:xfrm>
            <a:custGeom>
              <a:avLst/>
              <a:gdLst/>
              <a:ahLst/>
              <a:cxnLst/>
              <a:rect r="r" b="b" t="t" l="l"/>
              <a:pathLst>
                <a:path h="2038604" w="4966970">
                  <a:moveTo>
                    <a:pt x="0" y="339725"/>
                  </a:moveTo>
                  <a:cubicBezTo>
                    <a:pt x="0" y="152146"/>
                    <a:pt x="152146" y="0"/>
                    <a:pt x="339725" y="0"/>
                  </a:cubicBezTo>
                  <a:lnTo>
                    <a:pt x="4627245" y="0"/>
                  </a:lnTo>
                  <a:cubicBezTo>
                    <a:pt x="4814951" y="0"/>
                    <a:pt x="4966970" y="152146"/>
                    <a:pt x="4966970" y="339725"/>
                  </a:cubicBezTo>
                  <a:lnTo>
                    <a:pt x="4966970" y="1698879"/>
                  </a:lnTo>
                  <a:cubicBezTo>
                    <a:pt x="4966970" y="1886585"/>
                    <a:pt x="4814824" y="2038604"/>
                    <a:pt x="4627245" y="2038604"/>
                  </a:cubicBezTo>
                  <a:lnTo>
                    <a:pt x="339725" y="2038604"/>
                  </a:lnTo>
                  <a:cubicBezTo>
                    <a:pt x="152146" y="2038731"/>
                    <a:pt x="0" y="1886585"/>
                    <a:pt x="0" y="169887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334176" y="3843480"/>
            <a:ext cx="109814" cy="1509941"/>
            <a:chOff x="0" y="0"/>
            <a:chExt cx="146418" cy="201325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6431" cy="2013204"/>
            </a:xfrm>
            <a:custGeom>
              <a:avLst/>
              <a:gdLst/>
              <a:ahLst/>
              <a:cxnLst/>
              <a:rect r="r" b="b" t="t" l="l"/>
              <a:pathLst>
                <a:path h="2013204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988820"/>
                  </a:lnTo>
                  <a:cubicBezTo>
                    <a:pt x="146431" y="2002282"/>
                    <a:pt x="135509" y="2013204"/>
                    <a:pt x="122047" y="2013204"/>
                  </a:cubicBezTo>
                  <a:lnTo>
                    <a:pt x="24384" y="2013204"/>
                  </a:lnTo>
                  <a:cubicBezTo>
                    <a:pt x="10922" y="2013204"/>
                    <a:pt x="0" y="2002282"/>
                    <a:pt x="0" y="1988820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553804" y="3809305"/>
            <a:ext cx="3376774" cy="1347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6"/>
              </a:lnSpc>
            </a:pPr>
            <a:r>
              <a:rPr lang="en-US" sz="3152" b="true">
                <a:solidFill>
                  <a:srgbClr val="7C3AED"/>
                </a:solidFill>
                <a:latin typeface="Aptos Bold"/>
                <a:ea typeface="Aptos Bold"/>
                <a:cs typeface="Aptos Bold"/>
                <a:sym typeface="Aptos Bold"/>
              </a:rPr>
              <a:t>4 Streams</a:t>
            </a:r>
          </a:p>
          <a:p>
            <a:pPr algn="l">
              <a:lnSpc>
                <a:spcPts val="2758"/>
              </a:lnSpc>
            </a:pPr>
            <a:r>
              <a:rPr lang="en-US" sz="1576" b="true">
                <a:solidFill>
                  <a:srgbClr val="7C3AED"/>
                </a:solidFill>
                <a:latin typeface="Aptos Bold"/>
                <a:ea typeface="Aptos Bold"/>
                <a:cs typeface="Aptos Bold"/>
                <a:sym typeface="Aptos Bold"/>
              </a:rPr>
              <a:t>Performance Diagnostics</a:t>
            </a:r>
          </a:p>
          <a:p>
            <a:pPr algn="l">
              <a:lnSpc>
                <a:spcPts val="2364"/>
              </a:lnSpc>
            </a:pPr>
            <a:r>
              <a:rPr lang="en-US" sz="1351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M3 Supplier/Route Models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3442661" y="3833946"/>
            <a:ext cx="3725285" cy="1529001"/>
            <a:chOff x="0" y="0"/>
            <a:chExt cx="4967046" cy="203866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966970" cy="2038604"/>
            </a:xfrm>
            <a:custGeom>
              <a:avLst/>
              <a:gdLst/>
              <a:ahLst/>
              <a:cxnLst/>
              <a:rect r="r" b="b" t="t" l="l"/>
              <a:pathLst>
                <a:path h="2038604" w="4966970">
                  <a:moveTo>
                    <a:pt x="0" y="339725"/>
                  </a:moveTo>
                  <a:cubicBezTo>
                    <a:pt x="0" y="152146"/>
                    <a:pt x="152146" y="0"/>
                    <a:pt x="339725" y="0"/>
                  </a:cubicBezTo>
                  <a:lnTo>
                    <a:pt x="4627245" y="0"/>
                  </a:lnTo>
                  <a:cubicBezTo>
                    <a:pt x="4814951" y="0"/>
                    <a:pt x="4966970" y="152146"/>
                    <a:pt x="4966970" y="339725"/>
                  </a:cubicBezTo>
                  <a:lnTo>
                    <a:pt x="4966970" y="1698879"/>
                  </a:lnTo>
                  <a:cubicBezTo>
                    <a:pt x="4966970" y="1886585"/>
                    <a:pt x="4814824" y="2038604"/>
                    <a:pt x="4627245" y="2038604"/>
                  </a:cubicBezTo>
                  <a:lnTo>
                    <a:pt x="339725" y="2038604"/>
                  </a:lnTo>
                  <a:cubicBezTo>
                    <a:pt x="152146" y="2038731"/>
                    <a:pt x="0" y="1886585"/>
                    <a:pt x="0" y="169887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3F0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3452186" y="3843480"/>
            <a:ext cx="109814" cy="1509941"/>
            <a:chOff x="0" y="0"/>
            <a:chExt cx="146418" cy="201325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6431" cy="2013204"/>
            </a:xfrm>
            <a:custGeom>
              <a:avLst/>
              <a:gdLst/>
              <a:ahLst/>
              <a:cxnLst/>
              <a:rect r="r" b="b" t="t" l="l"/>
              <a:pathLst>
                <a:path h="2013204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988820"/>
                  </a:lnTo>
                  <a:cubicBezTo>
                    <a:pt x="146431" y="2002282"/>
                    <a:pt x="135509" y="2013204"/>
                    <a:pt x="122047" y="2013204"/>
                  </a:cubicBezTo>
                  <a:lnTo>
                    <a:pt x="24384" y="2013204"/>
                  </a:lnTo>
                  <a:cubicBezTo>
                    <a:pt x="10922" y="2013204"/>
                    <a:pt x="0" y="2002282"/>
                    <a:pt x="0" y="1988820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3671814" y="3809305"/>
            <a:ext cx="3376774" cy="1347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6"/>
              </a:lnSpc>
            </a:pPr>
            <a:r>
              <a:rPr lang="en-US" sz="3152" b="true">
                <a:solidFill>
                  <a:srgbClr val="F59E0B"/>
                </a:solidFill>
                <a:latin typeface="Aptos Bold"/>
                <a:ea typeface="Aptos Bold"/>
                <a:cs typeface="Aptos Bold"/>
                <a:sym typeface="Aptos Bold"/>
              </a:rPr>
              <a:t>4 Dashboards</a:t>
            </a:r>
          </a:p>
          <a:p>
            <a:pPr algn="l">
              <a:lnSpc>
                <a:spcPts val="2758"/>
              </a:lnSpc>
            </a:pPr>
            <a:r>
              <a:rPr lang="en-US" sz="1576" b="true">
                <a:solidFill>
                  <a:srgbClr val="F59E0B"/>
                </a:solidFill>
                <a:latin typeface="Aptos Bold"/>
                <a:ea typeface="Aptos Bold"/>
                <a:cs typeface="Aptos Bold"/>
                <a:sym typeface="Aptos Bold"/>
              </a:rPr>
              <a:t>Executive Decision Views</a:t>
            </a:r>
          </a:p>
          <a:p>
            <a:pPr algn="l">
              <a:lnSpc>
                <a:spcPts val="2364"/>
              </a:lnSpc>
            </a:pPr>
            <a:r>
              <a:rPr lang="en-US" sz="1351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M4 Leadership Support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098137" y="5765225"/>
            <a:ext cx="109814" cy="3431677"/>
            <a:chOff x="0" y="0"/>
            <a:chExt cx="146418" cy="457556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6431" cy="4575556"/>
            </a:xfrm>
            <a:custGeom>
              <a:avLst/>
              <a:gdLst/>
              <a:ahLst/>
              <a:cxnLst/>
              <a:rect r="r" b="b" t="t" l="l"/>
              <a:pathLst>
                <a:path h="4575556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4551172"/>
                  </a:lnTo>
                  <a:cubicBezTo>
                    <a:pt x="146431" y="4564634"/>
                    <a:pt x="135509" y="4575556"/>
                    <a:pt x="122047" y="4575556"/>
                  </a:cubicBezTo>
                  <a:lnTo>
                    <a:pt x="24384" y="4575556"/>
                  </a:lnTo>
                  <a:cubicBezTo>
                    <a:pt x="10922" y="4575556"/>
                    <a:pt x="0" y="4564634"/>
                    <a:pt x="0" y="4551172"/>
                  </a:cubicBezTo>
                  <a:close/>
                </a:path>
              </a:pathLst>
            </a:custGeom>
            <a:solidFill>
              <a:srgbClr val="00B09B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372676" y="5757377"/>
            <a:ext cx="10226411" cy="3141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3"/>
              </a:lnSpc>
            </a:pPr>
            <a:r>
              <a:rPr lang="en-US" sz="1876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Project Summary &amp; Business Value Delivered</a:t>
            </a:r>
          </a:p>
          <a:p>
            <a:pPr algn="l">
              <a:lnSpc>
                <a:spcPts val="3482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- Trustworthy Data Foundation: Addressed multi-item grain inflation and engineered delivery variance metrics.</a:t>
            </a:r>
          </a:p>
          <a:p>
            <a:pPr algn="l">
              <a:lnSpc>
                <a:spcPts val="3482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- Holistic Control Tower: Unlocked product velocity, ABC/FSN movement intelligence, and multi-tier regional drilldowns.</a:t>
            </a:r>
          </a:p>
          <a:p>
            <a:pPr algn="l">
              <a:lnSpc>
                <a:spcPts val="3482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- Defensible Performance Framework: Scored 235 eligible sellers, mapped 304 routes, and isolated carrier handoff lead times.</a:t>
            </a:r>
          </a:p>
          <a:p>
            <a:pPr algn="l">
              <a:lnSpc>
                <a:spcPts val="3482"/>
              </a:lnSpc>
            </a:pPr>
            <a:r>
              <a:rPr lang="en-US" sz="15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- Actionable Decision Support: Directly connected fulfillment delays to customer ratings and identified cost optimization targets.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823608" y="9677343"/>
            <a:ext cx="16654634" cy="20593"/>
            <a:chOff x="0" y="0"/>
            <a:chExt cx="22206179" cy="2745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2206204" cy="27432"/>
            </a:xfrm>
            <a:custGeom>
              <a:avLst/>
              <a:gdLst/>
              <a:ahLst/>
              <a:cxnLst/>
              <a:rect r="r" b="b" t="t" l="l"/>
              <a:pathLst>
                <a:path h="27432" w="22206204">
                  <a:moveTo>
                    <a:pt x="0" y="0"/>
                  </a:moveTo>
                  <a:lnTo>
                    <a:pt x="22206204" y="0"/>
                  </a:lnTo>
                  <a:lnTo>
                    <a:pt x="22206204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D8E3F0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823608" y="9773431"/>
            <a:ext cx="5490686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Slide 20 of 20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987546" y="9773431"/>
            <a:ext cx="5490686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11"/>
              </a:lnSpc>
            </a:pPr>
            <a:r>
              <a:rPr lang="en-US" sz="1426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Final Project Presentation | M1-M4 Complete Journey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 descr="/mnt/data/a_clean_high_tech_logistics_supply_chain_infogr_batch_1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5" r="0" b="-2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-9525"/>
            <a:ext cx="18306593" cy="10306050"/>
            <a:chOff x="0" y="0"/>
            <a:chExt cx="24408790" cy="13741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8764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FFFFFF">
                <a:alpha val="63922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2359152"/>
            <a:ext cx="6720840" cy="987552"/>
            <a:chOff x="0" y="0"/>
            <a:chExt cx="8961120" cy="13167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961120" cy="1316736"/>
            </a:xfrm>
            <a:custGeom>
              <a:avLst/>
              <a:gdLst/>
              <a:ahLst/>
              <a:cxnLst/>
              <a:rect r="r" b="b" t="t" l="l"/>
              <a:pathLst>
                <a:path h="1316736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606" r="0" b="-8260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8961120" cy="131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THANK YOU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56132" y="3445002"/>
            <a:ext cx="6583680" cy="1025463"/>
            <a:chOff x="0" y="0"/>
            <a:chExt cx="8778240" cy="136728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778240" cy="1367284"/>
            </a:xfrm>
            <a:custGeom>
              <a:avLst/>
              <a:gdLst/>
              <a:ahLst/>
              <a:cxnLst/>
              <a:rect r="r" b="b" t="t" l="l"/>
              <a:pathLst>
                <a:path h="1367284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367284"/>
                  </a:lnTo>
                  <a:lnTo>
                    <a:pt x="0" y="13672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009" r="0" b="-5318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8778240" cy="13672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i="true" b="true">
                  <a:solidFill>
                    <a:srgbClr val="2563EB"/>
                  </a:solidFill>
                  <a:latin typeface="Aptos Bold Italics"/>
                  <a:ea typeface="Aptos Bold Italics"/>
                  <a:cs typeface="Aptos Bold Italics"/>
                  <a:sym typeface="Aptos Bold Italics"/>
                </a:rPr>
                <a:t>for your time, guidance and </a:t>
              </a:r>
            </a:p>
            <a:p>
              <a:pPr algn="l">
                <a:lnSpc>
                  <a:spcPts val="3600"/>
                </a:lnSpc>
              </a:pPr>
              <a:r>
                <a:rPr lang="en-US" b="true" sz="3000" i="true">
                  <a:solidFill>
                    <a:srgbClr val="2563EB"/>
                  </a:solidFill>
                  <a:latin typeface="Aptos Bold Italics"/>
                  <a:ea typeface="Aptos Bold Italics"/>
                  <a:cs typeface="Aptos Bold Italics"/>
                  <a:sym typeface="Aptos Bold Italics"/>
                </a:rPr>
                <a:t>continuous support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56132" y="4773168"/>
            <a:ext cx="6789420" cy="1179576"/>
            <a:chOff x="0" y="0"/>
            <a:chExt cx="9052560" cy="157276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052560" cy="1572768"/>
            </a:xfrm>
            <a:custGeom>
              <a:avLst/>
              <a:gdLst/>
              <a:ahLst/>
              <a:cxnLst/>
              <a:rect r="r" b="b" t="t" l="l"/>
              <a:pathLst>
                <a:path h="1572768" w="9052560">
                  <a:moveTo>
                    <a:pt x="0" y="0"/>
                  </a:moveTo>
                  <a:lnTo>
                    <a:pt x="9052560" y="0"/>
                  </a:lnTo>
                  <a:lnTo>
                    <a:pt x="9052560" y="1572768"/>
                  </a:lnTo>
                  <a:lnTo>
                    <a:pt x="0" y="15727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152" r="0" b="-6215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9052560" cy="16203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334155"/>
                  </a:solidFill>
                  <a:latin typeface="Aptos"/>
                  <a:ea typeface="Aptos"/>
                  <a:cs typeface="Aptos"/>
                  <a:sym typeface="Aptos"/>
                </a:rPr>
                <a:t>Supply Chain Visibility &amp; Optimisation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334155"/>
                  </a:solidFill>
                  <a:latin typeface="Aptos"/>
                  <a:ea typeface="Aptos"/>
                  <a:cs typeface="Aptos"/>
                  <a:sym typeface="Aptos"/>
                </a:rPr>
                <a:t>Milestone 4 — Completed Successfully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8709660"/>
            <a:ext cx="5277536" cy="548640"/>
            <a:chOff x="0" y="0"/>
            <a:chExt cx="7036715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36715" cy="731520"/>
            </a:xfrm>
            <a:custGeom>
              <a:avLst/>
              <a:gdLst/>
              <a:ahLst/>
              <a:cxnLst/>
              <a:rect r="r" b="b" t="t" l="l"/>
              <a:pathLst>
                <a:path h="731520" w="7036715">
                  <a:moveTo>
                    <a:pt x="0" y="0"/>
                  </a:moveTo>
                  <a:lnTo>
                    <a:pt x="7036715" y="0"/>
                  </a:lnTo>
                  <a:lnTo>
                    <a:pt x="7036715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127" r="-28647" b="-19112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7036715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36"/>
                </a:lnSpc>
              </a:pPr>
              <a:r>
                <a:rPr lang="en-US" sz="153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Team 4  •  Infosys Springboard Virtual Internship 7.0 — Batch 2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DAHUJg75lZo</dc:identifier>
  <dcterms:modified xsi:type="dcterms:W3CDTF">2011-08-01T06:04:30Z</dcterms:modified>
  <cp:revision>1</cp:revision>
  <dc:title>Supply_Chain_Visibility_Optimisation_Final_M1_to_M4.pptx</dc:title>
</cp:coreProperties>
</file>