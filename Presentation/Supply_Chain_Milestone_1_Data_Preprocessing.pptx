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orgia" charset="1" panose="02040502050405020303"/>
      <p:regular r:id="rId17"/>
    </p:embeddedFont>
    <p:embeddedFont>
      <p:font typeface="Aptos Bold" charset="1" panose="020B0004020202020204"/>
      <p:regular r:id="rId18"/>
    </p:embeddedFont>
    <p:embeddedFont>
      <p:font typeface="Aptos" charset="1" panose="020B00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9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7156961" cy="10314108"/>
            <a:chOff x="0" y="0"/>
            <a:chExt cx="9542615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42653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92259" y="3806495"/>
            <a:ext cx="5353374" cy="4937427"/>
            <a:chOff x="0" y="0"/>
            <a:chExt cx="14910676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10688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14910688">
                  <a:moveTo>
                    <a:pt x="0" y="0"/>
                  </a:moveTo>
                  <a:lnTo>
                    <a:pt x="14910688" y="0"/>
                  </a:lnTo>
                  <a:lnTo>
                    <a:pt x="14910688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3"/>
              <a:stretch>
                <a:fillRect l="-399" t="0" r="-399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8098765" y="1166774"/>
            <a:ext cx="9334176" cy="3019882"/>
            <a:chOff x="0" y="0"/>
            <a:chExt cx="12445568" cy="40265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445563" cy="4026506"/>
            </a:xfrm>
            <a:custGeom>
              <a:avLst/>
              <a:gdLst/>
              <a:ahLst/>
              <a:cxnLst/>
              <a:rect r="r" b="b" t="t" l="l"/>
              <a:pathLst>
                <a:path h="4026506" w="12445563">
                  <a:moveTo>
                    <a:pt x="0" y="0"/>
                  </a:moveTo>
                  <a:lnTo>
                    <a:pt x="12445563" y="0"/>
                  </a:lnTo>
                  <a:lnTo>
                    <a:pt x="12445563" y="4026506"/>
                  </a:lnTo>
                  <a:lnTo>
                    <a:pt x="0" y="40265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226" r="0" b="-102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445568" cy="4036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Supply Chain</a:t>
              </a:r>
            </a:p>
            <a:p>
              <a:pPr algn="l">
                <a:lnSpc>
                  <a:spcPts val="7205"/>
                </a:lnSpc>
              </a:pPr>
              <a:r>
                <a:rPr lang="en-US" sz="60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Visibility &amp;</a:t>
              </a:r>
            </a:p>
            <a:p>
              <a:pPr algn="l">
                <a:lnSpc>
                  <a:spcPts val="7205"/>
                </a:lnSpc>
              </a:pPr>
              <a:r>
                <a:rPr lang="en-US" sz="60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Optimisation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36039" y="4694539"/>
            <a:ext cx="7961500" cy="631431"/>
            <a:chOff x="0" y="0"/>
            <a:chExt cx="10615333" cy="8419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15333" cy="841906"/>
            </a:xfrm>
            <a:custGeom>
              <a:avLst/>
              <a:gdLst/>
              <a:ahLst/>
              <a:cxnLst/>
              <a:rect r="r" b="b" t="t" l="l"/>
              <a:pathLst>
                <a:path h="841906" w="10615333">
                  <a:moveTo>
                    <a:pt x="0" y="0"/>
                  </a:moveTo>
                  <a:lnTo>
                    <a:pt x="10615333" y="0"/>
                  </a:lnTo>
                  <a:lnTo>
                    <a:pt x="10615333" y="841906"/>
                  </a:lnTo>
                  <a:lnTo>
                    <a:pt x="0" y="8419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680" r="0" b="-1956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10615333" cy="8323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 b="true">
                  <a:solidFill>
                    <a:srgbClr val="C6C9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1: Data Preprocessing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36039" y="5490686"/>
            <a:ext cx="8647833" cy="439255"/>
            <a:chOff x="0" y="0"/>
            <a:chExt cx="11530444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530448" cy="585674"/>
            </a:xfrm>
            <a:custGeom>
              <a:avLst/>
              <a:gdLst/>
              <a:ahLst/>
              <a:cxnLst/>
              <a:rect r="r" b="b" t="t" l="l"/>
              <a:pathLst>
                <a:path h="585674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3611" r="0" b="-33361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1530444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Dataset: Brazilian E-Commerce / Olist merged dataset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236039" y="8249755"/>
            <a:ext cx="8510568" cy="494167"/>
            <a:chOff x="0" y="0"/>
            <a:chExt cx="11347425" cy="6588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47425" cy="658883"/>
            </a:xfrm>
            <a:custGeom>
              <a:avLst/>
              <a:gdLst/>
              <a:ahLst/>
              <a:cxnLst/>
              <a:rect r="r" b="b" t="t" l="l"/>
              <a:pathLst>
                <a:path h="658883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575" r="0" b="-28557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1347425" cy="6588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Team 4: Mahi · Vishal · Ramya · Abdul Haseeb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792102" y="1028700"/>
            <a:ext cx="1553688" cy="1270637"/>
            <a:chOff x="0" y="0"/>
            <a:chExt cx="543719" cy="4446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5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13554"/>
            <a:ext cx="4222090" cy="10314108"/>
            <a:chOff x="0" y="0"/>
            <a:chExt cx="5629453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29415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5629415">
                  <a:moveTo>
                    <a:pt x="0" y="0"/>
                  </a:moveTo>
                  <a:lnTo>
                    <a:pt x="5629415" y="0"/>
                  </a:lnTo>
                  <a:lnTo>
                    <a:pt x="5629415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793232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982299" y="768696"/>
            <a:ext cx="13452186" cy="823608"/>
            <a:chOff x="0" y="0"/>
            <a:chExt cx="17936248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36252" cy="1098138"/>
            </a:xfrm>
            <a:custGeom>
              <a:avLst/>
              <a:gdLst/>
              <a:ahLst/>
              <a:cxnLst/>
              <a:rect r="r" b="b" t="t" l="l"/>
              <a:pathLst>
                <a:path h="1098138" w="17936252">
                  <a:moveTo>
                    <a:pt x="0" y="0"/>
                  </a:moveTo>
                  <a:lnTo>
                    <a:pt x="17936252" y="0"/>
                  </a:lnTo>
                  <a:lnTo>
                    <a:pt x="17936252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255" r="0" b="-26825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936248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5"/>
                </a:lnSpc>
              </a:pPr>
              <a:r>
                <a:rPr lang="en-US" sz="60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Dataset Overview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23475" y="1811931"/>
            <a:ext cx="12765853" cy="466706"/>
            <a:chOff x="0" y="0"/>
            <a:chExt cx="17021137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21138" cy="622278"/>
            </a:xfrm>
            <a:custGeom>
              <a:avLst/>
              <a:gdLst/>
              <a:ahLst/>
              <a:cxnLst/>
              <a:rect r="r" b="b" t="t" l="l"/>
              <a:pathLst>
                <a:path h="622278" w="17021138">
                  <a:moveTo>
                    <a:pt x="0" y="0"/>
                  </a:moveTo>
                  <a:lnTo>
                    <a:pt x="17021138" y="0"/>
                  </a:lnTo>
                  <a:lnTo>
                    <a:pt x="17021138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2973" r="0" b="-48297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021137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Merged e-commerce supply-chain data prepared for visibility, delivery and freight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831680" y="2800636"/>
            <a:ext cx="2909306" cy="1618993"/>
            <a:chOff x="0" y="0"/>
            <a:chExt cx="3879075" cy="21586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79088" cy="2158746"/>
            </a:xfrm>
            <a:custGeom>
              <a:avLst/>
              <a:gdLst/>
              <a:ahLst/>
              <a:cxnLst/>
              <a:rect r="r" b="b" t="t" l="l"/>
              <a:pathLst>
                <a:path h="2158746" w="3879088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lnTo>
                    <a:pt x="3711575" y="0"/>
                  </a:lnTo>
                  <a:cubicBezTo>
                    <a:pt x="3804031" y="0"/>
                    <a:pt x="3879088" y="74930"/>
                    <a:pt x="3879088" y="167513"/>
                  </a:cubicBezTo>
                  <a:lnTo>
                    <a:pt x="3879088" y="1991233"/>
                  </a:lnTo>
                  <a:cubicBezTo>
                    <a:pt x="3879088" y="2083689"/>
                    <a:pt x="3804158" y="2158746"/>
                    <a:pt x="3711575" y="2158746"/>
                  </a:cubicBezTo>
                  <a:lnTo>
                    <a:pt x="167513" y="2158746"/>
                  </a:lnTo>
                  <a:cubicBezTo>
                    <a:pt x="74930" y="2158619"/>
                    <a:pt x="0" y="2083689"/>
                    <a:pt x="0" y="1991106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009750" y="3019882"/>
            <a:ext cx="2553167" cy="617706"/>
            <a:chOff x="0" y="0"/>
            <a:chExt cx="3404222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404227" cy="823603"/>
            </a:xfrm>
            <a:custGeom>
              <a:avLst/>
              <a:gdLst/>
              <a:ahLst/>
              <a:cxnLst/>
              <a:rect r="r" b="b" t="t" l="l"/>
              <a:pathLst>
                <a:path h="823603" w="3404227">
                  <a:moveTo>
                    <a:pt x="0" y="0"/>
                  </a:moveTo>
                  <a:lnTo>
                    <a:pt x="3404227" y="0"/>
                  </a:lnTo>
                  <a:lnTo>
                    <a:pt x="34042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7" r="0" b="-305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40422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119,143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092113" y="3747392"/>
            <a:ext cx="2388451" cy="329441"/>
            <a:chOff x="0" y="0"/>
            <a:chExt cx="3184601" cy="439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84600" cy="439255"/>
            </a:xfrm>
            <a:custGeom>
              <a:avLst/>
              <a:gdLst/>
              <a:ahLst/>
              <a:cxnLst/>
              <a:rect r="r" b="b" t="t" l="l"/>
              <a:pathLst>
                <a:path h="439255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184601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Records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092113" y="4090568"/>
            <a:ext cx="2388451" cy="247079"/>
            <a:chOff x="0" y="0"/>
            <a:chExt cx="3184601" cy="32943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84600" cy="329441"/>
            </a:xfrm>
            <a:custGeom>
              <a:avLst/>
              <a:gdLst/>
              <a:ahLst/>
              <a:cxnLst/>
              <a:rect r="r" b="b" t="t" l="l"/>
              <a:pathLst>
                <a:path h="329441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3184601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initial rows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126101" y="2800636"/>
            <a:ext cx="2909306" cy="1618993"/>
            <a:chOff x="0" y="0"/>
            <a:chExt cx="3879075" cy="215865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79088" cy="2158746"/>
            </a:xfrm>
            <a:custGeom>
              <a:avLst/>
              <a:gdLst/>
              <a:ahLst/>
              <a:cxnLst/>
              <a:rect r="r" b="b" t="t" l="l"/>
              <a:pathLst>
                <a:path h="2158746" w="3879088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lnTo>
                    <a:pt x="3711575" y="0"/>
                  </a:lnTo>
                  <a:cubicBezTo>
                    <a:pt x="3804031" y="0"/>
                    <a:pt x="3879088" y="74930"/>
                    <a:pt x="3879088" y="167513"/>
                  </a:cubicBezTo>
                  <a:lnTo>
                    <a:pt x="3879088" y="1991233"/>
                  </a:lnTo>
                  <a:cubicBezTo>
                    <a:pt x="3879088" y="2083689"/>
                    <a:pt x="3804158" y="2158746"/>
                    <a:pt x="3711575" y="2158746"/>
                  </a:cubicBezTo>
                  <a:lnTo>
                    <a:pt x="167513" y="2158746"/>
                  </a:lnTo>
                  <a:cubicBezTo>
                    <a:pt x="74930" y="2158619"/>
                    <a:pt x="0" y="2083689"/>
                    <a:pt x="0" y="1991106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304162" y="3019882"/>
            <a:ext cx="2553167" cy="617706"/>
            <a:chOff x="0" y="0"/>
            <a:chExt cx="3404222" cy="823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04227" cy="823603"/>
            </a:xfrm>
            <a:custGeom>
              <a:avLst/>
              <a:gdLst/>
              <a:ahLst/>
              <a:cxnLst/>
              <a:rect r="r" b="b" t="t" l="l"/>
              <a:pathLst>
                <a:path h="823603" w="3404227">
                  <a:moveTo>
                    <a:pt x="0" y="0"/>
                  </a:moveTo>
                  <a:lnTo>
                    <a:pt x="3404227" y="0"/>
                  </a:lnTo>
                  <a:lnTo>
                    <a:pt x="34042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7" r="0" b="-3053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340422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40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386524" y="3747392"/>
            <a:ext cx="2388451" cy="329441"/>
            <a:chOff x="0" y="0"/>
            <a:chExt cx="3184601" cy="4392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84600" cy="439255"/>
            </a:xfrm>
            <a:custGeom>
              <a:avLst/>
              <a:gdLst/>
              <a:ahLst/>
              <a:cxnLst/>
              <a:rect r="r" b="b" t="t" l="l"/>
              <a:pathLst>
                <a:path h="439255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3184601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Columns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386524" y="4090568"/>
            <a:ext cx="2388451" cy="247079"/>
            <a:chOff x="0" y="0"/>
            <a:chExt cx="3184601" cy="32943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184600" cy="329441"/>
            </a:xfrm>
            <a:custGeom>
              <a:avLst/>
              <a:gdLst/>
              <a:ahLst/>
              <a:cxnLst/>
              <a:rect r="r" b="b" t="t" l="l"/>
              <a:pathLst>
                <a:path h="329441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184601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features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420513" y="2800636"/>
            <a:ext cx="2909306" cy="1618993"/>
            <a:chOff x="0" y="0"/>
            <a:chExt cx="3879075" cy="215865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79088" cy="2158746"/>
            </a:xfrm>
            <a:custGeom>
              <a:avLst/>
              <a:gdLst/>
              <a:ahLst/>
              <a:cxnLst/>
              <a:rect r="r" b="b" t="t" l="l"/>
              <a:pathLst>
                <a:path h="2158746" w="3879088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lnTo>
                    <a:pt x="3711575" y="0"/>
                  </a:lnTo>
                  <a:cubicBezTo>
                    <a:pt x="3804031" y="0"/>
                    <a:pt x="3879088" y="74930"/>
                    <a:pt x="3879088" y="167513"/>
                  </a:cubicBezTo>
                  <a:lnTo>
                    <a:pt x="3879088" y="1991233"/>
                  </a:lnTo>
                  <a:cubicBezTo>
                    <a:pt x="3879088" y="2083689"/>
                    <a:pt x="3804158" y="2158746"/>
                    <a:pt x="3711575" y="2158746"/>
                  </a:cubicBezTo>
                  <a:lnTo>
                    <a:pt x="167513" y="2158746"/>
                  </a:lnTo>
                  <a:cubicBezTo>
                    <a:pt x="74930" y="2158619"/>
                    <a:pt x="0" y="2083689"/>
                    <a:pt x="0" y="1991106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1598583" y="3019882"/>
            <a:ext cx="2553167" cy="617706"/>
            <a:chOff x="0" y="0"/>
            <a:chExt cx="3404222" cy="823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04227" cy="823603"/>
            </a:xfrm>
            <a:custGeom>
              <a:avLst/>
              <a:gdLst/>
              <a:ahLst/>
              <a:cxnLst/>
              <a:rect r="r" b="b" t="t" l="l"/>
              <a:pathLst>
                <a:path h="823603" w="3404227">
                  <a:moveTo>
                    <a:pt x="0" y="0"/>
                  </a:moveTo>
                  <a:lnTo>
                    <a:pt x="3404227" y="0"/>
                  </a:lnTo>
                  <a:lnTo>
                    <a:pt x="34042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7" r="0" b="-3053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340422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680936" y="3747392"/>
            <a:ext cx="2388451" cy="329441"/>
            <a:chOff x="0" y="0"/>
            <a:chExt cx="3184601" cy="43925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84600" cy="439255"/>
            </a:xfrm>
            <a:custGeom>
              <a:avLst/>
              <a:gdLst/>
              <a:ahLst/>
              <a:cxnLst/>
              <a:rect r="r" b="b" t="t" l="l"/>
              <a:pathLst>
                <a:path h="439255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3184601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Duplicates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680936" y="4090568"/>
            <a:ext cx="2388451" cy="247079"/>
            <a:chOff x="0" y="0"/>
            <a:chExt cx="3184601" cy="32943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84600" cy="329441"/>
            </a:xfrm>
            <a:custGeom>
              <a:avLst/>
              <a:gdLst/>
              <a:ahLst/>
              <a:cxnLst/>
              <a:rect r="r" b="b" t="t" l="l"/>
              <a:pathLst>
                <a:path h="329441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4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9525"/>
              <a:ext cx="3184601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exact rows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4714925" y="2800636"/>
            <a:ext cx="2909306" cy="1618993"/>
            <a:chOff x="0" y="0"/>
            <a:chExt cx="3879075" cy="215865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79088" cy="2158746"/>
            </a:xfrm>
            <a:custGeom>
              <a:avLst/>
              <a:gdLst/>
              <a:ahLst/>
              <a:cxnLst/>
              <a:rect r="r" b="b" t="t" l="l"/>
              <a:pathLst>
                <a:path h="2158746" w="3879088">
                  <a:moveTo>
                    <a:pt x="0" y="167513"/>
                  </a:moveTo>
                  <a:cubicBezTo>
                    <a:pt x="0" y="74930"/>
                    <a:pt x="74930" y="0"/>
                    <a:pt x="167513" y="0"/>
                  </a:cubicBezTo>
                  <a:lnTo>
                    <a:pt x="3711575" y="0"/>
                  </a:lnTo>
                  <a:cubicBezTo>
                    <a:pt x="3804031" y="0"/>
                    <a:pt x="3879088" y="74930"/>
                    <a:pt x="3879088" y="167513"/>
                  </a:cubicBezTo>
                  <a:lnTo>
                    <a:pt x="3879088" y="1991233"/>
                  </a:lnTo>
                  <a:cubicBezTo>
                    <a:pt x="3879088" y="2083689"/>
                    <a:pt x="3804158" y="2158746"/>
                    <a:pt x="3711575" y="2158746"/>
                  </a:cubicBezTo>
                  <a:lnTo>
                    <a:pt x="167513" y="2158746"/>
                  </a:lnTo>
                  <a:cubicBezTo>
                    <a:pt x="74930" y="2158619"/>
                    <a:pt x="0" y="2083689"/>
                    <a:pt x="0" y="1991106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4892995" y="3019882"/>
            <a:ext cx="2553167" cy="617706"/>
            <a:chOff x="0" y="0"/>
            <a:chExt cx="3404222" cy="8236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04227" cy="823603"/>
            </a:xfrm>
            <a:custGeom>
              <a:avLst/>
              <a:gdLst/>
              <a:ahLst/>
              <a:cxnLst/>
              <a:rect r="r" b="b" t="t" l="l"/>
              <a:pathLst>
                <a:path h="823603" w="3404227">
                  <a:moveTo>
                    <a:pt x="0" y="0"/>
                  </a:moveTo>
                  <a:lnTo>
                    <a:pt x="3404227" y="0"/>
                  </a:lnTo>
                  <a:lnTo>
                    <a:pt x="340422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37" r="0" b="-3053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404222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66,039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4975348" y="3747392"/>
            <a:ext cx="2388451" cy="329441"/>
            <a:chOff x="0" y="0"/>
            <a:chExt cx="3184601" cy="43925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84600" cy="439255"/>
            </a:xfrm>
            <a:custGeom>
              <a:avLst/>
              <a:gdLst/>
              <a:ahLst/>
              <a:cxnLst/>
              <a:rect r="r" b="b" t="t" l="l"/>
              <a:pathLst>
                <a:path h="439255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184601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1"/>
                </a:lnSpc>
              </a:pPr>
              <a:r>
                <a:rPr lang="en-US" sz="18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Cleaned Output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975348" y="4090568"/>
            <a:ext cx="2388451" cy="247079"/>
            <a:chOff x="0" y="0"/>
            <a:chExt cx="3184601" cy="32943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84600" cy="329441"/>
            </a:xfrm>
            <a:custGeom>
              <a:avLst/>
              <a:gdLst/>
              <a:ahLst/>
              <a:cxnLst/>
              <a:rect r="r" b="b" t="t" l="l"/>
              <a:pathLst>
                <a:path h="329441" w="3184600">
                  <a:moveTo>
                    <a:pt x="0" y="0"/>
                  </a:moveTo>
                  <a:lnTo>
                    <a:pt x="3184600" y="0"/>
                  </a:lnTo>
                  <a:lnTo>
                    <a:pt x="3184600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355" r="0" b="-138354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184601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rows after IQR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4831680" y="5161626"/>
            <a:ext cx="12861179" cy="3389738"/>
            <a:chOff x="0" y="0"/>
            <a:chExt cx="17148238" cy="45196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7148175" cy="4519676"/>
            </a:xfrm>
            <a:custGeom>
              <a:avLst/>
              <a:gdLst/>
              <a:ahLst/>
              <a:cxnLst/>
              <a:rect r="r" b="b" t="t" l="l"/>
              <a:pathLst>
                <a:path h="4519676" w="17148175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6982187" y="0"/>
                  </a:lnTo>
                  <a:cubicBezTo>
                    <a:pt x="17073880" y="0"/>
                    <a:pt x="17148175" y="74295"/>
                    <a:pt x="17148175" y="165989"/>
                  </a:cubicBezTo>
                  <a:lnTo>
                    <a:pt x="17148175" y="4353687"/>
                  </a:lnTo>
                  <a:cubicBezTo>
                    <a:pt x="17148175" y="4445381"/>
                    <a:pt x="17073880" y="4519676"/>
                    <a:pt x="16982187" y="4519676"/>
                  </a:cubicBezTo>
                  <a:lnTo>
                    <a:pt x="165989" y="4519676"/>
                  </a:lnTo>
                  <a:cubicBezTo>
                    <a:pt x="74295" y="4519676"/>
                    <a:pt x="0" y="4445381"/>
                    <a:pt x="0" y="4353687"/>
                  </a:cubicBezTo>
                  <a:close/>
                </a:path>
              </a:pathLst>
            </a:custGeom>
            <a:solidFill>
              <a:srgbClr val="7356B4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5256828" y="5559323"/>
            <a:ext cx="8236039" cy="452980"/>
            <a:chOff x="0" y="0"/>
            <a:chExt cx="10981385" cy="60397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81379" cy="603976"/>
            </a:xfrm>
            <a:custGeom>
              <a:avLst/>
              <a:gdLst/>
              <a:ahLst/>
              <a:cxnLst/>
              <a:rect r="r" b="b" t="t" l="l"/>
              <a:pathLst>
                <a:path h="603976" w="10981379">
                  <a:moveTo>
                    <a:pt x="0" y="0"/>
                  </a:moveTo>
                  <a:lnTo>
                    <a:pt x="10981379" y="0"/>
                  </a:lnTo>
                  <a:lnTo>
                    <a:pt x="10981379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73" r="0" b="-304273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0981385" cy="603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Important data areas in the dataset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5290385" y="6279213"/>
            <a:ext cx="3556749" cy="729044"/>
            <a:chOff x="0" y="0"/>
            <a:chExt cx="4742332" cy="97205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5462730" y="6369196"/>
            <a:ext cx="1262863" cy="247079"/>
            <a:chOff x="0" y="0"/>
            <a:chExt cx="1683817" cy="32943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462730" y="6657461"/>
            <a:ext cx="3184598" cy="219627"/>
            <a:chOff x="0" y="0"/>
            <a:chExt cx="4246131" cy="29283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status, purchase, approval, delivery dates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271140" y="6279213"/>
            <a:ext cx="3556749" cy="729044"/>
            <a:chOff x="0" y="0"/>
            <a:chExt cx="4742332" cy="97205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9443485" y="6369196"/>
            <a:ext cx="1262863" cy="247079"/>
            <a:chOff x="0" y="0"/>
            <a:chExt cx="1683817" cy="32943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443485" y="6657461"/>
            <a:ext cx="3184598" cy="219627"/>
            <a:chOff x="0" y="0"/>
            <a:chExt cx="4246131" cy="29283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city and state information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251885" y="6279213"/>
            <a:ext cx="3556749" cy="729044"/>
            <a:chOff x="0" y="0"/>
            <a:chExt cx="4742332" cy="97205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3424230" y="6369196"/>
            <a:ext cx="1262863" cy="247079"/>
            <a:chOff x="0" y="0"/>
            <a:chExt cx="1683817" cy="32943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Sellers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3424230" y="6657461"/>
            <a:ext cx="3184598" cy="219627"/>
            <a:chOff x="0" y="0"/>
            <a:chExt cx="4246131" cy="2928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seller IDs, city and state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290385" y="7267537"/>
            <a:ext cx="3556749" cy="729044"/>
            <a:chOff x="0" y="0"/>
            <a:chExt cx="4742332" cy="97205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5462730" y="7357520"/>
            <a:ext cx="1262863" cy="247079"/>
            <a:chOff x="0" y="0"/>
            <a:chExt cx="1683817" cy="329438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5462730" y="7645784"/>
            <a:ext cx="3184598" cy="219627"/>
            <a:chOff x="0" y="0"/>
            <a:chExt cx="4246131" cy="29283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category, dimensions and weight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271140" y="7267537"/>
            <a:ext cx="3556749" cy="729044"/>
            <a:chOff x="0" y="0"/>
            <a:chExt cx="4742332" cy="97205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9443485" y="7357520"/>
            <a:ext cx="1262863" cy="247079"/>
            <a:chOff x="0" y="0"/>
            <a:chExt cx="1683817" cy="32943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Payments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443485" y="7645784"/>
            <a:ext cx="3184598" cy="219627"/>
            <a:chOff x="0" y="0"/>
            <a:chExt cx="4246131" cy="29283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type, installments and value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251885" y="7267537"/>
            <a:ext cx="3556749" cy="729044"/>
            <a:chOff x="0" y="0"/>
            <a:chExt cx="4742332" cy="972058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42434" cy="972058"/>
            </a:xfrm>
            <a:custGeom>
              <a:avLst/>
              <a:gdLst/>
              <a:ahLst/>
              <a:cxnLst/>
              <a:rect r="r" b="b" t="t" l="l"/>
              <a:pathLst>
                <a:path h="972058" w="4742434">
                  <a:moveTo>
                    <a:pt x="0" y="162052"/>
                  </a:moveTo>
                  <a:cubicBezTo>
                    <a:pt x="0" y="72517"/>
                    <a:pt x="72517" y="0"/>
                    <a:pt x="162052" y="0"/>
                  </a:cubicBezTo>
                  <a:lnTo>
                    <a:pt x="4580382" y="0"/>
                  </a:lnTo>
                  <a:cubicBezTo>
                    <a:pt x="4669917" y="0"/>
                    <a:pt x="4742434" y="72517"/>
                    <a:pt x="4742434" y="162052"/>
                  </a:cubicBezTo>
                  <a:lnTo>
                    <a:pt x="4742434" y="810006"/>
                  </a:lnTo>
                  <a:cubicBezTo>
                    <a:pt x="4742434" y="899541"/>
                    <a:pt x="4669917" y="972058"/>
                    <a:pt x="4580382" y="972058"/>
                  </a:cubicBezTo>
                  <a:lnTo>
                    <a:pt x="162052" y="972058"/>
                  </a:lnTo>
                  <a:cubicBezTo>
                    <a:pt x="72517" y="972058"/>
                    <a:pt x="0" y="899541"/>
                    <a:pt x="0" y="810006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  <a:ln w="15252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424230" y="7357520"/>
            <a:ext cx="1262863" cy="247079"/>
            <a:chOff x="0" y="0"/>
            <a:chExt cx="1683817" cy="32943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683812" cy="329441"/>
            </a:xfrm>
            <a:custGeom>
              <a:avLst/>
              <a:gdLst/>
              <a:ahLst/>
              <a:cxnLst/>
              <a:rect r="r" b="b" t="t" l="l"/>
              <a:pathLst>
                <a:path h="329441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91" r="0" b="-49589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1683817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Reviews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3424230" y="7645784"/>
            <a:ext cx="3184598" cy="219627"/>
            <a:chOff x="0" y="0"/>
            <a:chExt cx="4246131" cy="29283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4246133" cy="292837"/>
            </a:xfrm>
            <a:custGeom>
              <a:avLst/>
              <a:gdLst/>
              <a:ahLst/>
              <a:cxnLst/>
              <a:rect r="r" b="b" t="t" l="l"/>
              <a:pathLst>
                <a:path h="292837" w="4246133">
                  <a:moveTo>
                    <a:pt x="0" y="0"/>
                  </a:moveTo>
                  <a:lnTo>
                    <a:pt x="4246133" y="0"/>
                  </a:lnTo>
                  <a:lnTo>
                    <a:pt x="424613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2" r="0" b="-23253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9525"/>
              <a:ext cx="4246131" cy="302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score, creation and answer time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4835500" y="8775573"/>
            <a:ext cx="12853549" cy="677951"/>
            <a:chOff x="0" y="0"/>
            <a:chExt cx="17138066" cy="90393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7138014" cy="903859"/>
            </a:xfrm>
            <a:custGeom>
              <a:avLst/>
              <a:gdLst/>
              <a:ahLst/>
              <a:cxnLst/>
              <a:rect r="r" b="b" t="t" l="l"/>
              <a:pathLst>
                <a:path h="903859" w="1713801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lnTo>
                    <a:pt x="16987393" y="0"/>
                  </a:lnTo>
                  <a:cubicBezTo>
                    <a:pt x="17070578" y="0"/>
                    <a:pt x="17138014" y="67437"/>
                    <a:pt x="17138014" y="150622"/>
                  </a:cubicBezTo>
                  <a:lnTo>
                    <a:pt x="17138014" y="753237"/>
                  </a:lnTo>
                  <a:cubicBezTo>
                    <a:pt x="17138014" y="836422"/>
                    <a:pt x="17070578" y="903859"/>
                    <a:pt x="16987393" y="903859"/>
                  </a:cubicBezTo>
                  <a:lnTo>
                    <a:pt x="150622" y="903859"/>
                  </a:lnTo>
                  <a:cubicBezTo>
                    <a:pt x="67437" y="903986"/>
                    <a:pt x="0" y="836422"/>
                    <a:pt x="0" y="753237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19065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5009750" y="8894921"/>
            <a:ext cx="12505049" cy="439255"/>
            <a:chOff x="0" y="0"/>
            <a:chExt cx="16673398" cy="585673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673395" cy="585674"/>
            </a:xfrm>
            <a:custGeom>
              <a:avLst/>
              <a:gdLst/>
              <a:ahLst/>
              <a:cxnLst/>
              <a:rect r="r" b="b" t="t" l="l"/>
              <a:pathLst>
                <a:path h="585674" w="16673395">
                  <a:moveTo>
                    <a:pt x="0" y="0"/>
                  </a:moveTo>
                  <a:lnTo>
                    <a:pt x="16673395" y="0"/>
                  </a:lnTo>
                  <a:lnTo>
                    <a:pt x="1667339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4714" r="0" b="-504714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16673398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Milestone 1 focuses only on preparing the dataset: checking quality, cleaning missing values, validating columns and saving the cleaned file.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746624" y="4731816"/>
            <a:ext cx="2709772" cy="4552881"/>
            <a:chOff x="0" y="0"/>
            <a:chExt cx="483760" cy="812800"/>
          </a:xfrm>
        </p:grpSpPr>
        <p:sp>
          <p:nvSpPr>
            <p:cNvPr name="Freeform 121" id="121"/>
            <p:cNvSpPr/>
            <p:nvPr/>
          </p:nvSpPr>
          <p:spPr>
            <a:xfrm flipH="true" flipV="false" rot="0">
              <a:off x="0" y="0"/>
              <a:ext cx="483760" cy="812800"/>
            </a:xfrm>
            <a:custGeom>
              <a:avLst/>
              <a:gdLst/>
              <a:ahLst/>
              <a:cxnLst/>
              <a:rect r="r" b="b" t="t" l="l"/>
              <a:pathLst>
                <a:path h="812800" w="483760">
                  <a:moveTo>
                    <a:pt x="418048" y="0"/>
                  </a:moveTo>
                  <a:lnTo>
                    <a:pt x="65712" y="0"/>
                  </a:lnTo>
                  <a:cubicBezTo>
                    <a:pt x="48284" y="0"/>
                    <a:pt x="31570" y="6923"/>
                    <a:pt x="19247" y="19247"/>
                  </a:cubicBezTo>
                  <a:cubicBezTo>
                    <a:pt x="6923" y="31570"/>
                    <a:pt x="0" y="48284"/>
                    <a:pt x="0" y="65712"/>
                  </a:cubicBezTo>
                  <a:lnTo>
                    <a:pt x="0" y="747088"/>
                  </a:lnTo>
                  <a:cubicBezTo>
                    <a:pt x="0" y="764516"/>
                    <a:pt x="6923" y="781230"/>
                    <a:pt x="19247" y="793553"/>
                  </a:cubicBezTo>
                  <a:cubicBezTo>
                    <a:pt x="31570" y="805877"/>
                    <a:pt x="48284" y="812800"/>
                    <a:pt x="65712" y="812800"/>
                  </a:cubicBezTo>
                  <a:lnTo>
                    <a:pt x="418048" y="812800"/>
                  </a:lnTo>
                  <a:cubicBezTo>
                    <a:pt x="435476" y="812800"/>
                    <a:pt x="452190" y="805877"/>
                    <a:pt x="464514" y="793553"/>
                  </a:cubicBezTo>
                  <a:cubicBezTo>
                    <a:pt x="476837" y="781230"/>
                    <a:pt x="483760" y="764516"/>
                    <a:pt x="483760" y="747088"/>
                  </a:cubicBezTo>
                  <a:lnTo>
                    <a:pt x="483760" y="65712"/>
                  </a:lnTo>
                  <a:cubicBezTo>
                    <a:pt x="483760" y="48284"/>
                    <a:pt x="476837" y="31570"/>
                    <a:pt x="464514" y="19247"/>
                  </a:cubicBezTo>
                  <a:cubicBezTo>
                    <a:pt x="452190" y="6923"/>
                    <a:pt x="435476" y="0"/>
                    <a:pt x="418048" y="0"/>
                  </a:cubicBezTo>
                  <a:close/>
                </a:path>
              </a:pathLst>
            </a:custGeom>
            <a:blipFill>
              <a:blip r:embed="rId4"/>
              <a:stretch>
                <a:fillRect l="-34008" t="0" r="-44733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324666" y="1180500"/>
            <a:ext cx="1553688" cy="1270637"/>
            <a:chOff x="0" y="0"/>
            <a:chExt cx="543719" cy="444664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5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420979" cy="10314108"/>
            <a:chOff x="0" y="0"/>
            <a:chExt cx="4561305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61275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561275">
                  <a:moveTo>
                    <a:pt x="0" y="0"/>
                  </a:moveTo>
                  <a:lnTo>
                    <a:pt x="4561275" y="0"/>
                  </a:lnTo>
                  <a:lnTo>
                    <a:pt x="4561275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3948673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48673" y="754971"/>
            <a:ext cx="14001255" cy="823608"/>
            <a:chOff x="0" y="0"/>
            <a:chExt cx="18668340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668344" cy="1098138"/>
            </a:xfrm>
            <a:custGeom>
              <a:avLst/>
              <a:gdLst/>
              <a:ahLst/>
              <a:cxnLst/>
              <a:rect r="r" b="b" t="t" l="l"/>
              <a:pathLst>
                <a:path h="1098138" w="18668344">
                  <a:moveTo>
                    <a:pt x="0" y="0"/>
                  </a:moveTo>
                  <a:lnTo>
                    <a:pt x="18668344" y="0"/>
                  </a:lnTo>
                  <a:lnTo>
                    <a:pt x="1866834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668340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5"/>
                </a:lnSpc>
              </a:pPr>
              <a:r>
                <a:rPr lang="en-US" sz="57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Initial Data Quality Check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989850" y="1990373"/>
            <a:ext cx="12903117" cy="466706"/>
            <a:chOff x="0" y="0"/>
            <a:chExt cx="17204157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204161" cy="622278"/>
            </a:xfrm>
            <a:custGeom>
              <a:avLst/>
              <a:gdLst/>
              <a:ahLst/>
              <a:cxnLst/>
              <a:rect r="r" b="b" t="t" l="l"/>
              <a:pathLst>
                <a:path h="622278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4" r="0" b="-4887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204157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The raw dataset was inspected using shape, info, duplicates and missing-value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935319" y="2567283"/>
            <a:ext cx="4419238" cy="6684150"/>
            <a:chOff x="0" y="0"/>
            <a:chExt cx="5892317" cy="8912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92292" cy="8912225"/>
            </a:xfrm>
            <a:custGeom>
              <a:avLst/>
              <a:gdLst/>
              <a:ahLst/>
              <a:cxnLst/>
              <a:rect r="r" b="b" t="t" l="l"/>
              <a:pathLst>
                <a:path h="8912225" w="5892292">
                  <a:moveTo>
                    <a:pt x="0" y="165735"/>
                  </a:moveTo>
                  <a:cubicBezTo>
                    <a:pt x="0" y="74168"/>
                    <a:pt x="74168" y="0"/>
                    <a:pt x="165735" y="0"/>
                  </a:cubicBezTo>
                  <a:lnTo>
                    <a:pt x="5726557" y="0"/>
                  </a:lnTo>
                  <a:cubicBezTo>
                    <a:pt x="5818124" y="0"/>
                    <a:pt x="5892292" y="74168"/>
                    <a:pt x="5892292" y="165735"/>
                  </a:cubicBezTo>
                  <a:lnTo>
                    <a:pt x="5892292" y="8746490"/>
                  </a:lnTo>
                  <a:cubicBezTo>
                    <a:pt x="5892292" y="8838057"/>
                    <a:pt x="5818124" y="8912225"/>
                    <a:pt x="5726557" y="8912225"/>
                  </a:cubicBezTo>
                  <a:lnTo>
                    <a:pt x="165735" y="8912225"/>
                  </a:lnTo>
                  <a:cubicBezTo>
                    <a:pt x="74168" y="8912225"/>
                    <a:pt x="0" y="8838057"/>
                    <a:pt x="0" y="8746490"/>
                  </a:cubicBezTo>
                  <a:close/>
                </a:path>
              </a:pathLst>
            </a:custGeom>
            <a:solidFill>
              <a:srgbClr val="7356B4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319291" y="2910068"/>
            <a:ext cx="3637578" cy="411804"/>
            <a:chOff x="0" y="0"/>
            <a:chExt cx="4850105" cy="549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50109" cy="549069"/>
            </a:xfrm>
            <a:custGeom>
              <a:avLst/>
              <a:gdLst/>
              <a:ahLst/>
              <a:cxnLst/>
              <a:rect r="r" b="b" t="t" l="l"/>
              <a:pathLst>
                <a:path h="549069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117" r="0" b="-12211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850105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Checks Performed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19291" y="3623853"/>
            <a:ext cx="3500314" cy="3431681"/>
            <a:chOff x="0" y="0"/>
            <a:chExt cx="4667085" cy="457557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67086" cy="4575580"/>
            </a:xfrm>
            <a:custGeom>
              <a:avLst/>
              <a:gdLst/>
              <a:ahLst/>
              <a:cxnLst/>
              <a:rect r="r" b="b" t="t" l="l"/>
              <a:pathLst>
                <a:path h="4575580" w="4667086">
                  <a:moveTo>
                    <a:pt x="0" y="0"/>
                  </a:moveTo>
                  <a:lnTo>
                    <a:pt x="4667086" y="0"/>
                  </a:lnTo>
                  <a:lnTo>
                    <a:pt x="4667086" y="4575580"/>
                  </a:lnTo>
                  <a:lnTo>
                    <a:pt x="0" y="4575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787" t="0" r="-7578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667085" cy="463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414852" indent="-207426" lvl="1">
                <a:lnSpc>
                  <a:spcPts val="2959"/>
                </a:lnSpc>
                <a:buFont typeface="Arial"/>
                <a:buChar char="•"/>
              </a:pPr>
              <a:r>
                <a:rPr lang="en-US" sz="192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Viewed first and last records</a:t>
              </a:r>
            </a:p>
            <a:p>
              <a:pPr algn="just" marL="414852" indent="-207426" lvl="1">
                <a:lnSpc>
                  <a:spcPts val="2959"/>
                </a:lnSpc>
                <a:buFont typeface="Arial"/>
                <a:buChar char="•"/>
              </a:pPr>
              <a:r>
                <a:rPr lang="en-US" sz="192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Checked row/column count</a:t>
              </a:r>
            </a:p>
            <a:p>
              <a:pPr algn="just" marL="414852" indent="-207426" lvl="1">
                <a:lnSpc>
                  <a:spcPts val="2959"/>
                </a:lnSpc>
                <a:buFont typeface="Arial"/>
                <a:buChar char="•"/>
              </a:pPr>
              <a:r>
                <a:rPr lang="en-US" sz="192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Checked data types with info()</a:t>
              </a:r>
            </a:p>
            <a:p>
              <a:pPr algn="just" marL="414852" indent="-207426" lvl="1">
                <a:lnSpc>
                  <a:spcPts val="2959"/>
                </a:lnSpc>
                <a:buFont typeface="Arial"/>
                <a:buChar char="•"/>
              </a:pPr>
              <a:r>
                <a:rPr lang="en-US" sz="192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Checked exact duplicate rows</a:t>
              </a:r>
            </a:p>
            <a:p>
              <a:pPr algn="just" marL="414852" indent="-207426" lvl="1">
                <a:lnSpc>
                  <a:spcPts val="2959"/>
                </a:lnSpc>
                <a:buFont typeface="Arial"/>
                <a:buChar char="•"/>
              </a:pPr>
              <a:r>
                <a:rPr lang="en-US" sz="192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Calculated missing-value counts and percentages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09757" y="7746063"/>
            <a:ext cx="3519383" cy="870118"/>
            <a:chOff x="0" y="0"/>
            <a:chExt cx="4692510" cy="116015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92523" cy="1160272"/>
            </a:xfrm>
            <a:custGeom>
              <a:avLst/>
              <a:gdLst/>
              <a:ahLst/>
              <a:cxnLst/>
              <a:rect r="r" b="b" t="t" l="l"/>
              <a:pathLst>
                <a:path h="1160272" w="4692523">
                  <a:moveTo>
                    <a:pt x="0" y="193421"/>
                  </a:moveTo>
                  <a:cubicBezTo>
                    <a:pt x="0" y="86614"/>
                    <a:pt x="86614" y="0"/>
                    <a:pt x="193421" y="0"/>
                  </a:cubicBezTo>
                  <a:lnTo>
                    <a:pt x="4499102" y="0"/>
                  </a:lnTo>
                  <a:cubicBezTo>
                    <a:pt x="4605909" y="0"/>
                    <a:pt x="4692523" y="86614"/>
                    <a:pt x="4692523" y="193421"/>
                  </a:cubicBezTo>
                  <a:lnTo>
                    <a:pt x="4692523" y="966851"/>
                  </a:lnTo>
                  <a:cubicBezTo>
                    <a:pt x="4692523" y="1073658"/>
                    <a:pt x="4605909" y="1160272"/>
                    <a:pt x="4499102" y="1160272"/>
                  </a:cubicBezTo>
                  <a:lnTo>
                    <a:pt x="193421" y="1160272"/>
                  </a:lnTo>
                  <a:cubicBezTo>
                    <a:pt x="86614" y="1160145"/>
                    <a:pt x="0" y="1073531"/>
                    <a:pt x="0" y="966851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4538919" y="8030137"/>
            <a:ext cx="3088510" cy="274539"/>
            <a:chOff x="0" y="0"/>
            <a:chExt cx="4118013" cy="3660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118017" cy="366046"/>
            </a:xfrm>
            <a:custGeom>
              <a:avLst/>
              <a:gdLst/>
              <a:ahLst/>
              <a:cxnLst/>
              <a:rect r="r" b="b" t="t" l="l"/>
              <a:pathLst>
                <a:path h="366046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5" r="0" b="-1692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4118013" cy="366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exact duplicate rows found</a:t>
              </a:r>
            </a:p>
          </p:txBody>
        </p:sp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993477" y="1680003"/>
            <a:ext cx="10647365" cy="7622487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 rot="0">
            <a:off x="8880757" y="8569671"/>
            <a:ext cx="8872804" cy="774030"/>
            <a:chOff x="0" y="0"/>
            <a:chExt cx="11830406" cy="1032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830303" cy="1032002"/>
            </a:xfrm>
            <a:custGeom>
              <a:avLst/>
              <a:gdLst/>
              <a:ahLst/>
              <a:cxnLst/>
              <a:rect r="r" b="b" t="t" l="l"/>
              <a:pathLst>
                <a:path h="1032002" w="11830303">
                  <a:moveTo>
                    <a:pt x="0" y="171958"/>
                  </a:moveTo>
                  <a:cubicBezTo>
                    <a:pt x="0" y="76962"/>
                    <a:pt x="76962" y="0"/>
                    <a:pt x="171958" y="0"/>
                  </a:cubicBezTo>
                  <a:lnTo>
                    <a:pt x="11658346" y="0"/>
                  </a:lnTo>
                  <a:cubicBezTo>
                    <a:pt x="11753342" y="0"/>
                    <a:pt x="11830303" y="76962"/>
                    <a:pt x="11830303" y="171958"/>
                  </a:cubicBezTo>
                  <a:lnTo>
                    <a:pt x="11830303" y="860044"/>
                  </a:lnTo>
                  <a:cubicBezTo>
                    <a:pt x="11830303" y="955040"/>
                    <a:pt x="11753342" y="1032002"/>
                    <a:pt x="11658346" y="1032002"/>
                  </a:cubicBezTo>
                  <a:lnTo>
                    <a:pt x="171958" y="1032002"/>
                  </a:lnTo>
                  <a:cubicBezTo>
                    <a:pt x="76962" y="1032002"/>
                    <a:pt x="0" y="955040"/>
                    <a:pt x="0" y="860044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19065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055007" y="8689019"/>
            <a:ext cx="8524294" cy="535343"/>
            <a:chOff x="0" y="0"/>
            <a:chExt cx="11365725" cy="7137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65727" cy="713790"/>
            </a:xfrm>
            <a:custGeom>
              <a:avLst/>
              <a:gdLst/>
              <a:ahLst/>
              <a:cxnLst/>
              <a:rect r="r" b="b" t="t" l="l"/>
              <a:pathLst>
                <a:path h="713790" w="11365727">
                  <a:moveTo>
                    <a:pt x="0" y="0"/>
                  </a:moveTo>
                  <a:lnTo>
                    <a:pt x="11365727" y="0"/>
                  </a:lnTo>
                  <a:lnTo>
                    <a:pt x="11365727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0261" r="0" b="-2602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1365725" cy="7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Observation: Review text fields had very high missing values, so they were removed. Delivery-date missing values were kept meaningful for order-status analysis.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370628" y="6030201"/>
            <a:ext cx="2507417" cy="3194162"/>
          </a:xfrm>
          <a:custGeom>
            <a:avLst/>
            <a:gdLst/>
            <a:ahLst/>
            <a:cxnLst/>
            <a:rect r="r" b="b" t="t" l="l"/>
            <a:pathLst>
              <a:path h="3194162" w="2507417">
                <a:moveTo>
                  <a:pt x="0" y="0"/>
                </a:moveTo>
                <a:lnTo>
                  <a:pt x="2507416" y="0"/>
                </a:lnTo>
                <a:lnTo>
                  <a:pt x="2507416" y="3194161"/>
                </a:lnTo>
                <a:lnTo>
                  <a:pt x="0" y="319416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24111" y="1186442"/>
            <a:ext cx="1553688" cy="1270637"/>
            <a:chOff x="0" y="0"/>
            <a:chExt cx="543719" cy="4446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7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441983" cy="10314108"/>
            <a:chOff x="0" y="0"/>
            <a:chExt cx="4589310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9279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4589279">
                  <a:moveTo>
                    <a:pt x="0" y="0"/>
                  </a:moveTo>
                  <a:lnTo>
                    <a:pt x="4589279" y="0"/>
                  </a:lnTo>
                  <a:lnTo>
                    <a:pt x="4589279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102665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06959" y="625495"/>
            <a:ext cx="13082251" cy="1082558"/>
            <a:chOff x="0" y="0"/>
            <a:chExt cx="17443002" cy="14434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443000" cy="1443404"/>
            </a:xfrm>
            <a:custGeom>
              <a:avLst/>
              <a:gdLst/>
              <a:ahLst/>
              <a:cxnLst/>
              <a:rect r="r" b="b" t="t" l="l"/>
              <a:pathLst>
                <a:path h="1443404" w="17443000">
                  <a:moveTo>
                    <a:pt x="0" y="0"/>
                  </a:moveTo>
                  <a:lnTo>
                    <a:pt x="17443000" y="0"/>
                  </a:lnTo>
                  <a:lnTo>
                    <a:pt x="17443000" y="1443404"/>
                  </a:lnTo>
                  <a:lnTo>
                    <a:pt x="0" y="14434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29" r="-4926" b="-18510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7443002" cy="1452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5"/>
                </a:lnSpc>
              </a:pPr>
              <a:r>
                <a:rPr lang="en-US" sz="57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Cleaning Actions Performed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46203" y="1985987"/>
            <a:ext cx="12297312" cy="475477"/>
            <a:chOff x="0" y="0"/>
            <a:chExt cx="16396416" cy="633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6396421" cy="633973"/>
            </a:xfrm>
            <a:custGeom>
              <a:avLst/>
              <a:gdLst/>
              <a:ahLst/>
              <a:cxnLst/>
              <a:rect r="r" b="b" t="t" l="l"/>
              <a:pathLst>
                <a:path h="633973" w="16396421">
                  <a:moveTo>
                    <a:pt x="0" y="0"/>
                  </a:moveTo>
                  <a:lnTo>
                    <a:pt x="16396421" y="0"/>
                  </a:lnTo>
                  <a:lnTo>
                    <a:pt x="16396421" y="633973"/>
                  </a:lnTo>
                  <a:lnTo>
                    <a:pt x="0" y="6339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688" r="-4926" b="-4778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6396416" cy="633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The notebook cleaned the dataset in a simple and structured order.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02665" y="2649636"/>
            <a:ext cx="4080933" cy="2579865"/>
            <a:chOff x="0" y="0"/>
            <a:chExt cx="5441244" cy="34398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311617" y="2709769"/>
            <a:ext cx="784939" cy="620227"/>
            <a:chOff x="0" y="0"/>
            <a:chExt cx="1046585" cy="8269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11617" y="3255326"/>
            <a:ext cx="3663028" cy="840153"/>
            <a:chOff x="0" y="0"/>
            <a:chExt cx="4884037" cy="11202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84040" cy="1120190"/>
            </a:xfrm>
            <a:custGeom>
              <a:avLst/>
              <a:gdLst/>
              <a:ahLst/>
              <a:cxnLst/>
              <a:rect r="r" b="b" t="t" l="l"/>
              <a:pathLst>
                <a:path h="1120190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120190"/>
                  </a:lnTo>
                  <a:lnTo>
                    <a:pt x="0" y="1120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65" r="-4926" b="-1201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884037" cy="11202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Removed unnecessary columns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311617" y="3925844"/>
            <a:ext cx="3663028" cy="1180498"/>
            <a:chOff x="0" y="0"/>
            <a:chExt cx="4884037" cy="157399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Dropped review comments, customer_unique_id and zip-code prefix columns to reduce noise.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864596" y="2649636"/>
            <a:ext cx="4080933" cy="2579865"/>
            <a:chOff x="0" y="0"/>
            <a:chExt cx="5441244" cy="34398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073549" y="2709769"/>
            <a:ext cx="784939" cy="620227"/>
            <a:chOff x="0" y="0"/>
            <a:chExt cx="1046585" cy="8269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73549" y="3355820"/>
            <a:ext cx="3663028" cy="426262"/>
            <a:chOff x="0" y="0"/>
            <a:chExt cx="4884037" cy="5683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84040" cy="568343"/>
            </a:xfrm>
            <a:custGeom>
              <a:avLst/>
              <a:gdLst/>
              <a:ahLst/>
              <a:cxnLst/>
              <a:rect r="r" b="b" t="t" l="l"/>
              <a:pathLst>
                <a:path h="568343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568343"/>
                  </a:lnTo>
                  <a:lnTo>
                    <a:pt x="0" y="5683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08" r="-4926" b="-12077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884037" cy="5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Filled missing categories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073549" y="3925844"/>
            <a:ext cx="3663028" cy="1180498"/>
            <a:chOff x="0" y="0"/>
            <a:chExt cx="4884037" cy="157399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Product categories were replaced with “Unknown” instead of deleting those orders.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626537" y="2649636"/>
            <a:ext cx="4080933" cy="2579865"/>
            <a:chOff x="0" y="0"/>
            <a:chExt cx="5441244" cy="34398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835490" y="2709769"/>
            <a:ext cx="784939" cy="620227"/>
            <a:chOff x="0" y="0"/>
            <a:chExt cx="1046585" cy="8269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03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835490" y="3355820"/>
            <a:ext cx="3663028" cy="426262"/>
            <a:chOff x="0" y="0"/>
            <a:chExt cx="4884037" cy="56835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84040" cy="568343"/>
            </a:xfrm>
            <a:custGeom>
              <a:avLst/>
              <a:gdLst/>
              <a:ahLst/>
              <a:cxnLst/>
              <a:rect r="r" b="b" t="t" l="l"/>
              <a:pathLst>
                <a:path h="568343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568343"/>
                  </a:lnTo>
                  <a:lnTo>
                    <a:pt x="0" y="5683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08" r="-4926" b="-12077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884037" cy="5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Filled numerical fields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835490" y="3925844"/>
            <a:ext cx="3663028" cy="1180498"/>
            <a:chOff x="0" y="0"/>
            <a:chExt cx="4884037" cy="157399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Product weight, length, height, width and product details were filled using median values.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102665" y="6369577"/>
            <a:ext cx="4080933" cy="2579865"/>
            <a:chOff x="0" y="0"/>
            <a:chExt cx="5441244" cy="34398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4311617" y="6429710"/>
            <a:ext cx="784939" cy="620227"/>
            <a:chOff x="0" y="0"/>
            <a:chExt cx="1046585" cy="82697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4311617" y="7007076"/>
            <a:ext cx="3663028" cy="769162"/>
            <a:chOff x="0" y="0"/>
            <a:chExt cx="4884037" cy="102555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884040" cy="1025538"/>
            </a:xfrm>
            <a:custGeom>
              <a:avLst/>
              <a:gdLst/>
              <a:ahLst/>
              <a:cxnLst/>
              <a:rect r="r" b="b" t="t" l="l"/>
              <a:pathLst>
                <a:path h="1025538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025538"/>
                  </a:lnTo>
                  <a:lnTo>
                    <a:pt x="0" y="10255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381" r="-4926" b="-2235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4884037" cy="102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Completed seller &amp; payment fields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4311617" y="7645785"/>
            <a:ext cx="3663028" cy="1180498"/>
            <a:chOff x="0" y="0"/>
            <a:chExt cx="4884037" cy="157399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Seller/payment missing values were filled using mode or median based on column type.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864596" y="6369577"/>
            <a:ext cx="4080933" cy="2579865"/>
            <a:chOff x="0" y="0"/>
            <a:chExt cx="5441244" cy="34398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073549" y="6429710"/>
            <a:ext cx="784939" cy="620227"/>
            <a:chOff x="0" y="0"/>
            <a:chExt cx="1046585" cy="82697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05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073549" y="7075761"/>
            <a:ext cx="3663028" cy="426262"/>
            <a:chOff x="0" y="0"/>
            <a:chExt cx="4884037" cy="56835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884040" cy="568343"/>
            </a:xfrm>
            <a:custGeom>
              <a:avLst/>
              <a:gdLst/>
              <a:ahLst/>
              <a:cxnLst/>
              <a:rect r="r" b="b" t="t" l="l"/>
              <a:pathLst>
                <a:path h="568343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568343"/>
                  </a:lnTo>
                  <a:lnTo>
                    <a:pt x="0" y="5683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608" r="-4926" b="-12077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4884037" cy="5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Fixed approval dates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073549" y="7645785"/>
            <a:ext cx="3663028" cy="1180498"/>
            <a:chOff x="0" y="0"/>
            <a:chExt cx="4884037" cy="157399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Missing approval dates were filled using purchase timestamp when approval time was unavailable.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626537" y="6369577"/>
            <a:ext cx="4080933" cy="2579865"/>
            <a:chOff x="0" y="0"/>
            <a:chExt cx="5441244" cy="34398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441232" cy="3439922"/>
            </a:xfrm>
            <a:custGeom>
              <a:avLst/>
              <a:gdLst/>
              <a:ahLst/>
              <a:cxnLst/>
              <a:rect r="r" b="b" t="t" l="l"/>
              <a:pathLst>
                <a:path h="3439922" w="5441232">
                  <a:moveTo>
                    <a:pt x="0" y="166497"/>
                  </a:moveTo>
                  <a:cubicBezTo>
                    <a:pt x="0" y="74549"/>
                    <a:pt x="71049" y="0"/>
                    <a:pt x="158680" y="0"/>
                  </a:cubicBezTo>
                  <a:lnTo>
                    <a:pt x="5282552" y="0"/>
                  </a:lnTo>
                  <a:cubicBezTo>
                    <a:pt x="5370183" y="0"/>
                    <a:pt x="5441232" y="74549"/>
                    <a:pt x="5441232" y="166497"/>
                  </a:cubicBezTo>
                  <a:lnTo>
                    <a:pt x="5441232" y="3273425"/>
                  </a:lnTo>
                  <a:cubicBezTo>
                    <a:pt x="5441232" y="3365373"/>
                    <a:pt x="5370183" y="3439922"/>
                    <a:pt x="5282552" y="3439922"/>
                  </a:cubicBezTo>
                  <a:lnTo>
                    <a:pt x="158680" y="3439922"/>
                  </a:lnTo>
                  <a:cubicBezTo>
                    <a:pt x="71049" y="3439795"/>
                    <a:pt x="0" y="3365246"/>
                    <a:pt x="0" y="3273425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835490" y="6429710"/>
            <a:ext cx="784939" cy="620227"/>
            <a:chOff x="0" y="0"/>
            <a:chExt cx="1046585" cy="82697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046580" cy="826970"/>
            </a:xfrm>
            <a:custGeom>
              <a:avLst/>
              <a:gdLst/>
              <a:ahLst/>
              <a:cxnLst/>
              <a:rect r="r" b="b" t="t" l="l"/>
              <a:pathLst>
                <a:path h="826970" w="1046580">
                  <a:moveTo>
                    <a:pt x="0" y="0"/>
                  </a:moveTo>
                  <a:lnTo>
                    <a:pt x="1046580" y="0"/>
                  </a:lnTo>
                  <a:lnTo>
                    <a:pt x="1046580" y="826970"/>
                  </a:lnTo>
                  <a:lnTo>
                    <a:pt x="0" y="826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336" t="0" r="-24262" b="2917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1046585" cy="826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06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3835490" y="6904311"/>
            <a:ext cx="3663028" cy="769162"/>
            <a:chOff x="0" y="0"/>
            <a:chExt cx="4884037" cy="10255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884040" cy="1025538"/>
            </a:xfrm>
            <a:custGeom>
              <a:avLst/>
              <a:gdLst/>
              <a:ahLst/>
              <a:cxnLst/>
              <a:rect r="r" b="b" t="t" l="l"/>
              <a:pathLst>
                <a:path h="1025538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025538"/>
                  </a:lnTo>
                  <a:lnTo>
                    <a:pt x="0" y="10255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381" r="-4926" b="-22352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4884037" cy="1025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Removed broken key records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835490" y="7645785"/>
            <a:ext cx="3663028" cy="1180498"/>
            <a:chOff x="0" y="0"/>
            <a:chExt cx="4884037" cy="157399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884040" cy="1573995"/>
            </a:xfrm>
            <a:custGeom>
              <a:avLst/>
              <a:gdLst/>
              <a:ahLst/>
              <a:cxnLst/>
              <a:rect r="r" b="b" t="t" l="l"/>
              <a:pathLst>
                <a:path h="1573995" w="4884040">
                  <a:moveTo>
                    <a:pt x="0" y="0"/>
                  </a:moveTo>
                  <a:lnTo>
                    <a:pt x="4884040" y="0"/>
                  </a:lnTo>
                  <a:lnTo>
                    <a:pt x="4884040" y="1573995"/>
                  </a:lnTo>
                  <a:lnTo>
                    <a:pt x="0" y="15739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439" r="-4926" b="-1343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4884037" cy="15739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Rows without order_item_id or product_id were removed because they cannot be used for item-level analysis.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24111" y="1186442"/>
            <a:ext cx="1553688" cy="1270637"/>
            <a:chOff x="0" y="0"/>
            <a:chExt cx="543719" cy="44466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4"/>
              <a:stretch>
                <a:fillRect l="-4521" t="0" r="-4521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380846" y="6762070"/>
            <a:ext cx="2661221" cy="2187372"/>
            <a:chOff x="0" y="0"/>
            <a:chExt cx="636801" cy="523414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36801" cy="523414"/>
            </a:xfrm>
            <a:custGeom>
              <a:avLst/>
              <a:gdLst/>
              <a:ahLst/>
              <a:cxnLst/>
              <a:rect r="r" b="b" t="t" l="l"/>
              <a:pathLst>
                <a:path h="523414" w="636801">
                  <a:moveTo>
                    <a:pt x="66911" y="0"/>
                  </a:moveTo>
                  <a:lnTo>
                    <a:pt x="569890" y="0"/>
                  </a:lnTo>
                  <a:cubicBezTo>
                    <a:pt x="587636" y="0"/>
                    <a:pt x="604655" y="7050"/>
                    <a:pt x="617203" y="19598"/>
                  </a:cubicBezTo>
                  <a:cubicBezTo>
                    <a:pt x="629751" y="32146"/>
                    <a:pt x="636801" y="49165"/>
                    <a:pt x="636801" y="66911"/>
                  </a:cubicBezTo>
                  <a:lnTo>
                    <a:pt x="636801" y="456503"/>
                  </a:lnTo>
                  <a:cubicBezTo>
                    <a:pt x="636801" y="474249"/>
                    <a:pt x="629751" y="491268"/>
                    <a:pt x="617203" y="503816"/>
                  </a:cubicBezTo>
                  <a:cubicBezTo>
                    <a:pt x="604655" y="516365"/>
                    <a:pt x="587636" y="523414"/>
                    <a:pt x="569890" y="523414"/>
                  </a:cubicBezTo>
                  <a:lnTo>
                    <a:pt x="66911" y="523414"/>
                  </a:lnTo>
                  <a:cubicBezTo>
                    <a:pt x="49165" y="523414"/>
                    <a:pt x="32146" y="516365"/>
                    <a:pt x="19598" y="503816"/>
                  </a:cubicBezTo>
                  <a:cubicBezTo>
                    <a:pt x="7050" y="491268"/>
                    <a:pt x="0" y="474249"/>
                    <a:pt x="0" y="456503"/>
                  </a:cubicBezTo>
                  <a:lnTo>
                    <a:pt x="0" y="66911"/>
                  </a:lnTo>
                  <a:cubicBezTo>
                    <a:pt x="0" y="49165"/>
                    <a:pt x="7050" y="32146"/>
                    <a:pt x="19598" y="19598"/>
                  </a:cubicBezTo>
                  <a:cubicBezTo>
                    <a:pt x="32146" y="7050"/>
                    <a:pt x="49165" y="0"/>
                    <a:pt x="66911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531" r="0" b="-16387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777883" cy="10314108"/>
            <a:chOff x="0" y="0"/>
            <a:chExt cx="5037178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3714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5037144">
                  <a:moveTo>
                    <a:pt x="0" y="0"/>
                  </a:moveTo>
                  <a:lnTo>
                    <a:pt x="5037144" y="0"/>
                  </a:lnTo>
                  <a:lnTo>
                    <a:pt x="503714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451530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Page:05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410353" y="754971"/>
            <a:ext cx="13726725" cy="823608"/>
            <a:chOff x="0" y="0"/>
            <a:chExt cx="18302300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29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8302298">
                  <a:moveTo>
                    <a:pt x="0" y="0"/>
                  </a:moveTo>
                  <a:lnTo>
                    <a:pt x="18302298" y="0"/>
                  </a:lnTo>
                  <a:lnTo>
                    <a:pt x="1830229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302300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5"/>
                </a:lnSpc>
              </a:pPr>
              <a:r>
                <a:rPr lang="en-US" sz="54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Date Columns &amp; Delivery Feature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51530" y="1990373"/>
            <a:ext cx="12903117" cy="466706"/>
            <a:chOff x="0" y="0"/>
            <a:chExt cx="17204157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204161" cy="622278"/>
            </a:xfrm>
            <a:custGeom>
              <a:avLst/>
              <a:gdLst/>
              <a:ahLst/>
              <a:cxnLst/>
              <a:rect r="r" b="b" t="t" l="l"/>
              <a:pathLst>
                <a:path h="622278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4" r="0" b="-4887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204157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Delivery dates are central to supply-chain visibility and delay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96999" y="2731999"/>
            <a:ext cx="13341610" cy="3046571"/>
            <a:chOff x="0" y="0"/>
            <a:chExt cx="17788814" cy="40620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788889" cy="4062095"/>
            </a:xfrm>
            <a:custGeom>
              <a:avLst/>
              <a:gdLst/>
              <a:ahLst/>
              <a:cxnLst/>
              <a:rect r="r" b="b" t="t" l="l"/>
              <a:pathLst>
                <a:path h="4062095" w="17788889">
                  <a:moveTo>
                    <a:pt x="0" y="166243"/>
                  </a:moveTo>
                  <a:cubicBezTo>
                    <a:pt x="0" y="74422"/>
                    <a:pt x="74422" y="0"/>
                    <a:pt x="166243" y="0"/>
                  </a:cubicBezTo>
                  <a:lnTo>
                    <a:pt x="17622647" y="0"/>
                  </a:lnTo>
                  <a:cubicBezTo>
                    <a:pt x="17714468" y="0"/>
                    <a:pt x="17788889" y="74422"/>
                    <a:pt x="17788889" y="166243"/>
                  </a:cubicBezTo>
                  <a:lnTo>
                    <a:pt x="17788889" y="3895852"/>
                  </a:lnTo>
                  <a:cubicBezTo>
                    <a:pt x="17788889" y="3987673"/>
                    <a:pt x="17714468" y="4062095"/>
                    <a:pt x="17622647" y="4062095"/>
                  </a:cubicBezTo>
                  <a:lnTo>
                    <a:pt x="166243" y="4062095"/>
                  </a:lnTo>
                  <a:cubicBezTo>
                    <a:pt x="74422" y="4062095"/>
                    <a:pt x="0" y="3987673"/>
                    <a:pt x="0" y="3895852"/>
                  </a:cubicBezTo>
                  <a:close/>
                </a:path>
              </a:pathLst>
            </a:custGeom>
            <a:solidFill>
              <a:srgbClr val="7356B4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448379" y="3959781"/>
            <a:ext cx="1620517" cy="41939"/>
            <a:chOff x="0" y="0"/>
            <a:chExt cx="2160689" cy="5591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60651" cy="55880"/>
            </a:xfrm>
            <a:custGeom>
              <a:avLst/>
              <a:gdLst/>
              <a:ahLst/>
              <a:cxnLst/>
              <a:rect r="r" b="b" t="t" l="l"/>
              <a:pathLst>
                <a:path h="55880" w="2160651">
                  <a:moveTo>
                    <a:pt x="0" y="0"/>
                  </a:moveTo>
                  <a:lnTo>
                    <a:pt x="2160651" y="55880"/>
                  </a:lnTo>
                </a:path>
              </a:pathLst>
            </a:custGeom>
            <a:blipFill>
              <a:blip r:embed="rId3"/>
              <a:stretch>
                <a:fillRect l="0" t="-703385" r="-1" b="-703454"/>
              </a:stretch>
            </a:blipFill>
            <a:ln w="4762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8987820" y="3959781"/>
            <a:ext cx="1620517" cy="41939"/>
            <a:chOff x="0" y="0"/>
            <a:chExt cx="2160689" cy="559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60651" cy="55880"/>
            </a:xfrm>
            <a:custGeom>
              <a:avLst/>
              <a:gdLst/>
              <a:ahLst/>
              <a:cxnLst/>
              <a:rect r="r" b="b" t="t" l="l"/>
              <a:pathLst>
                <a:path h="55880" w="2160651">
                  <a:moveTo>
                    <a:pt x="0" y="0"/>
                  </a:moveTo>
                  <a:lnTo>
                    <a:pt x="2160651" y="55880"/>
                  </a:lnTo>
                </a:path>
              </a:pathLst>
            </a:custGeom>
            <a:blipFill>
              <a:blip r:embed="rId3"/>
              <a:stretch>
                <a:fillRect l="0" t="-703385" r="-1" b="-703454"/>
              </a:stretch>
            </a:blipFill>
            <a:ln w="4762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527262" y="3959781"/>
            <a:ext cx="1620517" cy="41939"/>
            <a:chOff x="0" y="0"/>
            <a:chExt cx="2160689" cy="5591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60651" cy="55880"/>
            </a:xfrm>
            <a:custGeom>
              <a:avLst/>
              <a:gdLst/>
              <a:ahLst/>
              <a:cxnLst/>
              <a:rect r="r" b="b" t="t" l="l"/>
              <a:pathLst>
                <a:path h="55880" w="2160651">
                  <a:moveTo>
                    <a:pt x="0" y="0"/>
                  </a:moveTo>
                  <a:lnTo>
                    <a:pt x="2160651" y="55880"/>
                  </a:lnTo>
                </a:path>
              </a:pathLst>
            </a:custGeom>
            <a:blipFill>
              <a:blip r:embed="rId3"/>
              <a:stretch>
                <a:fillRect l="0" t="-703385" r="-1" b="-703454"/>
              </a:stretch>
            </a:blipFill>
            <a:ln w="4762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066712" y="3959781"/>
            <a:ext cx="1620517" cy="41939"/>
            <a:chOff x="0" y="0"/>
            <a:chExt cx="2160689" cy="5591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60651" cy="55880"/>
            </a:xfrm>
            <a:custGeom>
              <a:avLst/>
              <a:gdLst/>
              <a:ahLst/>
              <a:cxnLst/>
              <a:rect r="r" b="b" t="t" l="l"/>
              <a:pathLst>
                <a:path h="55880" w="2160651">
                  <a:moveTo>
                    <a:pt x="0" y="0"/>
                  </a:moveTo>
                  <a:lnTo>
                    <a:pt x="2160651" y="55880"/>
                  </a:lnTo>
                </a:path>
              </a:pathLst>
            </a:custGeom>
            <a:blipFill>
              <a:blip r:embed="rId3"/>
              <a:stretch>
                <a:fillRect l="0" t="-703385" r="-1" b="-703454"/>
              </a:stretch>
            </a:blipFill>
            <a:ln w="4762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485221" y="3262880"/>
            <a:ext cx="979932" cy="979932"/>
            <a:chOff x="0" y="0"/>
            <a:chExt cx="1306576" cy="13065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06576" cy="1306576"/>
            </a:xfrm>
            <a:custGeom>
              <a:avLst/>
              <a:gdLst/>
              <a:ahLst/>
              <a:cxnLst/>
              <a:rect r="r" b="b" t="t" l="l"/>
              <a:pathLst>
                <a:path h="1306576" w="1306576">
                  <a:moveTo>
                    <a:pt x="0" y="653288"/>
                  </a:moveTo>
                  <a:cubicBezTo>
                    <a:pt x="0" y="292481"/>
                    <a:pt x="292481" y="0"/>
                    <a:pt x="653288" y="0"/>
                  </a:cubicBezTo>
                  <a:cubicBezTo>
                    <a:pt x="1014095" y="0"/>
                    <a:pt x="1306576" y="292481"/>
                    <a:pt x="1306576" y="653288"/>
                  </a:cubicBezTo>
                  <a:cubicBezTo>
                    <a:pt x="1306576" y="1014095"/>
                    <a:pt x="1014095" y="1306576"/>
                    <a:pt x="653288" y="1306576"/>
                  </a:cubicBezTo>
                  <a:cubicBezTo>
                    <a:pt x="292481" y="1306576"/>
                    <a:pt x="0" y="1014095"/>
                    <a:pt x="0" y="653288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741834" y="3519493"/>
            <a:ext cx="466706" cy="474518"/>
            <a:chOff x="0" y="0"/>
            <a:chExt cx="622275" cy="6326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2278" cy="632691"/>
            </a:xfrm>
            <a:custGeom>
              <a:avLst/>
              <a:gdLst/>
              <a:ahLst/>
              <a:cxnLst/>
              <a:rect r="r" b="b" t="t" l="l"/>
              <a:pathLst>
                <a:path h="632691" w="622278">
                  <a:moveTo>
                    <a:pt x="0" y="0"/>
                  </a:moveTo>
                  <a:lnTo>
                    <a:pt x="622278" y="0"/>
                  </a:lnTo>
                  <a:lnTo>
                    <a:pt x="622278" y="632691"/>
                  </a:lnTo>
                  <a:lnTo>
                    <a:pt x="0" y="632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7" b="5371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22275" cy="632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1"/>
                </a:lnSpc>
              </a:pPr>
              <a:r>
                <a:rPr lang="en-US" sz="25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247667" y="4425463"/>
            <a:ext cx="1482490" cy="301990"/>
            <a:chOff x="0" y="0"/>
            <a:chExt cx="1976653" cy="40265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76648" cy="402651"/>
            </a:xfrm>
            <a:custGeom>
              <a:avLst/>
              <a:gdLst/>
              <a:ahLst/>
              <a:cxnLst/>
              <a:rect r="r" b="b" t="t" l="l"/>
              <a:pathLst>
                <a:path h="402651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97665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Purchase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247667" y="4754905"/>
            <a:ext cx="1482490" cy="492784"/>
            <a:chOff x="0" y="0"/>
            <a:chExt cx="1976653" cy="6570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76648" cy="657040"/>
            </a:xfrm>
            <a:custGeom>
              <a:avLst/>
              <a:gdLst/>
              <a:ahLst/>
              <a:cxnLst/>
              <a:rect r="r" b="b" t="t" l="l"/>
              <a:pathLst>
                <a:path h="657040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657040"/>
                  </a:lnTo>
                  <a:lnTo>
                    <a:pt x="0" y="657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7" r="0" b="1073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976653" cy="65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0"/>
                </a:lnSpc>
              </a:pPr>
              <a:r>
                <a:rPr lang="en-US" sz="14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order_purchase_timestamp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024657" y="3262880"/>
            <a:ext cx="979932" cy="979932"/>
            <a:chOff x="0" y="0"/>
            <a:chExt cx="1306576" cy="13065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06576" cy="1306576"/>
            </a:xfrm>
            <a:custGeom>
              <a:avLst/>
              <a:gdLst/>
              <a:ahLst/>
              <a:cxnLst/>
              <a:rect r="r" b="b" t="t" l="l"/>
              <a:pathLst>
                <a:path h="1306576" w="1306576">
                  <a:moveTo>
                    <a:pt x="0" y="653288"/>
                  </a:moveTo>
                  <a:cubicBezTo>
                    <a:pt x="0" y="292481"/>
                    <a:pt x="292481" y="0"/>
                    <a:pt x="653288" y="0"/>
                  </a:cubicBezTo>
                  <a:cubicBezTo>
                    <a:pt x="1014095" y="0"/>
                    <a:pt x="1306576" y="292481"/>
                    <a:pt x="1306576" y="653288"/>
                  </a:cubicBezTo>
                  <a:cubicBezTo>
                    <a:pt x="1306576" y="1014095"/>
                    <a:pt x="1014095" y="1306576"/>
                    <a:pt x="653288" y="1306576"/>
                  </a:cubicBezTo>
                  <a:cubicBezTo>
                    <a:pt x="292481" y="1306576"/>
                    <a:pt x="0" y="1014095"/>
                    <a:pt x="0" y="653288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281270" y="3519493"/>
            <a:ext cx="466706" cy="474518"/>
            <a:chOff x="0" y="0"/>
            <a:chExt cx="622275" cy="6326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22278" cy="632691"/>
            </a:xfrm>
            <a:custGeom>
              <a:avLst/>
              <a:gdLst/>
              <a:ahLst/>
              <a:cxnLst/>
              <a:rect r="r" b="b" t="t" l="l"/>
              <a:pathLst>
                <a:path h="632691" w="622278">
                  <a:moveTo>
                    <a:pt x="0" y="0"/>
                  </a:moveTo>
                  <a:lnTo>
                    <a:pt x="622278" y="0"/>
                  </a:lnTo>
                  <a:lnTo>
                    <a:pt x="622278" y="632691"/>
                  </a:lnTo>
                  <a:lnTo>
                    <a:pt x="0" y="632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7" b="537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22275" cy="632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1"/>
                </a:lnSpc>
              </a:pPr>
              <a:r>
                <a:rPr lang="en-US" sz="25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787113" y="4425463"/>
            <a:ext cx="1482490" cy="301990"/>
            <a:chOff x="0" y="0"/>
            <a:chExt cx="1976653" cy="40265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76648" cy="402651"/>
            </a:xfrm>
            <a:custGeom>
              <a:avLst/>
              <a:gdLst/>
              <a:ahLst/>
              <a:cxnLst/>
              <a:rect r="r" b="b" t="t" l="l"/>
              <a:pathLst>
                <a:path h="402651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97665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Approved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787113" y="4754905"/>
            <a:ext cx="1482490" cy="492784"/>
            <a:chOff x="0" y="0"/>
            <a:chExt cx="1976653" cy="65704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76648" cy="657040"/>
            </a:xfrm>
            <a:custGeom>
              <a:avLst/>
              <a:gdLst/>
              <a:ahLst/>
              <a:cxnLst/>
              <a:rect r="r" b="b" t="t" l="l"/>
              <a:pathLst>
                <a:path h="657040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657040"/>
                  </a:lnTo>
                  <a:lnTo>
                    <a:pt x="0" y="657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7" r="0" b="10739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976653" cy="65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0"/>
                </a:lnSpc>
              </a:pPr>
              <a:r>
                <a:rPr lang="en-US" sz="14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order_approved_at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564113" y="3262880"/>
            <a:ext cx="979932" cy="979932"/>
            <a:chOff x="0" y="0"/>
            <a:chExt cx="1306576" cy="130657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306576" cy="1306576"/>
            </a:xfrm>
            <a:custGeom>
              <a:avLst/>
              <a:gdLst/>
              <a:ahLst/>
              <a:cxnLst/>
              <a:rect r="r" b="b" t="t" l="l"/>
              <a:pathLst>
                <a:path h="1306576" w="1306576">
                  <a:moveTo>
                    <a:pt x="0" y="653288"/>
                  </a:moveTo>
                  <a:cubicBezTo>
                    <a:pt x="0" y="292481"/>
                    <a:pt x="292481" y="0"/>
                    <a:pt x="653288" y="0"/>
                  </a:cubicBezTo>
                  <a:cubicBezTo>
                    <a:pt x="1014095" y="0"/>
                    <a:pt x="1306576" y="292481"/>
                    <a:pt x="1306576" y="653288"/>
                  </a:cubicBezTo>
                  <a:cubicBezTo>
                    <a:pt x="1306576" y="1014095"/>
                    <a:pt x="1014095" y="1306576"/>
                    <a:pt x="653288" y="1306576"/>
                  </a:cubicBezTo>
                  <a:cubicBezTo>
                    <a:pt x="292481" y="1306576"/>
                    <a:pt x="0" y="1014095"/>
                    <a:pt x="0" y="653288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0820726" y="3519493"/>
            <a:ext cx="466706" cy="474518"/>
            <a:chOff x="0" y="0"/>
            <a:chExt cx="622275" cy="63269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2278" cy="632691"/>
            </a:xfrm>
            <a:custGeom>
              <a:avLst/>
              <a:gdLst/>
              <a:ahLst/>
              <a:cxnLst/>
              <a:rect r="r" b="b" t="t" l="l"/>
              <a:pathLst>
                <a:path h="632691" w="622278">
                  <a:moveTo>
                    <a:pt x="0" y="0"/>
                  </a:moveTo>
                  <a:lnTo>
                    <a:pt x="622278" y="0"/>
                  </a:lnTo>
                  <a:lnTo>
                    <a:pt x="622278" y="632691"/>
                  </a:lnTo>
                  <a:lnTo>
                    <a:pt x="0" y="632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7" b="5371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622275" cy="632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1"/>
                </a:lnSpc>
              </a:pPr>
              <a:r>
                <a:rPr lang="en-US" sz="25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326559" y="4425463"/>
            <a:ext cx="1482490" cy="301990"/>
            <a:chOff x="0" y="0"/>
            <a:chExt cx="1976653" cy="40265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76648" cy="402651"/>
            </a:xfrm>
            <a:custGeom>
              <a:avLst/>
              <a:gdLst/>
              <a:ahLst/>
              <a:cxnLst/>
              <a:rect r="r" b="b" t="t" l="l"/>
              <a:pathLst>
                <a:path h="402651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197665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Carrier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326559" y="4754905"/>
            <a:ext cx="1482490" cy="492784"/>
            <a:chOff x="0" y="0"/>
            <a:chExt cx="1976653" cy="65704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976648" cy="657040"/>
            </a:xfrm>
            <a:custGeom>
              <a:avLst/>
              <a:gdLst/>
              <a:ahLst/>
              <a:cxnLst/>
              <a:rect r="r" b="b" t="t" l="l"/>
              <a:pathLst>
                <a:path h="657040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657040"/>
                  </a:lnTo>
                  <a:lnTo>
                    <a:pt x="0" y="657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7" r="0" b="10739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1976653" cy="65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0"/>
                </a:lnSpc>
              </a:pPr>
              <a:r>
                <a:rPr lang="en-US" sz="14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order_delivered_carrier_date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3103559" y="3262880"/>
            <a:ext cx="979932" cy="979932"/>
            <a:chOff x="0" y="0"/>
            <a:chExt cx="1306576" cy="130657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06576" cy="1306576"/>
            </a:xfrm>
            <a:custGeom>
              <a:avLst/>
              <a:gdLst/>
              <a:ahLst/>
              <a:cxnLst/>
              <a:rect r="r" b="b" t="t" l="l"/>
              <a:pathLst>
                <a:path h="1306576" w="1306576">
                  <a:moveTo>
                    <a:pt x="0" y="653288"/>
                  </a:moveTo>
                  <a:cubicBezTo>
                    <a:pt x="0" y="292481"/>
                    <a:pt x="292481" y="0"/>
                    <a:pt x="653288" y="0"/>
                  </a:cubicBezTo>
                  <a:cubicBezTo>
                    <a:pt x="1014095" y="0"/>
                    <a:pt x="1306576" y="292481"/>
                    <a:pt x="1306576" y="653288"/>
                  </a:cubicBezTo>
                  <a:cubicBezTo>
                    <a:pt x="1306576" y="1014095"/>
                    <a:pt x="1014095" y="1306576"/>
                    <a:pt x="653288" y="1306576"/>
                  </a:cubicBezTo>
                  <a:cubicBezTo>
                    <a:pt x="292481" y="1306576"/>
                    <a:pt x="0" y="1014095"/>
                    <a:pt x="0" y="653288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3360172" y="3519493"/>
            <a:ext cx="466706" cy="474518"/>
            <a:chOff x="0" y="0"/>
            <a:chExt cx="622275" cy="6326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22278" cy="632691"/>
            </a:xfrm>
            <a:custGeom>
              <a:avLst/>
              <a:gdLst/>
              <a:ahLst/>
              <a:cxnLst/>
              <a:rect r="r" b="b" t="t" l="l"/>
              <a:pathLst>
                <a:path h="632691" w="622278">
                  <a:moveTo>
                    <a:pt x="0" y="0"/>
                  </a:moveTo>
                  <a:lnTo>
                    <a:pt x="622278" y="0"/>
                  </a:lnTo>
                  <a:lnTo>
                    <a:pt x="622278" y="632691"/>
                  </a:lnTo>
                  <a:lnTo>
                    <a:pt x="0" y="632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7" b="5371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622275" cy="632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1"/>
                </a:lnSpc>
              </a:pPr>
              <a:r>
                <a:rPr lang="en-US" sz="25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866005" y="4425463"/>
            <a:ext cx="1482490" cy="301990"/>
            <a:chOff x="0" y="0"/>
            <a:chExt cx="1976653" cy="40265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976648" cy="402651"/>
            </a:xfrm>
            <a:custGeom>
              <a:avLst/>
              <a:gdLst/>
              <a:ahLst/>
              <a:cxnLst/>
              <a:rect r="r" b="b" t="t" l="l"/>
              <a:pathLst>
                <a:path h="402651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197665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Delivered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866005" y="4754905"/>
            <a:ext cx="1482490" cy="492784"/>
            <a:chOff x="0" y="0"/>
            <a:chExt cx="1976653" cy="65704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76648" cy="657040"/>
            </a:xfrm>
            <a:custGeom>
              <a:avLst/>
              <a:gdLst/>
              <a:ahLst/>
              <a:cxnLst/>
              <a:rect r="r" b="b" t="t" l="l"/>
              <a:pathLst>
                <a:path h="657040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657040"/>
                  </a:lnTo>
                  <a:lnTo>
                    <a:pt x="0" y="657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7" r="0" b="10739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976653" cy="65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0"/>
                </a:lnSpc>
              </a:pPr>
              <a:r>
                <a:rPr lang="en-US" sz="14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order_delivered_customer_date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642995" y="3262880"/>
            <a:ext cx="979932" cy="979932"/>
            <a:chOff x="0" y="0"/>
            <a:chExt cx="1306576" cy="130657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06576" cy="1306576"/>
            </a:xfrm>
            <a:custGeom>
              <a:avLst/>
              <a:gdLst/>
              <a:ahLst/>
              <a:cxnLst/>
              <a:rect r="r" b="b" t="t" l="l"/>
              <a:pathLst>
                <a:path h="1306576" w="1306576">
                  <a:moveTo>
                    <a:pt x="0" y="653288"/>
                  </a:moveTo>
                  <a:cubicBezTo>
                    <a:pt x="0" y="292481"/>
                    <a:pt x="292481" y="0"/>
                    <a:pt x="653288" y="0"/>
                  </a:cubicBezTo>
                  <a:cubicBezTo>
                    <a:pt x="1014095" y="0"/>
                    <a:pt x="1306576" y="292481"/>
                    <a:pt x="1306576" y="653288"/>
                  </a:cubicBezTo>
                  <a:cubicBezTo>
                    <a:pt x="1306576" y="1014095"/>
                    <a:pt x="1014095" y="1306576"/>
                    <a:pt x="653288" y="1306576"/>
                  </a:cubicBezTo>
                  <a:cubicBezTo>
                    <a:pt x="292481" y="1306576"/>
                    <a:pt x="0" y="1014095"/>
                    <a:pt x="0" y="653288"/>
                  </a:cubicBezTo>
                  <a:close/>
                </a:path>
              </a:pathLst>
            </a:custGeom>
            <a:solidFill>
              <a:srgbClr val="829BDC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5899608" y="3519493"/>
            <a:ext cx="466706" cy="474518"/>
            <a:chOff x="0" y="0"/>
            <a:chExt cx="622275" cy="6326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22278" cy="632691"/>
            </a:xfrm>
            <a:custGeom>
              <a:avLst/>
              <a:gdLst/>
              <a:ahLst/>
              <a:cxnLst/>
              <a:rect r="r" b="b" t="t" l="l"/>
              <a:pathLst>
                <a:path h="632691" w="622278">
                  <a:moveTo>
                    <a:pt x="0" y="0"/>
                  </a:moveTo>
                  <a:lnTo>
                    <a:pt x="622278" y="0"/>
                  </a:lnTo>
                  <a:lnTo>
                    <a:pt x="622278" y="632691"/>
                  </a:lnTo>
                  <a:lnTo>
                    <a:pt x="0" y="6326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78" t="0" r="-10377" b="53715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22275" cy="6326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1"/>
                </a:lnSpc>
              </a:pPr>
              <a:r>
                <a:rPr lang="en-US" sz="252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5405451" y="4425463"/>
            <a:ext cx="1482490" cy="301990"/>
            <a:chOff x="0" y="0"/>
            <a:chExt cx="1976653" cy="4026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76648" cy="402651"/>
            </a:xfrm>
            <a:custGeom>
              <a:avLst/>
              <a:gdLst/>
              <a:ahLst/>
              <a:cxnLst/>
              <a:rect r="r" b="b" t="t" l="l"/>
              <a:pathLst>
                <a:path h="402651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976653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Estimated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5405451" y="4754905"/>
            <a:ext cx="1482490" cy="492784"/>
            <a:chOff x="0" y="0"/>
            <a:chExt cx="1976653" cy="65704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976648" cy="657040"/>
            </a:xfrm>
            <a:custGeom>
              <a:avLst/>
              <a:gdLst/>
              <a:ahLst/>
              <a:cxnLst/>
              <a:rect r="r" b="b" t="t" l="l"/>
              <a:pathLst>
                <a:path h="657040" w="1976648">
                  <a:moveTo>
                    <a:pt x="0" y="0"/>
                  </a:moveTo>
                  <a:lnTo>
                    <a:pt x="1976648" y="0"/>
                  </a:lnTo>
                  <a:lnTo>
                    <a:pt x="1976648" y="657040"/>
                  </a:lnTo>
                  <a:lnTo>
                    <a:pt x="0" y="657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77" r="0" b="1073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1976653" cy="657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70"/>
                </a:lnSpc>
              </a:pPr>
              <a:r>
                <a:rPr lang="en-US" sz="147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order_estimated_delivery_date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4396999" y="6548028"/>
            <a:ext cx="6272346" cy="1879797"/>
            <a:chOff x="0" y="0"/>
            <a:chExt cx="8363128" cy="25063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363204" cy="2506472"/>
            </a:xfrm>
            <a:custGeom>
              <a:avLst/>
              <a:gdLst/>
              <a:ahLst/>
              <a:cxnLst/>
              <a:rect r="r" b="b" t="t" l="l"/>
              <a:pathLst>
                <a:path h="2506472" w="8363204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8196072" y="0"/>
                  </a:lnTo>
                  <a:cubicBezTo>
                    <a:pt x="8288401" y="0"/>
                    <a:pt x="8363204" y="74803"/>
                    <a:pt x="8363204" y="167132"/>
                  </a:cubicBezTo>
                  <a:lnTo>
                    <a:pt x="8363204" y="2339340"/>
                  </a:lnTo>
                  <a:cubicBezTo>
                    <a:pt x="8363204" y="2431669"/>
                    <a:pt x="8288401" y="2506472"/>
                    <a:pt x="8196072" y="2506472"/>
                  </a:cubicBezTo>
                  <a:lnTo>
                    <a:pt x="167132" y="2506472"/>
                  </a:lnTo>
                  <a:cubicBezTo>
                    <a:pt x="74803" y="2506345"/>
                    <a:pt x="0" y="2431542"/>
                    <a:pt x="0" y="2339340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4780971" y="6890814"/>
            <a:ext cx="5353421" cy="356892"/>
            <a:chOff x="0" y="0"/>
            <a:chExt cx="7137895" cy="475856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137897" cy="475860"/>
            </a:xfrm>
            <a:custGeom>
              <a:avLst/>
              <a:gdLst/>
              <a:ahLst/>
              <a:cxnLst/>
              <a:rect r="r" b="b" t="t" l="l"/>
              <a:pathLst>
                <a:path h="475860" w="7137897">
                  <a:moveTo>
                    <a:pt x="0" y="0"/>
                  </a:moveTo>
                  <a:lnTo>
                    <a:pt x="7137897" y="0"/>
                  </a:lnTo>
                  <a:lnTo>
                    <a:pt x="7137897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7137895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Created delay feature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4780971" y="7412431"/>
            <a:ext cx="5490686" cy="384353"/>
            <a:chOff x="0" y="0"/>
            <a:chExt cx="7320915" cy="5124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320920" cy="512464"/>
            </a:xfrm>
            <a:custGeom>
              <a:avLst/>
              <a:gdLst/>
              <a:ahLst/>
              <a:cxnLst/>
              <a:rect r="r" b="b" t="t" l="l"/>
              <a:pathLst>
                <a:path h="512464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6" r="0" b="-22835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7320915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5"/>
                </a:lnSpc>
              </a:pPr>
              <a:r>
                <a:rPr lang="en-US" sz="169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delivery_delay = delivered_customer_date − estimated_delivery_date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848567" y="6548028"/>
            <a:ext cx="6890052" cy="1879797"/>
            <a:chOff x="0" y="0"/>
            <a:chExt cx="9186736" cy="250639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186799" cy="2506472"/>
            </a:xfrm>
            <a:custGeom>
              <a:avLst/>
              <a:gdLst/>
              <a:ahLst/>
              <a:cxnLst/>
              <a:rect r="r" b="b" t="t" l="l"/>
              <a:pathLst>
                <a:path h="2506472" w="9186799">
                  <a:moveTo>
                    <a:pt x="0" y="167132"/>
                  </a:moveTo>
                  <a:cubicBezTo>
                    <a:pt x="0" y="74803"/>
                    <a:pt x="74803" y="0"/>
                    <a:pt x="167132" y="0"/>
                  </a:cubicBezTo>
                  <a:lnTo>
                    <a:pt x="9019667" y="0"/>
                  </a:lnTo>
                  <a:cubicBezTo>
                    <a:pt x="9111997" y="0"/>
                    <a:pt x="9186799" y="74803"/>
                    <a:pt x="9186799" y="167132"/>
                  </a:cubicBezTo>
                  <a:lnTo>
                    <a:pt x="9186799" y="2339340"/>
                  </a:lnTo>
                  <a:cubicBezTo>
                    <a:pt x="9186799" y="2431669"/>
                    <a:pt x="9111997" y="2506472"/>
                    <a:pt x="9019667" y="2506472"/>
                  </a:cubicBezTo>
                  <a:lnTo>
                    <a:pt x="167132" y="2506472"/>
                  </a:lnTo>
                  <a:cubicBezTo>
                    <a:pt x="74803" y="2506345"/>
                    <a:pt x="0" y="2431542"/>
                    <a:pt x="0" y="2339340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1232529" y="6890814"/>
            <a:ext cx="6108392" cy="356892"/>
            <a:chOff x="0" y="0"/>
            <a:chExt cx="8144523" cy="47585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8144523" cy="475860"/>
            </a:xfrm>
            <a:custGeom>
              <a:avLst/>
              <a:gdLst/>
              <a:ahLst/>
              <a:cxnLst/>
              <a:rect r="r" b="b" t="t" l="l"/>
              <a:pathLst>
                <a:path h="475860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3494" r="0" b="-28349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8144523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Meaningful remaining nulls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232529" y="7384980"/>
            <a:ext cx="6108392" cy="576520"/>
            <a:chOff x="0" y="0"/>
            <a:chExt cx="8144523" cy="76869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8144523" cy="768697"/>
            </a:xfrm>
            <a:custGeom>
              <a:avLst/>
              <a:gdLst/>
              <a:ahLst/>
              <a:cxnLst/>
              <a:rect r="r" b="b" t="t" l="l"/>
              <a:pathLst>
                <a:path h="768697" w="8144523">
                  <a:moveTo>
                    <a:pt x="0" y="0"/>
                  </a:moveTo>
                  <a:lnTo>
                    <a:pt x="8144523" y="0"/>
                  </a:lnTo>
                  <a:lnTo>
                    <a:pt x="8144523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448" r="0" b="-15644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8144523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Some delivery and review dates remain empty because cancelled, unavailable or undelivered orders do not have final delivery records.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524521" y="4705419"/>
            <a:ext cx="2709772" cy="4552881"/>
            <a:chOff x="0" y="0"/>
            <a:chExt cx="483760" cy="812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83760" cy="812800"/>
            </a:xfrm>
            <a:custGeom>
              <a:avLst/>
              <a:gdLst/>
              <a:ahLst/>
              <a:cxnLst/>
              <a:rect r="r" b="b" t="t" l="l"/>
              <a:pathLst>
                <a:path h="812800" w="483760">
                  <a:moveTo>
                    <a:pt x="65712" y="0"/>
                  </a:moveTo>
                  <a:lnTo>
                    <a:pt x="418048" y="0"/>
                  </a:lnTo>
                  <a:cubicBezTo>
                    <a:pt x="435476" y="0"/>
                    <a:pt x="452190" y="6923"/>
                    <a:pt x="464514" y="19247"/>
                  </a:cubicBezTo>
                  <a:cubicBezTo>
                    <a:pt x="476837" y="31570"/>
                    <a:pt x="483760" y="48284"/>
                    <a:pt x="483760" y="65712"/>
                  </a:cubicBezTo>
                  <a:lnTo>
                    <a:pt x="483760" y="747088"/>
                  </a:lnTo>
                  <a:cubicBezTo>
                    <a:pt x="483760" y="764516"/>
                    <a:pt x="476837" y="781230"/>
                    <a:pt x="464514" y="793553"/>
                  </a:cubicBezTo>
                  <a:cubicBezTo>
                    <a:pt x="452190" y="805877"/>
                    <a:pt x="435476" y="812800"/>
                    <a:pt x="418048" y="812800"/>
                  </a:cubicBezTo>
                  <a:lnTo>
                    <a:pt x="65712" y="812800"/>
                  </a:lnTo>
                  <a:cubicBezTo>
                    <a:pt x="48284" y="812800"/>
                    <a:pt x="31570" y="805877"/>
                    <a:pt x="19247" y="793553"/>
                  </a:cubicBezTo>
                  <a:cubicBezTo>
                    <a:pt x="6923" y="781230"/>
                    <a:pt x="0" y="764516"/>
                    <a:pt x="0" y="747088"/>
                  </a:cubicBezTo>
                  <a:lnTo>
                    <a:pt x="0" y="65712"/>
                  </a:lnTo>
                  <a:cubicBezTo>
                    <a:pt x="0" y="48284"/>
                    <a:pt x="6923" y="31570"/>
                    <a:pt x="19247" y="19247"/>
                  </a:cubicBezTo>
                  <a:cubicBezTo>
                    <a:pt x="31570" y="6923"/>
                    <a:pt x="48284" y="0"/>
                    <a:pt x="65712" y="0"/>
                  </a:cubicBezTo>
                  <a:close/>
                </a:path>
              </a:pathLst>
            </a:custGeom>
            <a:blipFill>
              <a:blip r:embed="rId4"/>
              <a:stretch>
                <a:fillRect l="-43342" t="0" r="-43342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102563" y="1154103"/>
            <a:ext cx="1553688" cy="1270637"/>
            <a:chOff x="0" y="0"/>
            <a:chExt cx="543719" cy="44466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5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3768226" cy="10314108"/>
            <a:chOff x="0" y="0"/>
            <a:chExt cx="5024301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24267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5024267">
                  <a:moveTo>
                    <a:pt x="0" y="0"/>
                  </a:moveTo>
                  <a:lnTo>
                    <a:pt x="5024267" y="0"/>
                  </a:lnTo>
                  <a:lnTo>
                    <a:pt x="5024267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304252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Page:06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304252" y="754971"/>
            <a:ext cx="13726725" cy="823608"/>
            <a:chOff x="0" y="0"/>
            <a:chExt cx="18302300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29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8302298">
                  <a:moveTo>
                    <a:pt x="0" y="0"/>
                  </a:moveTo>
                  <a:lnTo>
                    <a:pt x="18302298" y="0"/>
                  </a:lnTo>
                  <a:lnTo>
                    <a:pt x="1830229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302300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5"/>
                </a:lnSpc>
              </a:pPr>
              <a:r>
                <a:rPr lang="en-US" sz="54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Outlier Detection &amp; Treatment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304252" y="1795487"/>
            <a:ext cx="13081568" cy="856477"/>
            <a:chOff x="0" y="0"/>
            <a:chExt cx="17442091" cy="11419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42095" cy="1141973"/>
            </a:xfrm>
            <a:custGeom>
              <a:avLst/>
              <a:gdLst/>
              <a:ahLst/>
              <a:cxnLst/>
              <a:rect r="r" b="b" t="t" l="l"/>
              <a:pathLst>
                <a:path h="1141973" w="17442095">
                  <a:moveTo>
                    <a:pt x="0" y="0"/>
                  </a:moveTo>
                  <a:lnTo>
                    <a:pt x="17442095" y="0"/>
                  </a:lnTo>
                  <a:lnTo>
                    <a:pt x="17442095" y="1141973"/>
                  </a:lnTo>
                  <a:lnTo>
                    <a:pt x="0" y="11419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302" r="1364" b="-2207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442091" cy="1141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Boxplots and IQR were used to detect extreme values in price, freight and product dimensions.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304252" y="2800297"/>
            <a:ext cx="8917906" cy="4718905"/>
            <a:chOff x="0" y="0"/>
            <a:chExt cx="12737897" cy="6740251"/>
          </a:xfrm>
        </p:grpSpPr>
        <p:sp>
          <p:nvSpPr>
            <p:cNvPr name="Freeform 19" id="19" descr="/mnt/data/notebook_outputs/cell27_out0.png"/>
            <p:cNvSpPr/>
            <p:nvPr/>
          </p:nvSpPr>
          <p:spPr>
            <a:xfrm flipH="false" flipV="false" rot="0">
              <a:off x="0" y="0"/>
              <a:ext cx="12737896" cy="6740251"/>
            </a:xfrm>
            <a:custGeom>
              <a:avLst/>
              <a:gdLst/>
              <a:ahLst/>
              <a:cxnLst/>
              <a:rect r="r" b="b" t="t" l="l"/>
              <a:pathLst>
                <a:path h="6740251" w="12737896">
                  <a:moveTo>
                    <a:pt x="0" y="0"/>
                  </a:moveTo>
                  <a:lnTo>
                    <a:pt x="12737896" y="0"/>
                  </a:lnTo>
                  <a:lnTo>
                    <a:pt x="12737896" y="6740251"/>
                  </a:lnTo>
                  <a:lnTo>
                    <a:pt x="0" y="67402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9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600689" y="2800297"/>
            <a:ext cx="2524371" cy="531152"/>
            <a:chOff x="0" y="0"/>
            <a:chExt cx="3365828" cy="708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829BDC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655370" y="2859972"/>
            <a:ext cx="2415009" cy="411802"/>
            <a:chOff x="0" y="0"/>
            <a:chExt cx="3220012" cy="5490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Column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116323" y="2800297"/>
            <a:ext cx="1581012" cy="531152"/>
            <a:chOff x="0" y="0"/>
            <a:chExt cx="2108016" cy="70820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829BDC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6171004" y="2859972"/>
            <a:ext cx="1471650" cy="411802"/>
            <a:chOff x="0" y="0"/>
            <a:chExt cx="1962199" cy="54906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Outliers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600689" y="3321914"/>
            <a:ext cx="2524371" cy="531152"/>
            <a:chOff x="0" y="0"/>
            <a:chExt cx="3365828" cy="70820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655370" y="3381589"/>
            <a:ext cx="2415009" cy="411802"/>
            <a:chOff x="0" y="0"/>
            <a:chExt cx="3220012" cy="54906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6116323" y="3321914"/>
            <a:ext cx="1581012" cy="531152"/>
            <a:chOff x="0" y="0"/>
            <a:chExt cx="2108016" cy="70820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6171004" y="3381589"/>
            <a:ext cx="1471650" cy="411802"/>
            <a:chOff x="0" y="0"/>
            <a:chExt cx="1962199" cy="5490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2,456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600689" y="3843532"/>
            <a:ext cx="2524371" cy="531152"/>
            <a:chOff x="0" y="0"/>
            <a:chExt cx="3365828" cy="70820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3655370" y="3903207"/>
            <a:ext cx="2415009" cy="411802"/>
            <a:chOff x="0" y="0"/>
            <a:chExt cx="3220012" cy="54906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freight_value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6116323" y="3843532"/>
            <a:ext cx="1581012" cy="531152"/>
            <a:chOff x="0" y="0"/>
            <a:chExt cx="2108016" cy="7082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6171004" y="3903207"/>
            <a:ext cx="1471650" cy="411802"/>
            <a:chOff x="0" y="0"/>
            <a:chExt cx="1962199" cy="5490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1,528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00689" y="4365149"/>
            <a:ext cx="2524371" cy="531152"/>
            <a:chOff x="0" y="0"/>
            <a:chExt cx="3365828" cy="70820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655370" y="4424815"/>
            <a:ext cx="2415009" cy="411802"/>
            <a:chOff x="0" y="0"/>
            <a:chExt cx="3220012" cy="54906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product_weight_g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6116323" y="4365149"/>
            <a:ext cx="1581012" cy="531152"/>
            <a:chOff x="0" y="0"/>
            <a:chExt cx="2108016" cy="70820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6171004" y="4424815"/>
            <a:ext cx="1471650" cy="411802"/>
            <a:chOff x="0" y="0"/>
            <a:chExt cx="1962199" cy="54906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3,602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3600689" y="4886757"/>
            <a:ext cx="2524371" cy="531152"/>
            <a:chOff x="0" y="0"/>
            <a:chExt cx="3365828" cy="70820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3655370" y="4946433"/>
            <a:ext cx="2415009" cy="411802"/>
            <a:chOff x="0" y="0"/>
            <a:chExt cx="3220012" cy="54906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product_length_cm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6116323" y="4886757"/>
            <a:ext cx="1581012" cy="531152"/>
            <a:chOff x="0" y="0"/>
            <a:chExt cx="2108016" cy="70820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6171004" y="4946433"/>
            <a:ext cx="1471650" cy="411802"/>
            <a:chOff x="0" y="0"/>
            <a:chExt cx="1962199" cy="54906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2,877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600689" y="5408375"/>
            <a:ext cx="2524371" cy="531152"/>
            <a:chOff x="0" y="0"/>
            <a:chExt cx="3365828" cy="70820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3655370" y="5468050"/>
            <a:ext cx="2415009" cy="411802"/>
            <a:chOff x="0" y="0"/>
            <a:chExt cx="3220012" cy="54906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product_height_cm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6116323" y="5408375"/>
            <a:ext cx="1581012" cy="531152"/>
            <a:chOff x="0" y="0"/>
            <a:chExt cx="2108016" cy="70820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6171004" y="5468050"/>
            <a:ext cx="1471650" cy="411802"/>
            <a:chOff x="0" y="0"/>
            <a:chExt cx="1962199" cy="54906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2,824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600689" y="5929993"/>
            <a:ext cx="2524371" cy="531152"/>
            <a:chOff x="0" y="0"/>
            <a:chExt cx="3365828" cy="70820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365879" cy="708152"/>
            </a:xfrm>
            <a:custGeom>
              <a:avLst/>
              <a:gdLst/>
              <a:ahLst/>
              <a:cxnLst/>
              <a:rect r="r" b="b" t="t" l="l"/>
              <a:pathLst>
                <a:path h="708152" w="3365879">
                  <a:moveTo>
                    <a:pt x="0" y="0"/>
                  </a:moveTo>
                  <a:lnTo>
                    <a:pt x="3365879" y="0"/>
                  </a:lnTo>
                  <a:lnTo>
                    <a:pt x="3365879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3655370" y="5989668"/>
            <a:ext cx="2415009" cy="411802"/>
            <a:chOff x="0" y="0"/>
            <a:chExt cx="3220012" cy="54906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220015" cy="549066"/>
            </a:xfrm>
            <a:custGeom>
              <a:avLst/>
              <a:gdLst/>
              <a:ahLst/>
              <a:cxnLst/>
              <a:rect r="r" b="b" t="t" l="l"/>
              <a:pathLst>
                <a:path h="549066" w="3220015">
                  <a:moveTo>
                    <a:pt x="0" y="0"/>
                  </a:moveTo>
                  <a:lnTo>
                    <a:pt x="3220015" y="0"/>
                  </a:lnTo>
                  <a:lnTo>
                    <a:pt x="3220015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04" r="-9131" b="-7470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3220012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1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product_width_cm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6116323" y="5929993"/>
            <a:ext cx="1581012" cy="531152"/>
            <a:chOff x="0" y="0"/>
            <a:chExt cx="2108016" cy="70820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07992" cy="708152"/>
            </a:xfrm>
            <a:custGeom>
              <a:avLst/>
              <a:gdLst/>
              <a:ahLst/>
              <a:cxnLst/>
              <a:rect r="r" b="b" t="t" l="l"/>
              <a:pathLst>
                <a:path h="708152" w="2107992">
                  <a:moveTo>
                    <a:pt x="0" y="0"/>
                  </a:moveTo>
                  <a:lnTo>
                    <a:pt x="2107992" y="0"/>
                  </a:lnTo>
                  <a:lnTo>
                    <a:pt x="2107992" y="708152"/>
                  </a:lnTo>
                  <a:lnTo>
                    <a:pt x="0" y="708152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6171004" y="5989668"/>
            <a:ext cx="1471650" cy="411802"/>
            <a:chOff x="0" y="0"/>
            <a:chExt cx="1962199" cy="54906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962196" cy="549066"/>
            </a:xfrm>
            <a:custGeom>
              <a:avLst/>
              <a:gdLst/>
              <a:ahLst/>
              <a:cxnLst/>
              <a:rect r="r" b="b" t="t" l="l"/>
              <a:pathLst>
                <a:path h="549066" w="1962196">
                  <a:moveTo>
                    <a:pt x="0" y="0"/>
                  </a:moveTo>
                  <a:lnTo>
                    <a:pt x="1962196" y="0"/>
                  </a:lnTo>
                  <a:lnTo>
                    <a:pt x="1962196" y="549066"/>
                  </a:lnTo>
                  <a:lnTo>
                    <a:pt x="0" y="5490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1" r="-9131" b="-2599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1962199" cy="5490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5"/>
                </a:lnSpc>
              </a:pPr>
              <a:r>
                <a:rPr lang="en-US" sz="1471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4304252" y="8085420"/>
            <a:ext cx="3389738" cy="1015013"/>
            <a:chOff x="0" y="0"/>
            <a:chExt cx="4519651" cy="135335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5196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4519676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4350512" y="0"/>
                  </a:lnTo>
                  <a:cubicBezTo>
                    <a:pt x="4443984" y="0"/>
                    <a:pt x="4519676" y="75692"/>
                    <a:pt x="4519676" y="169164"/>
                  </a:cubicBezTo>
                  <a:lnTo>
                    <a:pt x="4519676" y="1184148"/>
                  </a:lnTo>
                  <a:cubicBezTo>
                    <a:pt x="4519676" y="1277620"/>
                    <a:pt x="4443984" y="1353312"/>
                    <a:pt x="4350512" y="1353312"/>
                  </a:cubicBezTo>
                  <a:lnTo>
                    <a:pt x="169164" y="1353312"/>
                  </a:lnTo>
                  <a:cubicBezTo>
                    <a:pt x="75692" y="1353312"/>
                    <a:pt x="0" y="1277620"/>
                    <a:pt x="0" y="1184148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4660763" y="8290941"/>
            <a:ext cx="2676716" cy="356892"/>
            <a:chOff x="0" y="0"/>
            <a:chExt cx="3568954" cy="47585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568948" cy="475860"/>
            </a:xfrm>
            <a:custGeom>
              <a:avLst/>
              <a:gdLst/>
              <a:ahLst/>
              <a:cxnLst/>
              <a:rect r="r" b="b" t="t" l="l"/>
              <a:pathLst>
                <a:path h="475860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8" r="0" b="-9613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3568954" cy="48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81,170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4660763" y="8702745"/>
            <a:ext cx="2676716" cy="219627"/>
            <a:chOff x="0" y="0"/>
            <a:chExt cx="3568954" cy="292837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68948" cy="292837"/>
            </a:xfrm>
            <a:custGeom>
              <a:avLst/>
              <a:gdLst/>
              <a:ahLst/>
              <a:cxnLst/>
              <a:rect r="r" b="b" t="t" l="l"/>
              <a:pathLst>
                <a:path h="292837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474" r="0" b="-18747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568954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before IQR filtering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8403212" y="8560137"/>
            <a:ext cx="1753972" cy="38129"/>
            <a:chOff x="0" y="0"/>
            <a:chExt cx="2338629" cy="5083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338578" cy="50800"/>
            </a:xfrm>
            <a:custGeom>
              <a:avLst/>
              <a:gdLst/>
              <a:ahLst/>
              <a:cxnLst/>
              <a:rect r="r" b="b" t="t" l="l"/>
              <a:pathLst>
                <a:path h="50800" w="2338578">
                  <a:moveTo>
                    <a:pt x="0" y="0"/>
                  </a:moveTo>
                  <a:lnTo>
                    <a:pt x="2338578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0" t="-846975" r="-2" b="-847050"/>
              </a:stretch>
            </a:blipFill>
            <a:ln w="38130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467936" y="8085420"/>
            <a:ext cx="3389738" cy="1015013"/>
            <a:chOff x="0" y="0"/>
            <a:chExt cx="4519651" cy="135335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19676" cy="1353312"/>
            </a:xfrm>
            <a:custGeom>
              <a:avLst/>
              <a:gdLst/>
              <a:ahLst/>
              <a:cxnLst/>
              <a:rect r="r" b="b" t="t" l="l"/>
              <a:pathLst>
                <a:path h="1353312" w="4519676">
                  <a:moveTo>
                    <a:pt x="0" y="169164"/>
                  </a:moveTo>
                  <a:cubicBezTo>
                    <a:pt x="0" y="75692"/>
                    <a:pt x="75692" y="0"/>
                    <a:pt x="169164" y="0"/>
                  </a:cubicBezTo>
                  <a:lnTo>
                    <a:pt x="4350512" y="0"/>
                  </a:lnTo>
                  <a:cubicBezTo>
                    <a:pt x="4443984" y="0"/>
                    <a:pt x="4519676" y="75692"/>
                    <a:pt x="4519676" y="169164"/>
                  </a:cubicBezTo>
                  <a:lnTo>
                    <a:pt x="4519676" y="1184148"/>
                  </a:lnTo>
                  <a:cubicBezTo>
                    <a:pt x="4519676" y="1277620"/>
                    <a:pt x="4443984" y="1353312"/>
                    <a:pt x="4350512" y="1353312"/>
                  </a:cubicBezTo>
                  <a:lnTo>
                    <a:pt x="169164" y="1353312"/>
                  </a:lnTo>
                  <a:cubicBezTo>
                    <a:pt x="75692" y="1353312"/>
                    <a:pt x="0" y="1277620"/>
                    <a:pt x="0" y="1184148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824447" y="8290941"/>
            <a:ext cx="2676716" cy="356892"/>
            <a:chOff x="0" y="0"/>
            <a:chExt cx="3568954" cy="475856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68948" cy="475860"/>
            </a:xfrm>
            <a:custGeom>
              <a:avLst/>
              <a:gdLst/>
              <a:ahLst/>
              <a:cxnLst/>
              <a:rect r="r" b="b" t="t" l="l"/>
              <a:pathLst>
                <a:path h="475860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8" r="0" b="-96137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9525"/>
              <a:ext cx="3568954" cy="4853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66,039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0824447" y="8702745"/>
            <a:ext cx="2676716" cy="219627"/>
            <a:chOff x="0" y="0"/>
            <a:chExt cx="3568954" cy="292837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568948" cy="292837"/>
            </a:xfrm>
            <a:custGeom>
              <a:avLst/>
              <a:gdLst/>
              <a:ahLst/>
              <a:cxnLst/>
              <a:rect r="r" b="b" t="t" l="l"/>
              <a:pathLst>
                <a:path h="292837" w="3568948">
                  <a:moveTo>
                    <a:pt x="0" y="0"/>
                  </a:moveTo>
                  <a:lnTo>
                    <a:pt x="3568948" y="0"/>
                  </a:lnTo>
                  <a:lnTo>
                    <a:pt x="3568948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474" r="0" b="-187474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3568954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5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after IQR filtering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315227" y="7690718"/>
            <a:ext cx="3382108" cy="1543170"/>
            <a:chOff x="0" y="0"/>
            <a:chExt cx="4509478" cy="205756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509516" cy="2057455"/>
            </a:xfrm>
            <a:custGeom>
              <a:avLst/>
              <a:gdLst/>
              <a:ahLst/>
              <a:cxnLst/>
              <a:rect r="r" b="b" t="t" l="l"/>
              <a:pathLst>
                <a:path h="2057455" w="4509516">
                  <a:moveTo>
                    <a:pt x="0" y="342909"/>
                  </a:moveTo>
                  <a:cubicBezTo>
                    <a:pt x="0" y="153568"/>
                    <a:pt x="130302" y="0"/>
                    <a:pt x="290957" y="0"/>
                  </a:cubicBezTo>
                  <a:lnTo>
                    <a:pt x="4218559" y="0"/>
                  </a:lnTo>
                  <a:cubicBezTo>
                    <a:pt x="4379214" y="0"/>
                    <a:pt x="4509516" y="153568"/>
                    <a:pt x="4509516" y="342909"/>
                  </a:cubicBezTo>
                  <a:lnTo>
                    <a:pt x="4509516" y="1714546"/>
                  </a:lnTo>
                  <a:cubicBezTo>
                    <a:pt x="4509516" y="1903887"/>
                    <a:pt x="4379214" y="2057455"/>
                    <a:pt x="4218559" y="2057455"/>
                  </a:cubicBezTo>
                  <a:lnTo>
                    <a:pt x="290957" y="2057455"/>
                  </a:lnTo>
                  <a:cubicBezTo>
                    <a:pt x="130302" y="2057598"/>
                    <a:pt x="0" y="1904036"/>
                    <a:pt x="0" y="1714695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19065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14489486" y="7849787"/>
            <a:ext cx="3033608" cy="1250646"/>
            <a:chOff x="0" y="0"/>
            <a:chExt cx="4044810" cy="16675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044808" cy="1667525"/>
            </a:xfrm>
            <a:custGeom>
              <a:avLst/>
              <a:gdLst/>
              <a:ahLst/>
              <a:cxnLst/>
              <a:rect r="r" b="b" t="t" l="l"/>
              <a:pathLst>
                <a:path h="1667525" w="4044808">
                  <a:moveTo>
                    <a:pt x="0" y="0"/>
                  </a:moveTo>
                  <a:lnTo>
                    <a:pt x="4044808" y="0"/>
                  </a:lnTo>
                  <a:lnTo>
                    <a:pt x="4044808" y="1667525"/>
                  </a:lnTo>
                  <a:lnTo>
                    <a:pt x="0" y="16675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8" r="0" b="993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4044810" cy="1667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Note: IQR filtering reduces extreme values and makes basic visualisation easier. For future ML, outliers can also be capped instead of removed.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097735" y="1160169"/>
            <a:ext cx="1553688" cy="1270637"/>
            <a:chOff x="0" y="0"/>
            <a:chExt cx="543719" cy="44466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5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4126714" cy="10314108"/>
            <a:chOff x="0" y="0"/>
            <a:chExt cx="5502285" cy="1375214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02248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5502248">
                  <a:moveTo>
                    <a:pt x="0" y="0"/>
                  </a:moveTo>
                  <a:lnTo>
                    <a:pt x="5502248" y="0"/>
                  </a:lnTo>
                  <a:lnTo>
                    <a:pt x="5502248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4780555" y="9636157"/>
            <a:ext cx="3157147" cy="411804"/>
            <a:chOff x="0" y="0"/>
            <a:chExt cx="4209529" cy="5490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Page:07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780555" y="754971"/>
            <a:ext cx="13726725" cy="823608"/>
            <a:chOff x="0" y="0"/>
            <a:chExt cx="18302300" cy="10981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298" cy="1098138"/>
            </a:xfrm>
            <a:custGeom>
              <a:avLst/>
              <a:gdLst/>
              <a:ahLst/>
              <a:cxnLst/>
              <a:rect r="r" b="b" t="t" l="l"/>
              <a:pathLst>
                <a:path h="1098138" w="18302298">
                  <a:moveTo>
                    <a:pt x="0" y="0"/>
                  </a:moveTo>
                  <a:lnTo>
                    <a:pt x="18302298" y="0"/>
                  </a:lnTo>
                  <a:lnTo>
                    <a:pt x="18302298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8302300" cy="1107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845"/>
                </a:lnSpc>
              </a:pPr>
              <a:r>
                <a:rPr lang="en-US" sz="5704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Final Validation &amp; Output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821731" y="1990373"/>
            <a:ext cx="12903117" cy="466706"/>
            <a:chOff x="0" y="0"/>
            <a:chExt cx="17204157" cy="62227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204161" cy="622278"/>
            </a:xfrm>
            <a:custGeom>
              <a:avLst/>
              <a:gdLst/>
              <a:ahLst/>
              <a:cxnLst/>
              <a:rect r="r" b="b" t="t" l="l"/>
              <a:pathLst>
                <a:path h="622278" w="17204161">
                  <a:moveTo>
                    <a:pt x="0" y="0"/>
                  </a:moveTo>
                  <a:lnTo>
                    <a:pt x="17204161" y="0"/>
                  </a:lnTo>
                  <a:lnTo>
                    <a:pt x="17204161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8704" r="0" b="-48870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7204157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The cleaned dataset is saved and ready for Milestone 2 Exploratory Data Analysis.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75783" y="2603316"/>
            <a:ext cx="3098044" cy="544878"/>
            <a:chOff x="0" y="0"/>
            <a:chExt cx="4130726" cy="7265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829BDC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835457" y="2662980"/>
            <a:ext cx="2978696" cy="425529"/>
            <a:chOff x="0" y="0"/>
            <a:chExt cx="3971595" cy="5673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Check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864302" y="2603316"/>
            <a:ext cx="1999907" cy="544878"/>
            <a:chOff x="0" y="0"/>
            <a:chExt cx="2666543" cy="7265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829BDC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923967" y="2662980"/>
            <a:ext cx="1880559" cy="425529"/>
            <a:chOff x="0" y="0"/>
            <a:chExt cx="2507412" cy="5673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Dataset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54675" y="2603316"/>
            <a:ext cx="3372583" cy="544878"/>
            <a:chOff x="0" y="0"/>
            <a:chExt cx="4496778" cy="726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829BDC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14349" y="2662980"/>
            <a:ext cx="3253235" cy="425529"/>
            <a:chOff x="0" y="0"/>
            <a:chExt cx="4337647" cy="5673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After Preprocessing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775783" y="3138649"/>
            <a:ext cx="3098044" cy="544878"/>
            <a:chOff x="0" y="0"/>
            <a:chExt cx="4130726" cy="7265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4835457" y="3198324"/>
            <a:ext cx="2978696" cy="425529"/>
            <a:chOff x="0" y="0"/>
            <a:chExt cx="3971595" cy="5673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Rows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864302" y="3138649"/>
            <a:ext cx="1999907" cy="544878"/>
            <a:chOff x="0" y="0"/>
            <a:chExt cx="2666543" cy="7265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923967" y="3198324"/>
            <a:ext cx="1880559" cy="425529"/>
            <a:chOff x="0" y="0"/>
            <a:chExt cx="2507412" cy="5673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119,143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54675" y="3138649"/>
            <a:ext cx="3372583" cy="544878"/>
            <a:chOff x="0" y="0"/>
            <a:chExt cx="4496778" cy="7265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914349" y="3198324"/>
            <a:ext cx="3253235" cy="425529"/>
            <a:chOff x="0" y="0"/>
            <a:chExt cx="4337647" cy="5673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66,039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775783" y="3673993"/>
            <a:ext cx="3098044" cy="544878"/>
            <a:chOff x="0" y="0"/>
            <a:chExt cx="4130726" cy="72650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4835457" y="3733667"/>
            <a:ext cx="2978696" cy="425529"/>
            <a:chOff x="0" y="0"/>
            <a:chExt cx="3971595" cy="5673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Columns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7864302" y="3673993"/>
            <a:ext cx="1999907" cy="544878"/>
            <a:chOff x="0" y="0"/>
            <a:chExt cx="2666543" cy="72650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7923967" y="3733667"/>
            <a:ext cx="1880559" cy="425529"/>
            <a:chOff x="0" y="0"/>
            <a:chExt cx="2507412" cy="56737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40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854675" y="3673993"/>
            <a:ext cx="3372583" cy="544878"/>
            <a:chOff x="0" y="0"/>
            <a:chExt cx="4496778" cy="7265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914349" y="3733667"/>
            <a:ext cx="3253235" cy="425529"/>
            <a:chOff x="0" y="0"/>
            <a:chExt cx="4337647" cy="5673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36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4775783" y="4209336"/>
            <a:ext cx="3098044" cy="544878"/>
            <a:chOff x="0" y="0"/>
            <a:chExt cx="4130726" cy="72650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4835457" y="4269010"/>
            <a:ext cx="2978696" cy="425529"/>
            <a:chOff x="0" y="0"/>
            <a:chExt cx="3971595" cy="5673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Exact duplicate rows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864302" y="4209336"/>
            <a:ext cx="1999907" cy="544878"/>
            <a:chOff x="0" y="0"/>
            <a:chExt cx="2666543" cy="72650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7923967" y="4269010"/>
            <a:ext cx="1880559" cy="425529"/>
            <a:chOff x="0" y="0"/>
            <a:chExt cx="2507412" cy="56737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854675" y="4209336"/>
            <a:ext cx="3372583" cy="544878"/>
            <a:chOff x="0" y="0"/>
            <a:chExt cx="4496778" cy="72650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9914349" y="4269010"/>
            <a:ext cx="3253235" cy="425529"/>
            <a:chOff x="0" y="0"/>
            <a:chExt cx="4337647" cy="56737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4775783" y="4744679"/>
            <a:ext cx="3098044" cy="544878"/>
            <a:chOff x="0" y="0"/>
            <a:chExt cx="4130726" cy="72650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4835457" y="4804353"/>
            <a:ext cx="2978696" cy="425529"/>
            <a:chOff x="0" y="0"/>
            <a:chExt cx="3971595" cy="56737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Price ≤ 0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864302" y="4744679"/>
            <a:ext cx="1999907" cy="544878"/>
            <a:chOff x="0" y="0"/>
            <a:chExt cx="2666543" cy="72650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7923967" y="4804353"/>
            <a:ext cx="1880559" cy="425529"/>
            <a:chOff x="0" y="0"/>
            <a:chExt cx="2507412" cy="56737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9854675" y="4744679"/>
            <a:ext cx="3372583" cy="544878"/>
            <a:chOff x="0" y="0"/>
            <a:chExt cx="4496778" cy="72650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9914349" y="4804353"/>
            <a:ext cx="3253235" cy="425529"/>
            <a:chOff x="0" y="0"/>
            <a:chExt cx="4337647" cy="56737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4775783" y="5280022"/>
            <a:ext cx="3098044" cy="544878"/>
            <a:chOff x="0" y="0"/>
            <a:chExt cx="4130726" cy="72650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4835457" y="5339696"/>
            <a:ext cx="2978696" cy="425529"/>
            <a:chOff x="0" y="0"/>
            <a:chExt cx="3971595" cy="56737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 value &lt; 0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7864302" y="5280022"/>
            <a:ext cx="1999907" cy="544878"/>
            <a:chOff x="0" y="0"/>
            <a:chExt cx="2666543" cy="72650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7923967" y="5339696"/>
            <a:ext cx="1880559" cy="425529"/>
            <a:chOff x="0" y="0"/>
            <a:chExt cx="2507412" cy="567372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854675" y="5280022"/>
            <a:ext cx="3372583" cy="544878"/>
            <a:chOff x="0" y="0"/>
            <a:chExt cx="4496778" cy="72650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914349" y="5339696"/>
            <a:ext cx="3253235" cy="425529"/>
            <a:chOff x="0" y="0"/>
            <a:chExt cx="4337647" cy="567372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4775783" y="5815365"/>
            <a:ext cx="3098044" cy="544878"/>
            <a:chOff x="0" y="0"/>
            <a:chExt cx="4130726" cy="72650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10" id="110"/>
          <p:cNvGrpSpPr/>
          <p:nvPr/>
        </p:nvGrpSpPr>
        <p:grpSpPr>
          <a:xfrm rot="0">
            <a:off x="4835457" y="5875039"/>
            <a:ext cx="2978696" cy="425529"/>
            <a:chOff x="0" y="0"/>
            <a:chExt cx="3971595" cy="56737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 weight ≤ 0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864302" y="5815365"/>
            <a:ext cx="1999907" cy="544878"/>
            <a:chOff x="0" y="0"/>
            <a:chExt cx="2666543" cy="72650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7923967" y="5875039"/>
            <a:ext cx="1880559" cy="425529"/>
            <a:chOff x="0" y="0"/>
            <a:chExt cx="2507412" cy="56737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9854675" y="5815365"/>
            <a:ext cx="3372583" cy="544878"/>
            <a:chOff x="0" y="0"/>
            <a:chExt cx="4496778" cy="726504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0F2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9914349" y="5875039"/>
            <a:ext cx="3253235" cy="425529"/>
            <a:chOff x="0" y="0"/>
            <a:chExt cx="4337647" cy="56737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0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4775783" y="6350708"/>
            <a:ext cx="3098044" cy="544878"/>
            <a:chOff x="0" y="0"/>
            <a:chExt cx="4130726" cy="72650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130675" cy="726440"/>
            </a:xfrm>
            <a:custGeom>
              <a:avLst/>
              <a:gdLst/>
              <a:ahLst/>
              <a:cxnLst/>
              <a:rect r="r" b="b" t="t" l="l"/>
              <a:pathLst>
                <a:path h="726440" w="4130675">
                  <a:moveTo>
                    <a:pt x="0" y="0"/>
                  </a:moveTo>
                  <a:lnTo>
                    <a:pt x="4130675" y="0"/>
                  </a:lnTo>
                  <a:lnTo>
                    <a:pt x="4130675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4835457" y="6410382"/>
            <a:ext cx="2978696" cy="425529"/>
            <a:chOff x="0" y="0"/>
            <a:chExt cx="3971595" cy="567372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3971599" cy="567371"/>
            </a:xfrm>
            <a:custGeom>
              <a:avLst/>
              <a:gdLst/>
              <a:ahLst/>
              <a:cxnLst/>
              <a:rect r="r" b="b" t="t" l="l"/>
              <a:pathLst>
                <a:path h="567371" w="3971599">
                  <a:moveTo>
                    <a:pt x="0" y="0"/>
                  </a:moveTo>
                  <a:lnTo>
                    <a:pt x="3971599" y="0"/>
                  </a:lnTo>
                  <a:lnTo>
                    <a:pt x="3971599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0"/>
              <a:ext cx="3971595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9"/>
                </a:lnSpc>
              </a:pPr>
              <a:r>
                <a:rPr lang="en-US" sz="1516" b="true">
                  <a:solidFill>
                    <a:srgbClr val="22133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 file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7864302" y="6350708"/>
            <a:ext cx="1999907" cy="544878"/>
            <a:chOff x="0" y="0"/>
            <a:chExt cx="2666543" cy="72650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666492" cy="726440"/>
            </a:xfrm>
            <a:custGeom>
              <a:avLst/>
              <a:gdLst/>
              <a:ahLst/>
              <a:cxnLst/>
              <a:rect r="r" b="b" t="t" l="l"/>
              <a:pathLst>
                <a:path h="726440" w="2666492">
                  <a:moveTo>
                    <a:pt x="0" y="0"/>
                  </a:moveTo>
                  <a:lnTo>
                    <a:pt x="2666492" y="0"/>
                  </a:lnTo>
                  <a:lnTo>
                    <a:pt x="2666492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30" id="130"/>
          <p:cNvGrpSpPr/>
          <p:nvPr/>
        </p:nvGrpSpPr>
        <p:grpSpPr>
          <a:xfrm rot="0">
            <a:off x="7923967" y="6410382"/>
            <a:ext cx="1880559" cy="425529"/>
            <a:chOff x="0" y="0"/>
            <a:chExt cx="2507412" cy="567372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507415" cy="567371"/>
            </a:xfrm>
            <a:custGeom>
              <a:avLst/>
              <a:gdLst/>
              <a:ahLst/>
              <a:cxnLst/>
              <a:rect r="r" b="b" t="t" l="l"/>
              <a:pathLst>
                <a:path h="567371" w="2507415">
                  <a:moveTo>
                    <a:pt x="0" y="0"/>
                  </a:moveTo>
                  <a:lnTo>
                    <a:pt x="2507415" y="0"/>
                  </a:lnTo>
                  <a:lnTo>
                    <a:pt x="250741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11" r="0" b="-36111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0"/>
              <a:ext cx="2507412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—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9854675" y="6350708"/>
            <a:ext cx="3372583" cy="544878"/>
            <a:chOff x="0" y="0"/>
            <a:chExt cx="4496778" cy="726504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4496816" cy="726440"/>
            </a:xfrm>
            <a:custGeom>
              <a:avLst/>
              <a:gdLst/>
              <a:ahLst/>
              <a:cxnLst/>
              <a:rect r="r" b="b" t="t" l="l"/>
              <a:pathLst>
                <a:path h="726440" w="4496816">
                  <a:moveTo>
                    <a:pt x="0" y="0"/>
                  </a:moveTo>
                  <a:lnTo>
                    <a:pt x="4496816" y="0"/>
                  </a:lnTo>
                  <a:lnTo>
                    <a:pt x="4496816" y="726440"/>
                  </a:lnTo>
                  <a:lnTo>
                    <a:pt x="0" y="726440"/>
                  </a:lnTo>
                  <a:close/>
                </a:path>
              </a:pathLst>
            </a:custGeom>
            <a:solidFill>
              <a:srgbClr val="FFFFFF"/>
            </a:solidFill>
            <a:ln w="9532" cap="sq">
              <a:solidFill>
                <a:srgbClr val="D8D5E8"/>
              </a:solidFill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9914349" y="6410382"/>
            <a:ext cx="3253235" cy="425529"/>
            <a:chOff x="0" y="0"/>
            <a:chExt cx="4337647" cy="56737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4337645" cy="567371"/>
            </a:xfrm>
            <a:custGeom>
              <a:avLst/>
              <a:gdLst/>
              <a:ahLst/>
              <a:cxnLst/>
              <a:rect r="r" b="b" t="t" l="l"/>
              <a:pathLst>
                <a:path h="567371" w="4337645">
                  <a:moveTo>
                    <a:pt x="0" y="0"/>
                  </a:moveTo>
                  <a:lnTo>
                    <a:pt x="4337645" y="0"/>
                  </a:lnTo>
                  <a:lnTo>
                    <a:pt x="4337645" y="567371"/>
                  </a:lnTo>
                  <a:lnTo>
                    <a:pt x="0" y="5673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66" r="0" b="-98966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0"/>
              <a:ext cx="4337647" cy="5673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19"/>
                </a:lnSpc>
              </a:pPr>
              <a:r>
                <a:rPr lang="en-US" sz="1516">
                  <a:solidFill>
                    <a:srgbClr val="221336"/>
                  </a:solidFill>
                  <a:latin typeface="Aptos"/>
                  <a:ea typeface="Aptos"/>
                  <a:cs typeface="Aptos"/>
                  <a:sym typeface="Aptos"/>
                </a:rPr>
                <a:t>Supply_Chain_Cleaned_Dataset.csv</a:t>
              </a:r>
            </a:p>
          </p:txBody>
        </p:sp>
      </p:grpSp>
      <p:grpSp>
        <p:nvGrpSpPr>
          <p:cNvPr name="Group 138" id="138"/>
          <p:cNvGrpSpPr/>
          <p:nvPr/>
        </p:nvGrpSpPr>
        <p:grpSpPr>
          <a:xfrm rot="0">
            <a:off x="13758210" y="2594734"/>
            <a:ext cx="3938807" cy="1467993"/>
            <a:chOff x="0" y="0"/>
            <a:chExt cx="5251742" cy="1957324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5251704" cy="1957324"/>
            </a:xfrm>
            <a:custGeom>
              <a:avLst/>
              <a:gdLst/>
              <a:ahLst/>
              <a:cxnLst/>
              <a:rect r="r" b="b" t="t" l="l"/>
              <a:pathLst>
                <a:path h="1957324" w="5251704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5083937" y="0"/>
                  </a:lnTo>
                  <a:cubicBezTo>
                    <a:pt x="5176647" y="0"/>
                    <a:pt x="5251704" y="75057"/>
                    <a:pt x="5251704" y="167767"/>
                  </a:cubicBezTo>
                  <a:lnTo>
                    <a:pt x="5251704" y="1789557"/>
                  </a:lnTo>
                  <a:cubicBezTo>
                    <a:pt x="5251704" y="1882267"/>
                    <a:pt x="5176647" y="1957324"/>
                    <a:pt x="5083937" y="1957324"/>
                  </a:cubicBezTo>
                  <a:lnTo>
                    <a:pt x="167767" y="1957324"/>
                  </a:lnTo>
                  <a:cubicBezTo>
                    <a:pt x="75057" y="1957324"/>
                    <a:pt x="0" y="1882267"/>
                    <a:pt x="0" y="1789557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140" id="140"/>
          <p:cNvGrpSpPr/>
          <p:nvPr/>
        </p:nvGrpSpPr>
        <p:grpSpPr>
          <a:xfrm rot="0">
            <a:off x="14046094" y="2951245"/>
            <a:ext cx="3363049" cy="384353"/>
            <a:chOff x="0" y="0"/>
            <a:chExt cx="4484065" cy="51247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484063" cy="512464"/>
            </a:xfrm>
            <a:custGeom>
              <a:avLst/>
              <a:gdLst/>
              <a:ahLst/>
              <a:cxnLst/>
              <a:rect r="r" b="b" t="t" l="l"/>
              <a:pathLst>
                <a:path h="512464" w="4484063">
                  <a:moveTo>
                    <a:pt x="0" y="0"/>
                  </a:moveTo>
                  <a:lnTo>
                    <a:pt x="4484063" y="0"/>
                  </a:lnTo>
                  <a:lnTo>
                    <a:pt x="448406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3" r="0" b="-120494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0"/>
              <a:ext cx="4484065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Ready for EDA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14114721" y="3459137"/>
            <a:ext cx="3225784" cy="356892"/>
            <a:chOff x="0" y="0"/>
            <a:chExt cx="4301046" cy="47585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4301040" cy="475860"/>
            </a:xfrm>
            <a:custGeom>
              <a:avLst/>
              <a:gdLst/>
              <a:ahLst/>
              <a:cxnLst/>
              <a:rect r="r" b="b" t="t" l="l"/>
              <a:pathLst>
                <a:path h="475860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115" r="0" b="-12611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4301046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11"/>
                </a:lnSpc>
              </a:pPr>
              <a:r>
                <a:rPr lang="en-US" sz="1426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Milestone 2 can now use clean columns for analysis.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3758210" y="4543930"/>
            <a:ext cx="3938807" cy="3087748"/>
            <a:chOff x="0" y="0"/>
            <a:chExt cx="5251742" cy="4116997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5251704" cy="4116959"/>
            </a:xfrm>
            <a:custGeom>
              <a:avLst/>
              <a:gdLst/>
              <a:ahLst/>
              <a:cxnLst/>
              <a:rect r="r" b="b" t="t" l="l"/>
              <a:pathLst>
                <a:path h="4116959" w="5251704">
                  <a:moveTo>
                    <a:pt x="0" y="166116"/>
                  </a:moveTo>
                  <a:cubicBezTo>
                    <a:pt x="0" y="74422"/>
                    <a:pt x="74422" y="0"/>
                    <a:pt x="166116" y="0"/>
                  </a:cubicBezTo>
                  <a:lnTo>
                    <a:pt x="5085588" y="0"/>
                  </a:lnTo>
                  <a:cubicBezTo>
                    <a:pt x="5177409" y="0"/>
                    <a:pt x="5251704" y="74422"/>
                    <a:pt x="5251704" y="166116"/>
                  </a:cubicBezTo>
                  <a:lnTo>
                    <a:pt x="5251704" y="3950843"/>
                  </a:lnTo>
                  <a:cubicBezTo>
                    <a:pt x="5251704" y="4042664"/>
                    <a:pt x="5177282" y="4116959"/>
                    <a:pt x="5085588" y="4116959"/>
                  </a:cubicBezTo>
                  <a:lnTo>
                    <a:pt x="166116" y="4116959"/>
                  </a:lnTo>
                  <a:cubicBezTo>
                    <a:pt x="74422" y="4116959"/>
                    <a:pt x="0" y="4042664"/>
                    <a:pt x="0" y="3950843"/>
                  </a:cubicBezTo>
                  <a:close/>
                </a:path>
              </a:pathLst>
            </a:custGeom>
            <a:solidFill>
              <a:srgbClr val="7356B4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148" id="148"/>
          <p:cNvGrpSpPr/>
          <p:nvPr/>
        </p:nvGrpSpPr>
        <p:grpSpPr>
          <a:xfrm rot="0">
            <a:off x="14114721" y="4914167"/>
            <a:ext cx="3225784" cy="343167"/>
            <a:chOff x="0" y="0"/>
            <a:chExt cx="4301046" cy="457556"/>
          </a:xfrm>
        </p:grpSpPr>
        <p:sp>
          <p:nvSpPr>
            <p:cNvPr name="Freeform 149" id="149"/>
            <p:cNvSpPr/>
            <p:nvPr/>
          </p:nvSpPr>
          <p:spPr>
            <a:xfrm flipH="false" flipV="false" rot="0">
              <a:off x="0" y="0"/>
              <a:ext cx="4301040" cy="457557"/>
            </a:xfrm>
            <a:custGeom>
              <a:avLst/>
              <a:gdLst/>
              <a:ahLst/>
              <a:cxnLst/>
              <a:rect r="r" b="b" t="t" l="l"/>
              <a:pathLst>
                <a:path h="457557" w="4301040">
                  <a:moveTo>
                    <a:pt x="0" y="0"/>
                  </a:moveTo>
                  <a:lnTo>
                    <a:pt x="4301040" y="0"/>
                  </a:lnTo>
                  <a:lnTo>
                    <a:pt x="430104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159" r="0" b="-133159"/>
              </a:stretch>
            </a:blipFill>
          </p:spPr>
        </p:sp>
        <p:sp>
          <p:nvSpPr>
            <p:cNvPr name="TextBox 150" id="150"/>
            <p:cNvSpPr txBox="true"/>
            <p:nvPr/>
          </p:nvSpPr>
          <p:spPr>
            <a:xfrm>
              <a:off x="0" y="0"/>
              <a:ext cx="4301046" cy="4575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 analysis areas</a:t>
              </a:r>
            </a:p>
          </p:txBody>
        </p:sp>
      </p:grpSp>
      <p:grpSp>
        <p:nvGrpSpPr>
          <p:cNvPr name="Group 151" id="151"/>
          <p:cNvGrpSpPr/>
          <p:nvPr/>
        </p:nvGrpSpPr>
        <p:grpSpPr>
          <a:xfrm rot="0">
            <a:off x="14210809" y="5463235"/>
            <a:ext cx="3088510" cy="1715841"/>
            <a:chOff x="0" y="0"/>
            <a:chExt cx="4118013" cy="2287787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4118017" cy="2287784"/>
            </a:xfrm>
            <a:custGeom>
              <a:avLst/>
              <a:gdLst/>
              <a:ahLst/>
              <a:cxnLst/>
              <a:rect r="r" b="b" t="t" l="l"/>
              <a:pathLst>
                <a:path h="2287784" w="4118017">
                  <a:moveTo>
                    <a:pt x="0" y="0"/>
                  </a:moveTo>
                  <a:lnTo>
                    <a:pt x="4118017" y="0"/>
                  </a:lnTo>
                  <a:lnTo>
                    <a:pt x="4118017" y="2287784"/>
                  </a:lnTo>
                  <a:lnTo>
                    <a:pt x="0" y="22877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79" t="0" r="-21279" b="0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38100"/>
              <a:ext cx="4118013" cy="2325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Order-status distribution</a:t>
              </a:r>
            </a:p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Top product categories</a:t>
              </a:r>
            </a:p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Freight vs price</a:t>
              </a:r>
            </a:p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Payment distribution</a:t>
              </a:r>
            </a:p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Seller-state analysis</a:t>
              </a:r>
            </a:p>
            <a:p>
              <a:pPr algn="l" marL="298175" indent="-149087" lvl="1">
                <a:lnSpc>
                  <a:spcPts val="1933"/>
                </a:lnSpc>
                <a:buFont typeface="Arial"/>
                <a:buChar char="•"/>
              </a:pPr>
              <a:r>
                <a:rPr lang="en-US" sz="138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Delivery delay vs review score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4774830" y="8295132"/>
            <a:ext cx="12922187" cy="815216"/>
            <a:chOff x="0" y="0"/>
            <a:chExt cx="17229582" cy="1086955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7229582" cy="1086866"/>
            </a:xfrm>
            <a:custGeom>
              <a:avLst/>
              <a:gdLst/>
              <a:ahLst/>
              <a:cxnLst/>
              <a:rect r="r" b="b" t="t" l="l"/>
              <a:pathLst>
                <a:path h="1086866" w="17229582">
                  <a:moveTo>
                    <a:pt x="0" y="181102"/>
                  </a:moveTo>
                  <a:cubicBezTo>
                    <a:pt x="0" y="81153"/>
                    <a:pt x="81153" y="0"/>
                    <a:pt x="181102" y="0"/>
                  </a:cubicBezTo>
                  <a:lnTo>
                    <a:pt x="17048480" y="0"/>
                  </a:lnTo>
                  <a:cubicBezTo>
                    <a:pt x="17148556" y="0"/>
                    <a:pt x="17229582" y="81153"/>
                    <a:pt x="17229582" y="181102"/>
                  </a:cubicBezTo>
                  <a:lnTo>
                    <a:pt x="17229582" y="905764"/>
                  </a:lnTo>
                  <a:cubicBezTo>
                    <a:pt x="17229582" y="1005840"/>
                    <a:pt x="17148429" y="1086866"/>
                    <a:pt x="17048480" y="1086866"/>
                  </a:cubicBezTo>
                  <a:lnTo>
                    <a:pt x="181102" y="1086866"/>
                  </a:lnTo>
                  <a:cubicBezTo>
                    <a:pt x="81153" y="1086993"/>
                    <a:pt x="0" y="1005840"/>
                    <a:pt x="0" y="905764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  <a:ln w="19065" cap="sq">
              <a:solidFill>
                <a:srgbClr val="C6C9F6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4949080" y="8414480"/>
            <a:ext cx="12573676" cy="576520"/>
            <a:chOff x="0" y="0"/>
            <a:chExt cx="16764902" cy="768693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16764905" cy="768697"/>
            </a:xfrm>
            <a:custGeom>
              <a:avLst/>
              <a:gdLst/>
              <a:ahLst/>
              <a:cxnLst/>
              <a:rect r="r" b="b" t="t" l="l"/>
              <a:pathLst>
                <a:path h="768697" w="16764905">
                  <a:moveTo>
                    <a:pt x="0" y="0"/>
                  </a:moveTo>
                  <a:lnTo>
                    <a:pt x="16764905" y="0"/>
                  </a:lnTo>
                  <a:lnTo>
                    <a:pt x="16764905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4959" r="0" b="-374959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0"/>
              <a:ext cx="16764902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45"/>
                </a:lnSpc>
              </a:pPr>
              <a:r>
                <a:rPr lang="en-US" sz="1621">
                  <a:solidFill>
                    <a:srgbClr val="D9D7F2"/>
                  </a:solidFill>
                  <a:latin typeface="Aptos"/>
                  <a:ea typeface="Aptos"/>
                  <a:cs typeface="Aptos"/>
                  <a:sym typeface="Aptos"/>
                </a:rPr>
                <a:t>Final statement: Milestone 1 successfully converted the raw merged dataset into a cleaned and analysis-ready supply-chain dataset.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76979" y="1186442"/>
            <a:ext cx="1553688" cy="1270637"/>
            <a:chOff x="0" y="0"/>
            <a:chExt cx="543719" cy="44466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4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B13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3B1368"/>
            </a:solidFill>
            <a:ln w="19065" cap="sq">
              <a:solidFill>
                <a:srgbClr val="3B136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177946" y="9636157"/>
            <a:ext cx="3157147" cy="411804"/>
            <a:chOff x="0" y="0"/>
            <a:chExt cx="4209529" cy="549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29" cy="549069"/>
            </a:xfrm>
            <a:custGeom>
              <a:avLst/>
              <a:gdLst/>
              <a:ahLst/>
              <a:cxnLst/>
              <a:rect r="r" b="b" t="t" l="l"/>
              <a:pathLst>
                <a:path h="549069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385" r="0" b="-9938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09529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Milestone 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266166" y="9636157"/>
            <a:ext cx="1441304" cy="411804"/>
            <a:chOff x="0" y="0"/>
            <a:chExt cx="1921739" cy="549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21741" cy="549069"/>
            </a:xfrm>
            <a:custGeom>
              <a:avLst/>
              <a:gdLst/>
              <a:ahLst/>
              <a:cxnLst/>
              <a:rect r="r" b="b" t="t" l="l"/>
              <a:pathLst>
                <a:path h="549069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921739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Page:08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77946" y="1028700"/>
            <a:ext cx="10033854" cy="1476382"/>
            <a:chOff x="0" y="0"/>
            <a:chExt cx="13378472" cy="196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78469" cy="1968514"/>
            </a:xfrm>
            <a:custGeom>
              <a:avLst/>
              <a:gdLst/>
              <a:ahLst/>
              <a:cxnLst/>
              <a:rect r="r" b="b" t="t" l="l"/>
              <a:pathLst>
                <a:path h="1968514" w="13378469">
                  <a:moveTo>
                    <a:pt x="0" y="0"/>
                  </a:moveTo>
                  <a:lnTo>
                    <a:pt x="13378469" y="0"/>
                  </a:lnTo>
                  <a:lnTo>
                    <a:pt x="13378469" y="1968514"/>
                  </a:lnTo>
                  <a:lnTo>
                    <a:pt x="0" y="1968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091" r="-9443" b="-8676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378472" cy="197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7"/>
                </a:lnSpc>
              </a:pPr>
              <a:r>
                <a:rPr lang="en-US" sz="7806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Thank You!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1035" y="3596252"/>
            <a:ext cx="5843346" cy="676305"/>
            <a:chOff x="0" y="0"/>
            <a:chExt cx="7791127" cy="9017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791126" cy="901740"/>
            </a:xfrm>
            <a:custGeom>
              <a:avLst/>
              <a:gdLst/>
              <a:ahLst/>
              <a:cxnLst/>
              <a:rect r="r" b="b" t="t" l="l"/>
              <a:pathLst>
                <a:path h="901740" w="7791126">
                  <a:moveTo>
                    <a:pt x="0" y="0"/>
                  </a:moveTo>
                  <a:lnTo>
                    <a:pt x="7791126" y="0"/>
                  </a:lnTo>
                  <a:lnTo>
                    <a:pt x="7791126" y="901740"/>
                  </a:lnTo>
                  <a:lnTo>
                    <a:pt x="0" y="901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107" r="-71485" b="-22929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7791127" cy="901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C6C9F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1 Completed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77946" y="5706627"/>
            <a:ext cx="9529524" cy="1879797"/>
            <a:chOff x="0" y="0"/>
            <a:chExt cx="12706033" cy="250639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706096" cy="2506472"/>
            </a:xfrm>
            <a:custGeom>
              <a:avLst/>
              <a:gdLst/>
              <a:ahLst/>
              <a:cxnLst/>
              <a:rect r="r" b="b" t="t" l="l"/>
              <a:pathLst>
                <a:path h="2506472" w="12706096">
                  <a:moveTo>
                    <a:pt x="0" y="167132"/>
                  </a:moveTo>
                  <a:cubicBezTo>
                    <a:pt x="0" y="74803"/>
                    <a:pt x="78452" y="0"/>
                    <a:pt x="175284" y="0"/>
                  </a:cubicBezTo>
                  <a:lnTo>
                    <a:pt x="12530815" y="0"/>
                  </a:lnTo>
                  <a:cubicBezTo>
                    <a:pt x="12627648" y="0"/>
                    <a:pt x="12706096" y="74803"/>
                    <a:pt x="12706096" y="167132"/>
                  </a:cubicBezTo>
                  <a:lnTo>
                    <a:pt x="12706096" y="2339340"/>
                  </a:lnTo>
                  <a:cubicBezTo>
                    <a:pt x="12706096" y="2431669"/>
                    <a:pt x="12627648" y="2506472"/>
                    <a:pt x="12530815" y="2506472"/>
                  </a:cubicBezTo>
                  <a:lnTo>
                    <a:pt x="175284" y="2506472"/>
                  </a:lnTo>
                  <a:cubicBezTo>
                    <a:pt x="78452" y="2506345"/>
                    <a:pt x="0" y="2431542"/>
                    <a:pt x="0" y="2339340"/>
                  </a:cubicBezTo>
                  <a:close/>
                </a:path>
              </a:pathLst>
            </a:custGeom>
            <a:solidFill>
              <a:srgbClr val="829BDC"/>
            </a:solidFill>
            <a:ln w="26691" cap="sq">
              <a:solidFill>
                <a:srgbClr val="1B0E2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767792" y="6186933"/>
            <a:ext cx="8349833" cy="919185"/>
            <a:chOff x="0" y="0"/>
            <a:chExt cx="11133111" cy="12255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33111" cy="1225583"/>
            </a:xfrm>
            <a:custGeom>
              <a:avLst/>
              <a:gdLst/>
              <a:ahLst/>
              <a:cxnLst/>
              <a:rect r="r" b="b" t="t" l="l"/>
              <a:pathLst>
                <a:path h="1225583" w="11133111">
                  <a:moveTo>
                    <a:pt x="0" y="0"/>
                  </a:moveTo>
                  <a:lnTo>
                    <a:pt x="11133111" y="0"/>
                  </a:lnTo>
                  <a:lnTo>
                    <a:pt x="11133111" y="1225583"/>
                  </a:lnTo>
                  <a:lnTo>
                    <a:pt x="0" y="12255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381" r="4650" b="-9415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133111" cy="1225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Cleaned dataset prepared for EDA, visualisation and dashboard work.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-9535" y="-9535"/>
            <a:ext cx="7156961" cy="10314108"/>
            <a:chOff x="0" y="0"/>
            <a:chExt cx="9542615" cy="137521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42653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9542653">
                  <a:moveTo>
                    <a:pt x="0" y="0"/>
                  </a:moveTo>
                  <a:lnTo>
                    <a:pt x="9542653" y="0"/>
                  </a:lnTo>
                  <a:lnTo>
                    <a:pt x="9542653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BFC6F8"/>
            </a:solidFill>
            <a:ln w="19065" cap="sq">
              <a:solidFill>
                <a:srgbClr val="BFC6F8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2259" y="3806495"/>
            <a:ext cx="5353374" cy="4937427"/>
            <a:chOff x="0" y="0"/>
            <a:chExt cx="14910676" cy="1375214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910688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14910688">
                  <a:moveTo>
                    <a:pt x="0" y="0"/>
                  </a:moveTo>
                  <a:lnTo>
                    <a:pt x="14910688" y="0"/>
                  </a:lnTo>
                  <a:lnTo>
                    <a:pt x="14910688" y="13752195"/>
                  </a:lnTo>
                  <a:lnTo>
                    <a:pt x="0" y="13752195"/>
                  </a:lnTo>
                  <a:close/>
                </a:path>
              </a:pathLst>
            </a:custGeom>
            <a:blipFill>
              <a:blip r:embed="rId4"/>
              <a:stretch>
                <a:fillRect l="-399" t="0" r="-399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2792102" y="1028700"/>
            <a:ext cx="1553688" cy="1270637"/>
            <a:chOff x="0" y="0"/>
            <a:chExt cx="543719" cy="4446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3719" cy="444664"/>
            </a:xfrm>
            <a:custGeom>
              <a:avLst/>
              <a:gdLst/>
              <a:ahLst/>
              <a:cxnLst/>
              <a:rect r="r" b="b" t="t" l="l"/>
              <a:pathLst>
                <a:path h="444664" w="543719">
                  <a:moveTo>
                    <a:pt x="0" y="0"/>
                  </a:moveTo>
                  <a:lnTo>
                    <a:pt x="543719" y="0"/>
                  </a:lnTo>
                  <a:lnTo>
                    <a:pt x="543719" y="444664"/>
                  </a:lnTo>
                  <a:lnTo>
                    <a:pt x="0" y="444664"/>
                  </a:lnTo>
                  <a:close/>
                </a:path>
              </a:pathLst>
            </a:custGeom>
            <a:blipFill>
              <a:blip r:embed="rId5"/>
              <a:stretch>
                <a:fillRect l="-4521" t="0" r="-4521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DAHROOid96g</dc:identifier>
  <dcterms:modified xsi:type="dcterms:W3CDTF">2011-08-01T06:04:30Z</dcterms:modified>
  <cp:revision>1</cp:revision>
  <dc:title>Supply_Chain_Milestone_1_Preprocessing_PPT.pptx</dc:title>
</cp:coreProperties>
</file>